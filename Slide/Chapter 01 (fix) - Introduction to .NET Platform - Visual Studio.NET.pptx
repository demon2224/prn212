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3"/>
  </p:notesMasterIdLst>
  <p:sldIdLst>
    <p:sldId id="256" r:id="rId2"/>
    <p:sldId id="257" r:id="rId3"/>
    <p:sldId id="258" r:id="rId4"/>
    <p:sldId id="314" r:id="rId5"/>
    <p:sldId id="315" r:id="rId6"/>
    <p:sldId id="259" r:id="rId7"/>
    <p:sldId id="305" r:id="rId8"/>
    <p:sldId id="306" r:id="rId9"/>
    <p:sldId id="261" r:id="rId10"/>
    <p:sldId id="316" r:id="rId11"/>
    <p:sldId id="263" r:id="rId12"/>
    <p:sldId id="311" r:id="rId13"/>
    <p:sldId id="312" r:id="rId14"/>
    <p:sldId id="313" r:id="rId15"/>
    <p:sldId id="272" r:id="rId16"/>
    <p:sldId id="273" r:id="rId17"/>
    <p:sldId id="278" r:id="rId18"/>
    <p:sldId id="279" r:id="rId19"/>
    <p:sldId id="317" r:id="rId20"/>
    <p:sldId id="280" r:id="rId21"/>
    <p:sldId id="281" r:id="rId22"/>
    <p:sldId id="283" r:id="rId23"/>
    <p:sldId id="285" r:id="rId24"/>
    <p:sldId id="286" r:id="rId25"/>
    <p:sldId id="287" r:id="rId26"/>
    <p:sldId id="310" r:id="rId27"/>
    <p:sldId id="288" r:id="rId28"/>
    <p:sldId id="289" r:id="rId29"/>
    <p:sldId id="290" r:id="rId30"/>
    <p:sldId id="291" r:id="rId31"/>
    <p:sldId id="292" r:id="rId32"/>
    <p:sldId id="293" r:id="rId33"/>
    <p:sldId id="294" r:id="rId34"/>
    <p:sldId id="295" r:id="rId35"/>
    <p:sldId id="296" r:id="rId36"/>
    <p:sldId id="297" r:id="rId37"/>
    <p:sldId id="298" r:id="rId38"/>
    <p:sldId id="299" r:id="rId39"/>
    <p:sldId id="301" r:id="rId40"/>
    <p:sldId id="302" r:id="rId41"/>
    <p:sldId id="303" r:id="rId4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9" roundtripDataSignature="AMtx7miZyCs3ATQfBpwMPt1iRVgyeX0Nn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40347" autoAdjust="0"/>
  </p:normalViewPr>
  <p:slideViewPr>
    <p:cSldViewPr snapToGrid="0">
      <p:cViewPr varScale="1">
        <p:scale>
          <a:sx n="43" d="100"/>
          <a:sy n="43" d="100"/>
        </p:scale>
        <p:origin x="3156"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64"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59" Type="http://customschemas.google.com/relationships/presentationmetadata" Target="meta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uyen Thien Nhon" userId="41adc499-98f3-4483-8e48-00bedd50be2f" providerId="ADAL" clId="{8306891C-F04B-456C-B76C-0003B25CD677}"/>
    <pc:docChg chg="modSld">
      <pc:chgData name="Nguyen Thien Nhon" userId="41adc499-98f3-4483-8e48-00bedd50be2f" providerId="ADAL" clId="{8306891C-F04B-456C-B76C-0003B25CD677}" dt="2024-05-03T08:01:51.178" v="121" actId="20577"/>
      <pc:docMkLst>
        <pc:docMk/>
      </pc:docMkLst>
      <pc:sldChg chg="modSp mod">
        <pc:chgData name="Nguyen Thien Nhon" userId="41adc499-98f3-4483-8e48-00bedd50be2f" providerId="ADAL" clId="{8306891C-F04B-456C-B76C-0003B25CD677}" dt="2024-05-03T07:54:25.751" v="23" actId="5793"/>
        <pc:sldMkLst>
          <pc:docMk/>
          <pc:sldMk cId="3939254602" sldId="306"/>
        </pc:sldMkLst>
        <pc:spChg chg="mod">
          <ac:chgData name="Nguyen Thien Nhon" userId="41adc499-98f3-4483-8e48-00bedd50be2f" providerId="ADAL" clId="{8306891C-F04B-456C-B76C-0003B25CD677}" dt="2024-05-03T07:54:25.751" v="23" actId="5793"/>
          <ac:spMkLst>
            <pc:docMk/>
            <pc:sldMk cId="3939254602" sldId="306"/>
            <ac:spMk id="114" creationId="{00000000-0000-0000-0000-000000000000}"/>
          </ac:spMkLst>
        </pc:spChg>
      </pc:sldChg>
      <pc:sldChg chg="modNotesTx">
        <pc:chgData name="Nguyen Thien Nhon" userId="41adc499-98f3-4483-8e48-00bedd50be2f" providerId="ADAL" clId="{8306891C-F04B-456C-B76C-0003B25CD677}" dt="2024-05-03T08:01:51.178" v="121" actId="20577"/>
        <pc:sldMkLst>
          <pc:docMk/>
          <pc:sldMk cId="585557303" sldId="30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6763220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microsoft.com/vi-vn"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9" name="Google Shape;8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 name="Google Shape;94;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sz="1200" b="0" i="0" u="none" strike="noStrike" cap="none" dirty="0">
                <a:solidFill>
                  <a:schemeClr val="dk1"/>
                </a:solidFill>
                <a:effectLst/>
                <a:latin typeface="Calibri"/>
                <a:ea typeface="Calibri"/>
                <a:cs typeface="Calibri"/>
                <a:sym typeface="Calibri"/>
              </a:rPr>
              <a:t>- Net Framework </a:t>
            </a:r>
            <a:r>
              <a:rPr lang="en-US" sz="1200" b="0" i="0" u="none" strike="noStrike" cap="none" dirty="0" err="1">
                <a:solidFill>
                  <a:schemeClr val="dk1"/>
                </a:solidFill>
                <a:effectLst/>
                <a:latin typeface="Calibri"/>
                <a:ea typeface="Calibri"/>
                <a:cs typeface="Calibri"/>
                <a:sym typeface="Calibri"/>
              </a:rPr>
              <a:t>là</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một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công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cụ</a:t>
            </a:r>
            <a:r>
              <a:rPr lang="en-US" sz="1200" b="0" i="0" u="none" strike="noStrike" cap="none" dirty="0">
                <a:solidFill>
                  <a:schemeClr val="dk1"/>
                </a:solidFill>
                <a:effectLst/>
                <a:latin typeface="Calibri"/>
                <a:ea typeface="Calibri"/>
                <a:cs typeface="Calibri"/>
                <a:sym typeface="Calibri"/>
              </a:rPr>
              <a:t> hay </a:t>
            </a:r>
            <a:r>
              <a:rPr lang="en-US" sz="1200" b="0" i="0" u="none" strike="noStrike" cap="none" dirty="0" err="1">
                <a:solidFill>
                  <a:schemeClr val="dk1"/>
                </a:solidFill>
                <a:effectLst/>
                <a:latin typeface="Calibri"/>
                <a:ea typeface="Calibri"/>
                <a:cs typeface="Calibri"/>
                <a:sym typeface="Calibri"/>
              </a:rPr>
              <a:t>một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nền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tảng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lập</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trình</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hoạt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động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trên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hệ</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điều</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hành</a:t>
            </a:r>
            <a:r>
              <a:rPr lang="en-US" sz="1200" b="0" i="0" u="none" strike="noStrike" cap="none" dirty="0">
                <a:solidFill>
                  <a:schemeClr val="dk1"/>
                </a:solidFill>
                <a:effectLst/>
                <a:latin typeface="Calibri"/>
                <a:ea typeface="Calibri"/>
                <a:cs typeface="Calibri"/>
                <a:sym typeface="Calibri"/>
              </a:rPr>
              <a:t> Windows </a:t>
            </a:r>
            <a:r>
              <a:rPr lang="en-US" sz="1200" b="0" i="0" u="none" strike="noStrike" cap="none" dirty="0" err="1">
                <a:solidFill>
                  <a:schemeClr val="dk1"/>
                </a:solidFill>
                <a:effectLst/>
                <a:latin typeface="Calibri"/>
                <a:ea typeface="Calibri"/>
                <a:cs typeface="Calibri"/>
                <a:sym typeface="Calibri"/>
              </a:rPr>
              <a:t>và</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được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sáng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tạo</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bởi</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nhà</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hlinkClick r:id="rId3" tooltip="Microsoft"/>
              </a:rPr>
              <a:t>Microsoft</a:t>
            </a:r>
            <a:r>
              <a:rPr lang="en-US" sz="1200" b="0" i="0" u="none" strike="noStrike" cap="none" dirty="0">
                <a:solidFill>
                  <a:schemeClr val="dk1"/>
                </a:solidFill>
                <a:effectLst/>
                <a:latin typeface="Calibri"/>
                <a:ea typeface="Calibri"/>
                <a:cs typeface="Calibri"/>
                <a:sym typeface="Calibri"/>
              </a:rPr>
              <a:t>. Net Framework </a:t>
            </a:r>
            <a:r>
              <a:rPr lang="en-US" sz="1200" b="0" i="0" u="none" strike="noStrike" cap="none" dirty="0" err="1">
                <a:solidFill>
                  <a:schemeClr val="dk1"/>
                </a:solidFill>
                <a:effectLst/>
                <a:latin typeface="Calibri"/>
                <a:ea typeface="Calibri"/>
                <a:cs typeface="Calibri"/>
                <a:sym typeface="Calibri"/>
              </a:rPr>
              <a:t>chịu</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trách</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nhiệm</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điều</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khiển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cho</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hệ</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thống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phần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mềm</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với</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chức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năng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chính</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là</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đảm</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bảo</a:t>
            </a:r>
            <a:r>
              <a:rPr lang="en-US" sz="1200" b="0" i="0" u="none" strike="noStrike" cap="none" dirty="0">
                <a:solidFill>
                  <a:schemeClr val="dk1"/>
                </a:solidFill>
                <a:effectLst/>
                <a:latin typeface="Calibri"/>
                <a:ea typeface="Calibri"/>
                <a:cs typeface="Calibri"/>
                <a:sym typeface="Calibri"/>
              </a:rPr>
              <a:t> an </a:t>
            </a:r>
            <a:r>
              <a:rPr lang="en-US" sz="1200" b="0" i="0" u="none" strike="noStrike" cap="none" dirty="0" err="1">
                <a:solidFill>
                  <a:schemeClr val="dk1"/>
                </a:solidFill>
                <a:effectLst/>
                <a:latin typeface="Calibri"/>
                <a:ea typeface="Calibri"/>
                <a:cs typeface="Calibri"/>
                <a:sym typeface="Calibri"/>
              </a:rPr>
              <a:t>toàn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quản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lý</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bộ</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nhớ</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và</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xử</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lý</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một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số</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lỗi</a:t>
            </a:r>
            <a:r>
              <a:rPr lang="en-US" sz="1200" b="0" i="0" u="none" strike="noStrike" cap="none" dirty="0">
                <a:solidFill>
                  <a:schemeClr val="dk1"/>
                </a:solidFill>
                <a:effectLst/>
                <a:latin typeface="Calibri"/>
                <a:ea typeface="Calibri"/>
                <a:cs typeface="Calibri"/>
                <a:sym typeface="Calibri"/>
              </a:rPr>
              <a:t>. </a:t>
            </a:r>
          </a:p>
          <a:p>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Phiên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bản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đầu</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tiên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được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giới</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thiệu</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vào</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năm</a:t>
            </a:r>
            <a:r>
              <a:rPr lang="en-US" sz="1200" b="0" i="0" u="none" strike="noStrike" cap="none" dirty="0">
                <a:solidFill>
                  <a:schemeClr val="dk1"/>
                </a:solidFill>
                <a:effectLst/>
                <a:latin typeface="Calibri"/>
                <a:ea typeface="Calibri"/>
                <a:cs typeface="Calibri"/>
                <a:sym typeface="Calibri"/>
              </a:rPr>
              <a:t> 2002, </a:t>
            </a:r>
            <a:r>
              <a:rPr lang="en-US" sz="1200" b="0" i="0" u="none" strike="noStrike" cap="none" dirty="0" err="1">
                <a:solidFill>
                  <a:schemeClr val="dk1"/>
                </a:solidFill>
                <a:effectLst/>
                <a:latin typeface="Calibri"/>
                <a:ea typeface="Calibri"/>
                <a:cs typeface="Calibri"/>
                <a:sym typeface="Calibri"/>
              </a:rPr>
              <a:t>là</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nền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tảng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chính</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của</a:t>
            </a:r>
            <a:r>
              <a:rPr lang="en-US" sz="1200" b="0" i="0" u="none" strike="noStrike" cap="none" dirty="0">
                <a:solidFill>
                  <a:schemeClr val="dk1"/>
                </a:solidFill>
                <a:effectLst/>
                <a:latin typeface="Calibri"/>
                <a:ea typeface="Calibri"/>
                <a:cs typeface="Calibri"/>
                <a:sym typeface="Calibri"/>
              </a:rPr>
              <a:t> Microsoft </a:t>
            </a:r>
            <a:r>
              <a:rPr lang="en-US" sz="1200" b="0" i="0" u="none" strike="noStrike" cap="none" dirty="0" err="1">
                <a:solidFill>
                  <a:schemeClr val="dk1"/>
                </a:solidFill>
                <a:effectLst/>
                <a:latin typeface="Calibri"/>
                <a:ea typeface="Calibri"/>
                <a:cs typeface="Calibri"/>
                <a:sym typeface="Calibri"/>
              </a:rPr>
              <a:t>để</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xây</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dựng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và</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chạy</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các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ứng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dụng</a:t>
            </a:r>
            <a:r>
              <a:rPr lang="en-US" sz="1200" b="0" i="0" u="none" strike="noStrike" cap="none" dirty="0">
                <a:solidFill>
                  <a:schemeClr val="dk1"/>
                </a:solidFill>
                <a:effectLst/>
                <a:latin typeface="Calibri"/>
                <a:ea typeface="Calibri"/>
                <a:cs typeface="Calibri"/>
                <a:sym typeface="Calibri"/>
              </a:rPr>
              <a:t> Windows. </a:t>
            </a:r>
            <a:r>
              <a:rPr lang="en-US" sz="1200" b="0" i="0" u="none" strike="noStrike" cap="none" dirty="0" err="1">
                <a:solidFill>
                  <a:schemeClr val="dk1"/>
                </a:solidFill>
                <a:effectLst/>
                <a:latin typeface="Calibri"/>
                <a:ea typeface="Calibri"/>
                <a:cs typeface="Calibri"/>
                <a:sym typeface="Calibri"/>
              </a:rPr>
              <a:t>Giai</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đoạn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đầu</a:t>
            </a:r>
            <a:r>
              <a:rPr lang="en-US" sz="1200" b="0" i="0" u="none" strike="noStrike" cap="none" dirty="0">
                <a:solidFill>
                  <a:schemeClr val="dk1"/>
                </a:solidFill>
                <a:effectLst/>
                <a:latin typeface="Calibri"/>
                <a:ea typeface="Calibri"/>
                <a:cs typeface="Calibri"/>
                <a:sym typeface="Calibri"/>
              </a:rPr>
              <a:t> .NET framework </a:t>
            </a:r>
            <a:r>
              <a:rPr lang="en-US" sz="1200" b="0" i="0" u="none" strike="noStrike" cap="none" dirty="0" err="1">
                <a:solidFill>
                  <a:schemeClr val="dk1"/>
                </a:solidFill>
                <a:effectLst/>
                <a:latin typeface="Calibri"/>
                <a:ea typeface="Calibri"/>
                <a:cs typeface="Calibri"/>
                <a:sym typeface="Calibri"/>
              </a:rPr>
              <a:t>là</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mã</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nguồn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đóng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chỉ</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hoạt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động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trên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hệ</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điều</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hành</a:t>
            </a:r>
            <a:r>
              <a:rPr lang="en-US" sz="1200" b="0" i="0" u="none" strike="noStrike" cap="none" dirty="0">
                <a:solidFill>
                  <a:schemeClr val="dk1"/>
                </a:solidFill>
                <a:effectLst/>
                <a:latin typeface="Calibri"/>
                <a:ea typeface="Calibri"/>
                <a:cs typeface="Calibri"/>
                <a:sym typeface="Calibri"/>
              </a:rPr>
              <a:t> Windows.</a:t>
            </a:r>
          </a:p>
          <a:p>
            <a:pPr>
              <a:buFontTx/>
              <a:buChar char="-"/>
            </a:pPr>
            <a:r>
              <a:rPr lang="en-US" sz="1200" b="0" i="0" u="none" strike="noStrike" cap="none" dirty="0" err="1">
                <a:solidFill>
                  <a:schemeClr val="dk1"/>
                </a:solidFill>
                <a:effectLst/>
                <a:latin typeface="Calibri"/>
                <a:ea typeface="Calibri"/>
                <a:cs typeface="Calibri"/>
                <a:sym typeface="Calibri"/>
              </a:rPr>
              <a:t>Có</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thể</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kể</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đến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các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phiên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bản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của</a:t>
            </a:r>
            <a:r>
              <a:rPr lang="en-US" sz="1200" b="0" i="0" u="none" strike="noStrike" cap="none" dirty="0">
                <a:solidFill>
                  <a:schemeClr val="dk1"/>
                </a:solidFill>
                <a:effectLst/>
                <a:latin typeface="Calibri"/>
                <a:ea typeface="Calibri"/>
                <a:cs typeface="Calibri"/>
                <a:sym typeface="Calibri"/>
              </a:rPr>
              <a:t> .NET framework </a:t>
            </a:r>
            <a:r>
              <a:rPr lang="en-US" sz="1200" b="0" i="0" u="none" strike="noStrike" cap="none" dirty="0" err="1">
                <a:solidFill>
                  <a:schemeClr val="dk1"/>
                </a:solidFill>
                <a:effectLst/>
                <a:latin typeface="Calibri"/>
                <a:ea typeface="Calibri"/>
                <a:cs typeface="Calibri"/>
                <a:sym typeface="Calibri"/>
              </a:rPr>
              <a:t>như</a:t>
            </a:r>
            <a:r>
              <a:rPr lang="en-US" sz="1200" b="0" i="0" u="none" strike="noStrike" cap="none" dirty="0">
                <a:solidFill>
                  <a:schemeClr val="dk1"/>
                </a:solidFill>
                <a:effectLst/>
                <a:latin typeface="Calibri"/>
                <a:ea typeface="Calibri"/>
                <a:cs typeface="Calibri"/>
                <a:sym typeface="Calibri"/>
              </a:rPr>
              <a:t>:</a:t>
            </a:r>
          </a:p>
          <a:p>
            <a:pPr marL="228600" indent="0">
              <a:buFontTx/>
              <a:buNone/>
            </a:pPr>
            <a:r>
              <a:rPr lang="en-US" sz="1200" b="0" i="0" u="none" strike="noStrike" cap="none" dirty="0">
                <a:solidFill>
                  <a:schemeClr val="dk1"/>
                </a:solidFill>
                <a:effectLst/>
                <a:latin typeface="Calibri"/>
                <a:ea typeface="Calibri"/>
                <a:cs typeface="Calibri"/>
                <a:sym typeface="Calibri"/>
              </a:rPr>
              <a:t>.NET framework 1.0 – </a:t>
            </a:r>
            <a:r>
              <a:rPr lang="en-US" sz="1200" b="0" i="0" u="none" strike="noStrike" cap="none" dirty="0" err="1">
                <a:solidFill>
                  <a:schemeClr val="dk1"/>
                </a:solidFill>
                <a:effectLst/>
                <a:latin typeface="Calibri"/>
                <a:ea typeface="Calibri"/>
                <a:cs typeface="Calibri"/>
                <a:sym typeface="Calibri"/>
              </a:rPr>
              <a:t>Năm</a:t>
            </a:r>
            <a:r>
              <a:rPr lang="en-US" sz="1200" b="0" i="0" u="none" strike="noStrike" cap="none" dirty="0">
                <a:solidFill>
                  <a:schemeClr val="dk1"/>
                </a:solidFill>
                <a:effectLst/>
                <a:latin typeface="Calibri"/>
                <a:ea typeface="Calibri"/>
                <a:cs typeface="Calibri"/>
                <a:sym typeface="Calibri"/>
              </a:rPr>
              <a:t> 2002</a:t>
            </a:r>
          </a:p>
          <a:p>
            <a:r>
              <a:rPr lang="en-US" sz="1200" b="0" i="0" u="none" strike="noStrike" cap="none" dirty="0">
                <a:solidFill>
                  <a:schemeClr val="dk1"/>
                </a:solidFill>
                <a:effectLst/>
                <a:latin typeface="Calibri"/>
                <a:ea typeface="Calibri"/>
                <a:cs typeface="Calibri"/>
                <a:sym typeface="Calibri"/>
              </a:rPr>
              <a:t>.NET framework 1.1 – </a:t>
            </a:r>
            <a:r>
              <a:rPr lang="en-US" sz="1200" b="0" i="0" u="none" strike="noStrike" cap="none" dirty="0" err="1">
                <a:solidFill>
                  <a:schemeClr val="dk1"/>
                </a:solidFill>
                <a:effectLst/>
                <a:latin typeface="Calibri"/>
                <a:ea typeface="Calibri"/>
                <a:cs typeface="Calibri"/>
                <a:sym typeface="Calibri"/>
              </a:rPr>
              <a:t>Năm</a:t>
            </a:r>
            <a:r>
              <a:rPr lang="en-US" sz="1200" b="0" i="0" u="none" strike="noStrike" cap="none" dirty="0">
                <a:solidFill>
                  <a:schemeClr val="dk1"/>
                </a:solidFill>
                <a:effectLst/>
                <a:latin typeface="Calibri"/>
                <a:ea typeface="Calibri"/>
                <a:cs typeface="Calibri"/>
                <a:sym typeface="Calibri"/>
              </a:rPr>
              <a:t> 2003</a:t>
            </a:r>
          </a:p>
          <a:p>
            <a:r>
              <a:rPr lang="en-US" sz="1200" b="0" i="0" u="none" strike="noStrike" cap="none" dirty="0">
                <a:solidFill>
                  <a:schemeClr val="dk1"/>
                </a:solidFill>
                <a:effectLst/>
                <a:latin typeface="Calibri"/>
                <a:ea typeface="Calibri"/>
                <a:cs typeface="Calibri"/>
                <a:sym typeface="Calibri"/>
              </a:rPr>
              <a:t>.NET framework 2.0 – </a:t>
            </a:r>
            <a:r>
              <a:rPr lang="en-US" sz="1200" b="0" i="0" u="none" strike="noStrike" cap="none" dirty="0" err="1">
                <a:solidFill>
                  <a:schemeClr val="dk1"/>
                </a:solidFill>
                <a:effectLst/>
                <a:latin typeface="Calibri"/>
                <a:ea typeface="Calibri"/>
                <a:cs typeface="Calibri"/>
                <a:sym typeface="Calibri"/>
              </a:rPr>
              <a:t>Năm</a:t>
            </a:r>
            <a:r>
              <a:rPr lang="en-US" sz="1200" b="0" i="0" u="none" strike="noStrike" cap="none" dirty="0">
                <a:solidFill>
                  <a:schemeClr val="dk1"/>
                </a:solidFill>
                <a:effectLst/>
                <a:latin typeface="Calibri"/>
                <a:ea typeface="Calibri"/>
                <a:cs typeface="Calibri"/>
                <a:sym typeface="Calibri"/>
              </a:rPr>
              <a:t> 2005</a:t>
            </a:r>
          </a:p>
          <a:p>
            <a:r>
              <a:rPr lang="en-US" sz="1200" b="0" i="0" u="none" strike="noStrike" cap="none" dirty="0">
                <a:solidFill>
                  <a:schemeClr val="dk1"/>
                </a:solidFill>
                <a:effectLst/>
                <a:latin typeface="Calibri"/>
                <a:ea typeface="Calibri"/>
                <a:cs typeface="Calibri"/>
                <a:sym typeface="Calibri"/>
              </a:rPr>
              <a:t>.NET framework 3.0 – </a:t>
            </a:r>
            <a:r>
              <a:rPr lang="en-US" sz="1200" b="0" i="0" u="none" strike="noStrike" cap="none" dirty="0" err="1">
                <a:solidFill>
                  <a:schemeClr val="dk1"/>
                </a:solidFill>
                <a:effectLst/>
                <a:latin typeface="Calibri"/>
                <a:ea typeface="Calibri"/>
                <a:cs typeface="Calibri"/>
                <a:sym typeface="Calibri"/>
              </a:rPr>
              <a:t>Năm</a:t>
            </a:r>
            <a:r>
              <a:rPr lang="en-US" sz="1200" b="0" i="0" u="none" strike="noStrike" cap="none" dirty="0">
                <a:solidFill>
                  <a:schemeClr val="dk1"/>
                </a:solidFill>
                <a:effectLst/>
                <a:latin typeface="Calibri"/>
                <a:ea typeface="Calibri"/>
                <a:cs typeface="Calibri"/>
                <a:sym typeface="Calibri"/>
              </a:rPr>
              <a:t> 2006</a:t>
            </a:r>
          </a:p>
          <a:p>
            <a:r>
              <a:rPr lang="en-US" sz="1200" b="0" i="0" u="none" strike="noStrike" cap="none" dirty="0">
                <a:solidFill>
                  <a:schemeClr val="dk1"/>
                </a:solidFill>
                <a:effectLst/>
                <a:latin typeface="Calibri"/>
                <a:ea typeface="Calibri"/>
                <a:cs typeface="Calibri"/>
                <a:sym typeface="Calibri"/>
              </a:rPr>
              <a:t>.NET framework 3.5 – </a:t>
            </a:r>
            <a:r>
              <a:rPr lang="en-US" sz="1200" b="0" i="0" u="none" strike="noStrike" cap="none" dirty="0" err="1">
                <a:solidFill>
                  <a:schemeClr val="dk1"/>
                </a:solidFill>
                <a:effectLst/>
                <a:latin typeface="Calibri"/>
                <a:ea typeface="Calibri"/>
                <a:cs typeface="Calibri"/>
                <a:sym typeface="Calibri"/>
              </a:rPr>
              <a:t>Năm</a:t>
            </a:r>
            <a:r>
              <a:rPr lang="en-US" sz="1200" b="0" i="0" u="none" strike="noStrike" cap="none" dirty="0">
                <a:solidFill>
                  <a:schemeClr val="dk1"/>
                </a:solidFill>
                <a:effectLst/>
                <a:latin typeface="Calibri"/>
                <a:ea typeface="Calibri"/>
                <a:cs typeface="Calibri"/>
                <a:sym typeface="Calibri"/>
              </a:rPr>
              <a:t> 2008</a:t>
            </a:r>
          </a:p>
          <a:p>
            <a:r>
              <a:rPr lang="en-US" sz="1200" b="0" i="0" u="none" strike="noStrike" cap="none" dirty="0">
                <a:solidFill>
                  <a:schemeClr val="dk1"/>
                </a:solidFill>
                <a:effectLst/>
                <a:latin typeface="Calibri"/>
                <a:ea typeface="Calibri"/>
                <a:cs typeface="Calibri"/>
                <a:sym typeface="Calibri"/>
              </a:rPr>
              <a:t>.NET framework 4.0 – </a:t>
            </a:r>
            <a:r>
              <a:rPr lang="en-US" sz="1200" b="0" i="0" u="none" strike="noStrike" cap="none" dirty="0" err="1">
                <a:solidFill>
                  <a:schemeClr val="dk1"/>
                </a:solidFill>
                <a:effectLst/>
                <a:latin typeface="Calibri"/>
                <a:ea typeface="Calibri"/>
                <a:cs typeface="Calibri"/>
                <a:sym typeface="Calibri"/>
              </a:rPr>
              <a:t>Năm</a:t>
            </a:r>
            <a:r>
              <a:rPr lang="en-US" sz="1200" b="0" i="0" u="none" strike="noStrike" cap="none" dirty="0">
                <a:solidFill>
                  <a:schemeClr val="dk1"/>
                </a:solidFill>
                <a:effectLst/>
                <a:latin typeface="Calibri"/>
                <a:ea typeface="Calibri"/>
                <a:cs typeface="Calibri"/>
                <a:sym typeface="Calibri"/>
              </a:rPr>
              <a:t> 2010</a:t>
            </a:r>
          </a:p>
          <a:p>
            <a:r>
              <a:rPr lang="en-US" sz="1200" b="0" i="0" u="none" strike="noStrike" cap="none" dirty="0">
                <a:solidFill>
                  <a:schemeClr val="dk1"/>
                </a:solidFill>
                <a:effectLst/>
                <a:latin typeface="Calibri"/>
                <a:ea typeface="Calibri"/>
                <a:cs typeface="Calibri"/>
                <a:sym typeface="Calibri"/>
              </a:rPr>
              <a:t>.NET framework 4.5 – </a:t>
            </a:r>
            <a:r>
              <a:rPr lang="en-US" sz="1200" b="0" i="0" u="none" strike="noStrike" cap="none" dirty="0" err="1">
                <a:solidFill>
                  <a:schemeClr val="dk1"/>
                </a:solidFill>
                <a:effectLst/>
                <a:latin typeface="Calibri"/>
                <a:ea typeface="Calibri"/>
                <a:cs typeface="Calibri"/>
                <a:sym typeface="Calibri"/>
              </a:rPr>
              <a:t>Năm</a:t>
            </a:r>
            <a:r>
              <a:rPr lang="en-US" sz="1200" b="0" i="0" u="none" strike="noStrike" cap="none" dirty="0">
                <a:solidFill>
                  <a:schemeClr val="dk1"/>
                </a:solidFill>
                <a:effectLst/>
                <a:latin typeface="Calibri"/>
                <a:ea typeface="Calibri"/>
                <a:cs typeface="Calibri"/>
                <a:sym typeface="Calibri"/>
              </a:rPr>
              <a:t> 2012</a:t>
            </a:r>
          </a:p>
          <a:p>
            <a:r>
              <a:rPr lang="en-US" sz="1200" b="0" i="0" u="none" strike="noStrike" cap="none" dirty="0" err="1">
                <a:solidFill>
                  <a:schemeClr val="dk1"/>
                </a:solidFill>
                <a:effectLst/>
                <a:latin typeface="Calibri"/>
                <a:ea typeface="Calibri"/>
                <a:cs typeface="Calibri"/>
                <a:sym typeface="Calibri"/>
              </a:rPr>
              <a:t>Và</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các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phiên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bản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nhỏ</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lẻ</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tiếp</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theo</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cho</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đến</a:t>
            </a:r>
            <a:r>
              <a:rPr lang="en-US" sz="1200" b="0" i="0" u="none" strike="noStrike" cap="none" dirty="0">
                <a:solidFill>
                  <a:schemeClr val="dk1"/>
                </a:solidFill>
                <a:effectLst/>
                <a:latin typeface="Calibri"/>
                <a:ea typeface="Calibri"/>
                <a:cs typeface="Calibri"/>
                <a:sym typeface="Calibri"/>
              </a:rPr>
              <a:t> .NET framework 4.8 – </a:t>
            </a:r>
            <a:r>
              <a:rPr lang="en-US" sz="1200" b="0" i="0" u="none" strike="noStrike" cap="none" dirty="0" err="1">
                <a:solidFill>
                  <a:schemeClr val="dk1"/>
                </a:solidFill>
                <a:effectLst/>
                <a:latin typeface="Calibri"/>
                <a:ea typeface="Calibri"/>
                <a:cs typeface="Calibri"/>
                <a:sym typeface="Calibri"/>
              </a:rPr>
              <a:t>Năm</a:t>
            </a:r>
            <a:r>
              <a:rPr lang="en-US" sz="1200" b="0" i="0" u="none" strike="noStrike" cap="none" dirty="0">
                <a:solidFill>
                  <a:schemeClr val="dk1"/>
                </a:solidFill>
                <a:effectLst/>
                <a:latin typeface="Calibri"/>
                <a:ea typeface="Calibri"/>
                <a:cs typeface="Calibri"/>
                <a:sym typeface="Calibri"/>
              </a:rPr>
              <a:t> 2019</a:t>
            </a:r>
          </a:p>
          <a:p>
            <a:pPr marL="0" lvl="0" indent="0" algn="l" rtl="0">
              <a:spcBef>
                <a:spcPts val="0"/>
              </a:spcBef>
              <a:spcAft>
                <a:spcPts val="0"/>
              </a:spcAft>
              <a:buNone/>
            </a:pPr>
            <a:endParaRPr dirty="0"/>
          </a:p>
        </p:txBody>
      </p:sp>
      <p:sp>
        <p:nvSpPr>
          <p:cNvPr id="109" name="Google Shape;109;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b="0" i="0" u="none" strike="noStrike" cap="none" dirty="0">
                <a:solidFill>
                  <a:schemeClr val="dk1"/>
                </a:solidFill>
                <a:effectLst/>
                <a:latin typeface="Calibri"/>
                <a:ea typeface="Calibri"/>
                <a:cs typeface="Calibri"/>
                <a:sym typeface="Calibri"/>
              </a:rPr>
              <a:t>.NET framework </a:t>
            </a:r>
            <a:r>
              <a:rPr lang="en-US" sz="1200" b="0" i="0" u="none" strike="noStrike" cap="none" dirty="0" err="1">
                <a:solidFill>
                  <a:schemeClr val="dk1"/>
                </a:solidFill>
                <a:effectLst/>
                <a:latin typeface="Calibri"/>
                <a:ea typeface="Calibri"/>
                <a:cs typeface="Calibri"/>
                <a:sym typeface="Calibri"/>
              </a:rPr>
              <a:t>hỗ</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trợ</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công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nghệ</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cho</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các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nhà</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phát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triển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ứng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dụng</a:t>
            </a:r>
            <a:r>
              <a:rPr lang="en-US" sz="1200" b="0" i="0" u="none" strike="noStrike" cap="none" dirty="0">
                <a:solidFill>
                  <a:schemeClr val="dk1"/>
                </a:solidFill>
                <a:effectLst/>
                <a:latin typeface="Calibri"/>
                <a:ea typeface="Calibri"/>
                <a:cs typeface="Calibri"/>
                <a:sym typeface="Calibri"/>
              </a:rPr>
              <a:t> Windows </a:t>
            </a:r>
            <a:r>
              <a:rPr lang="en-US" sz="1200" b="0" i="0" u="none" strike="noStrike" cap="none" dirty="0" err="1">
                <a:solidFill>
                  <a:schemeClr val="dk1"/>
                </a:solidFill>
                <a:effectLst/>
                <a:latin typeface="Calibri"/>
                <a:ea typeface="Calibri"/>
                <a:cs typeface="Calibri"/>
                <a:sym typeface="Calibri"/>
              </a:rPr>
              <a:t>như</a:t>
            </a:r>
            <a:r>
              <a:rPr lang="en-US" sz="1200" b="0" i="0" u="none" strike="noStrike" cap="none" dirty="0">
                <a:solidFill>
                  <a:schemeClr val="dk1"/>
                </a:solidFill>
                <a:effectLst/>
                <a:latin typeface="Calibri"/>
                <a:ea typeface="Calibri"/>
                <a:cs typeface="Calibri"/>
                <a:sym typeface="Calibri"/>
              </a:rPr>
              <a:t> : ASP.NET, Web Forms, Win Forms, WCF, Silverlight, WPF, LINQ, ADO.NET, Entity Framework, Task Parallel Library …</a:t>
            </a:r>
          </a:p>
          <a:p>
            <a:pPr marL="0" lvl="0" indent="0" algn="l" rtl="0">
              <a:spcBef>
                <a:spcPts val="0"/>
              </a:spcBef>
              <a:spcAft>
                <a:spcPts val="0"/>
              </a:spcAft>
              <a:buNone/>
            </a:pPr>
            <a:endParaRPr dirty="0"/>
          </a:p>
        </p:txBody>
      </p:sp>
      <p:sp>
        <p:nvSpPr>
          <p:cNvPr id="109" name="Google Shape;109;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.NET Core</a:t>
            </a:r>
            <a:r>
              <a:rPr lang="en-US" sz="1200" b="0" i="0" u="none" strike="noStrike" cap="none" dirty="0">
                <a:solidFill>
                  <a:schemeClr val="dk1"/>
                </a:solidFill>
                <a:effectLst/>
                <a:latin typeface="Calibri"/>
                <a:ea typeface="Calibri"/>
                <a:cs typeface="Calibri"/>
                <a:sym typeface="Calibri"/>
              </a:rPr>
              <a:t>: </a:t>
            </a:r>
          </a:p>
          <a:p>
            <a:pPr>
              <a:buFontTx/>
              <a:buChar char="-"/>
            </a:pPr>
            <a:r>
              <a:rPr lang="en-US" sz="1200" b="0" i="0" u="none" strike="noStrike" cap="none" dirty="0" err="1">
                <a:solidFill>
                  <a:schemeClr val="dk1"/>
                </a:solidFill>
                <a:effectLst/>
                <a:latin typeface="Calibri"/>
                <a:ea typeface="Calibri"/>
                <a:cs typeface="Calibri"/>
                <a:sym typeface="Calibri"/>
              </a:rPr>
              <a:t>Năm</a:t>
            </a:r>
            <a:r>
              <a:rPr lang="en-US" sz="1200" b="0" i="0" u="none" strike="noStrike" cap="none" dirty="0">
                <a:solidFill>
                  <a:schemeClr val="dk1"/>
                </a:solidFill>
                <a:effectLst/>
                <a:latin typeface="Calibri"/>
                <a:ea typeface="Calibri"/>
                <a:cs typeface="Calibri"/>
                <a:sym typeface="Calibri"/>
              </a:rPr>
              <a:t> 2014, Microsoft </a:t>
            </a:r>
            <a:r>
              <a:rPr lang="en-US" sz="1200" b="0" i="0" u="none" strike="noStrike" cap="none" dirty="0" err="1">
                <a:solidFill>
                  <a:schemeClr val="dk1"/>
                </a:solidFill>
                <a:effectLst/>
                <a:latin typeface="Calibri"/>
                <a:ea typeface="Calibri"/>
                <a:cs typeface="Calibri"/>
                <a:sym typeface="Calibri"/>
              </a:rPr>
              <a:t>đã</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công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bố</a:t>
            </a:r>
            <a:r>
              <a:rPr lang="en-US" sz="1200" b="0" i="0" u="none" strike="noStrike" cap="none" dirty="0">
                <a:solidFill>
                  <a:schemeClr val="dk1"/>
                </a:solidFill>
                <a:effectLst/>
                <a:latin typeface="Calibri"/>
                <a:ea typeface="Calibri"/>
                <a:cs typeface="Calibri"/>
                <a:sym typeface="Calibri"/>
              </a:rPr>
              <a:t> .NET Core, </a:t>
            </a:r>
            <a:r>
              <a:rPr lang="en-US" sz="1200" b="0" i="0" u="none" strike="noStrike" cap="none" dirty="0" err="1">
                <a:solidFill>
                  <a:schemeClr val="dk1"/>
                </a:solidFill>
                <a:effectLst/>
                <a:latin typeface="Calibri"/>
                <a:ea typeface="Calibri"/>
                <a:cs typeface="Calibri"/>
                <a:sym typeface="Calibri"/>
              </a:rPr>
              <a:t>một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phiên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bản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mô-đun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mã</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nguồn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mở</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đa</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nền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tảng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của</a:t>
            </a:r>
            <a:r>
              <a:rPr lang="en-US" sz="1200" b="0" i="0" u="none" strike="noStrike" cap="none" dirty="0">
                <a:solidFill>
                  <a:schemeClr val="dk1"/>
                </a:solidFill>
                <a:effectLst/>
                <a:latin typeface="Calibri"/>
                <a:ea typeface="Calibri"/>
                <a:cs typeface="Calibri"/>
                <a:sym typeface="Calibri"/>
              </a:rPr>
              <a:t> .NET Framework. .NET Core </a:t>
            </a:r>
            <a:r>
              <a:rPr lang="en-US" sz="1200" b="0" i="0" u="none" strike="noStrike" cap="none" dirty="0" err="1">
                <a:solidFill>
                  <a:schemeClr val="dk1"/>
                </a:solidFill>
                <a:effectLst/>
                <a:latin typeface="Calibri"/>
                <a:ea typeface="Calibri"/>
                <a:cs typeface="Calibri"/>
                <a:sym typeface="Calibri"/>
              </a:rPr>
              <a:t>được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thiết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kế</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nhẹ</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và</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có</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thể</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chạy</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trên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các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hệ</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điều</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hành</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khác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nhau</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bao</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gồm</a:t>
            </a:r>
            <a:r>
              <a:rPr lang="en-US" sz="1200" b="0" i="0" u="none" strike="noStrike" cap="none" dirty="0">
                <a:solidFill>
                  <a:schemeClr val="dk1"/>
                </a:solidFill>
                <a:effectLst/>
                <a:latin typeface="Calibri"/>
                <a:ea typeface="Calibri"/>
                <a:cs typeface="Calibri"/>
                <a:sym typeface="Calibri"/>
              </a:rPr>
              <a:t> Windows, </a:t>
            </a:r>
            <a:r>
              <a:rPr lang="en-US" sz="1200" b="0" i="0" u="none" strike="noStrike" cap="none" dirty="0" err="1">
                <a:solidFill>
                  <a:schemeClr val="dk1"/>
                </a:solidFill>
                <a:effectLst/>
                <a:latin typeface="Calibri"/>
                <a:ea typeface="Calibri"/>
                <a:cs typeface="Calibri"/>
                <a:sym typeface="Calibri"/>
              </a:rPr>
              <a:t>macOS</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và</a:t>
            </a:r>
            <a:r>
              <a:rPr lang="en-US" sz="1200" b="0" i="0" u="none" strike="noStrike" cap="none" dirty="0">
                <a:solidFill>
                  <a:schemeClr val="dk1"/>
                </a:solidFill>
                <a:effectLst/>
                <a:latin typeface="Calibri"/>
                <a:ea typeface="Calibri"/>
                <a:cs typeface="Calibri"/>
                <a:sym typeface="Calibri"/>
              </a:rPr>
              <a:t> Linux.</a:t>
            </a:r>
          </a:p>
          <a:p>
            <a:pPr>
              <a:buFontTx/>
              <a:buChar char="-"/>
            </a:pP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Năm</a:t>
            </a:r>
            <a:r>
              <a:rPr lang="en-US" sz="1200" b="0" i="0" u="none" strike="noStrike" cap="none" dirty="0">
                <a:solidFill>
                  <a:schemeClr val="dk1"/>
                </a:solidFill>
                <a:effectLst/>
                <a:latin typeface="Calibri"/>
                <a:ea typeface="Calibri"/>
                <a:cs typeface="Calibri"/>
                <a:sym typeface="Calibri"/>
              </a:rPr>
              <a:t> 2016, </a:t>
            </a:r>
            <a:r>
              <a:rPr lang="en-US" sz="1200" b="0" i="0" u="none" strike="noStrike" cap="none" dirty="0" err="1">
                <a:solidFill>
                  <a:schemeClr val="dk1"/>
                </a:solidFill>
                <a:effectLst/>
                <a:latin typeface="Calibri"/>
                <a:ea typeface="Calibri"/>
                <a:cs typeface="Calibri"/>
                <a:sym typeface="Calibri"/>
              </a:rPr>
              <a:t>Bản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phát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hành</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đầu</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tiên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của</a:t>
            </a:r>
            <a:r>
              <a:rPr lang="en-US" sz="1200" b="0" i="0" u="none" strike="noStrike" cap="none" dirty="0">
                <a:solidFill>
                  <a:schemeClr val="dk1"/>
                </a:solidFill>
                <a:effectLst/>
                <a:latin typeface="Calibri"/>
                <a:ea typeface="Calibri"/>
                <a:cs typeface="Calibri"/>
                <a:sym typeface="Calibri"/>
              </a:rPr>
              <a:t> .NET Core 1.0 </a:t>
            </a:r>
            <a:r>
              <a:rPr lang="en-US" sz="1200" b="0" i="0" u="none" strike="noStrike" cap="none" dirty="0" err="1">
                <a:solidFill>
                  <a:schemeClr val="dk1"/>
                </a:solidFill>
                <a:effectLst/>
                <a:latin typeface="Calibri"/>
                <a:ea typeface="Calibri"/>
                <a:cs typeface="Calibri"/>
                <a:sym typeface="Calibri"/>
              </a:rPr>
              <a:t>được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đưa</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ra</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thị</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trường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Nó</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bao</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gồm</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một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tập</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hợp</a:t>
            </a:r>
            <a:r>
              <a:rPr lang="en-US" sz="1200" b="0" i="0" u="none" strike="noStrike" cap="none" dirty="0">
                <a:solidFill>
                  <a:schemeClr val="dk1"/>
                </a:solidFill>
                <a:effectLst/>
                <a:latin typeface="Calibri"/>
                <a:ea typeface="Calibri"/>
                <a:cs typeface="Calibri"/>
                <a:sym typeface="Calibri"/>
              </a:rPr>
              <a:t> con </a:t>
            </a:r>
            <a:r>
              <a:rPr lang="en-US" sz="1200" b="0" i="0" u="none" strike="noStrike" cap="none" dirty="0" err="1">
                <a:solidFill>
                  <a:schemeClr val="dk1"/>
                </a:solidFill>
                <a:effectLst/>
                <a:latin typeface="Calibri"/>
                <a:ea typeface="Calibri"/>
                <a:cs typeface="Calibri"/>
                <a:sym typeface="Calibri"/>
              </a:rPr>
              <a:t>chức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năng</a:t>
            </a:r>
            <a:r>
              <a:rPr lang="en-US" sz="1200" b="0" i="0" u="none" strike="noStrike" cap="none" dirty="0">
                <a:solidFill>
                  <a:schemeClr val="dk1"/>
                </a:solidFill>
                <a:effectLst/>
                <a:latin typeface="Calibri"/>
                <a:ea typeface="Calibri"/>
                <a:cs typeface="Calibri"/>
                <a:sym typeface="Calibri"/>
              </a:rPr>
              <a:t> .NET Framework </a:t>
            </a:r>
            <a:r>
              <a:rPr lang="en-US" sz="1200" b="0" i="0" u="none" strike="noStrike" cap="none" dirty="0" err="1">
                <a:solidFill>
                  <a:schemeClr val="dk1"/>
                </a:solidFill>
                <a:effectLst/>
                <a:latin typeface="Calibri"/>
                <a:ea typeface="Calibri"/>
                <a:cs typeface="Calibri"/>
                <a:sym typeface="Calibri"/>
              </a:rPr>
              <a:t>đầy</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đủ</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nhưng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có</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hỗ</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trợ</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đa</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nền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tảng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nhắm</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mục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tiêu</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chủ</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yếu</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để</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xây</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dựng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các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ứng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dụng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và</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dịch</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vụ</a:t>
            </a:r>
            <a:r>
              <a:rPr lang="en-US" sz="1200" b="0" i="0" u="none" strike="noStrike" cap="none" dirty="0">
                <a:solidFill>
                  <a:schemeClr val="dk1"/>
                </a:solidFill>
                <a:effectLst/>
                <a:latin typeface="Calibri"/>
                <a:ea typeface="Calibri"/>
                <a:cs typeface="Calibri"/>
                <a:sym typeface="Calibri"/>
              </a:rPr>
              <a:t> web.</a:t>
            </a:r>
          </a:p>
          <a:p>
            <a:pPr marL="0" lvl="0" indent="0" algn="l" rtl="0">
              <a:spcBef>
                <a:spcPts val="0"/>
              </a:spcBef>
              <a:spcAft>
                <a:spcPts val="0"/>
              </a:spcAft>
              <a:buNone/>
            </a:pPr>
            <a:endParaRPr dirty="0"/>
          </a:p>
        </p:txBody>
      </p:sp>
      <p:sp>
        <p:nvSpPr>
          <p:cNvPr id="109" name="Google Shape;109;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a:buFontTx/>
              <a:buChar char="-"/>
            </a:pPr>
            <a:r>
              <a:rPr lang="en-US" sz="1200" b="0" i="0" u="none" strike="noStrike" cap="none" dirty="0" err="1">
                <a:solidFill>
                  <a:schemeClr val="dk1"/>
                </a:solidFill>
                <a:effectLst/>
                <a:latin typeface="Calibri"/>
                <a:ea typeface="Calibri"/>
                <a:cs typeface="Calibri"/>
                <a:sym typeface="Calibri"/>
              </a:rPr>
              <a:t>Những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năm</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tiếp</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theo</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các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phiên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bản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của</a:t>
            </a:r>
            <a:r>
              <a:rPr lang="en-US" sz="1200" b="0" i="0" u="none" strike="noStrike" cap="none" dirty="0">
                <a:solidFill>
                  <a:schemeClr val="dk1"/>
                </a:solidFill>
                <a:effectLst/>
                <a:latin typeface="Calibri"/>
                <a:ea typeface="Calibri"/>
                <a:cs typeface="Calibri"/>
                <a:sym typeface="Calibri"/>
              </a:rPr>
              <a:t> .NET Core </a:t>
            </a:r>
            <a:r>
              <a:rPr lang="en-US" sz="1200" b="0" i="0" u="none" strike="noStrike" cap="none" dirty="0" err="1">
                <a:solidFill>
                  <a:schemeClr val="dk1"/>
                </a:solidFill>
                <a:effectLst/>
                <a:latin typeface="Calibri"/>
                <a:ea typeface="Calibri"/>
                <a:cs typeface="Calibri"/>
                <a:sym typeface="Calibri"/>
              </a:rPr>
              <a:t>được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phát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triển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và</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dần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hoàn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thiện</a:t>
            </a:r>
            <a:r>
              <a:rPr lang="en-US" sz="1200" b="0" i="0" u="none" strike="noStrike" cap="none" dirty="0">
                <a:solidFill>
                  <a:schemeClr val="dk1"/>
                </a:solidFill>
                <a:effectLst/>
                <a:latin typeface="Calibri"/>
                <a:ea typeface="Calibri"/>
                <a:cs typeface="Calibri"/>
                <a:sym typeface="Calibri"/>
              </a:rPr>
              <a:t>, .NET Core 2.0 (</a:t>
            </a:r>
            <a:r>
              <a:rPr lang="en-US" sz="1200" b="0" i="0" u="none" strike="noStrike" cap="none" dirty="0" err="1">
                <a:solidFill>
                  <a:schemeClr val="dk1"/>
                </a:solidFill>
                <a:effectLst/>
                <a:latin typeface="Calibri"/>
                <a:ea typeface="Calibri"/>
                <a:cs typeface="Calibri"/>
                <a:sym typeface="Calibri"/>
              </a:rPr>
              <a:t>năm</a:t>
            </a:r>
            <a:r>
              <a:rPr lang="en-US" sz="1200" b="0" i="0" u="none" strike="noStrike" cap="none" dirty="0">
                <a:solidFill>
                  <a:schemeClr val="dk1"/>
                </a:solidFill>
                <a:effectLst/>
                <a:latin typeface="Calibri"/>
                <a:ea typeface="Calibri"/>
                <a:cs typeface="Calibri"/>
                <a:sym typeface="Calibri"/>
              </a:rPr>
              <a:t> 2017) </a:t>
            </a:r>
            <a:r>
              <a:rPr lang="en-US" sz="1200" b="0" i="0" u="none" strike="noStrike" cap="none" dirty="0" err="1">
                <a:solidFill>
                  <a:schemeClr val="dk1"/>
                </a:solidFill>
                <a:effectLst/>
                <a:latin typeface="Calibri"/>
                <a:ea typeface="Calibri"/>
                <a:cs typeface="Calibri"/>
                <a:sym typeface="Calibri"/>
              </a:rPr>
              <a:t>và</a:t>
            </a:r>
            <a:r>
              <a:rPr lang="en-US" sz="1200" b="0" i="0" u="none" strike="noStrike" cap="none" dirty="0">
                <a:solidFill>
                  <a:schemeClr val="dk1"/>
                </a:solidFill>
                <a:effectLst/>
                <a:latin typeface="Calibri"/>
                <a:ea typeface="Calibri"/>
                <a:cs typeface="Calibri"/>
                <a:sym typeface="Calibri"/>
              </a:rPr>
              <a:t> .NET Core 3.0 (2019). Microsoft </a:t>
            </a:r>
            <a:r>
              <a:rPr lang="en-US" sz="1200" b="0" i="0" u="none" strike="noStrike" cap="none" dirty="0" err="1">
                <a:solidFill>
                  <a:schemeClr val="dk1"/>
                </a:solidFill>
                <a:effectLst/>
                <a:latin typeface="Calibri"/>
                <a:ea typeface="Calibri"/>
                <a:cs typeface="Calibri"/>
                <a:sym typeface="Calibri"/>
              </a:rPr>
              <a:t>đã</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thông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báo</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rằng</a:t>
            </a:r>
            <a:r>
              <a:rPr lang="en-US" sz="1200" b="0" i="0" u="none" strike="noStrike" cap="none" dirty="0">
                <a:solidFill>
                  <a:schemeClr val="dk1"/>
                </a:solidFill>
                <a:effectLst/>
                <a:latin typeface="Calibri"/>
                <a:ea typeface="Calibri"/>
                <a:cs typeface="Calibri"/>
                <a:sym typeface="Calibri"/>
              </a:rPr>
              <a:t> .NET Core 3.0 </a:t>
            </a:r>
            <a:r>
              <a:rPr lang="en-US" sz="1200" b="0" i="0" u="none" strike="noStrike" cap="none" dirty="0" err="1">
                <a:solidFill>
                  <a:schemeClr val="dk1"/>
                </a:solidFill>
                <a:effectLst/>
                <a:latin typeface="Calibri"/>
                <a:ea typeface="Calibri"/>
                <a:cs typeface="Calibri"/>
                <a:sym typeface="Calibri"/>
              </a:rPr>
              <a:t>sẽ</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là</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bản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phát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hành</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cuối</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cùng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dưới</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tên</a:t>
            </a:r>
            <a:r>
              <a:rPr lang="en-US" sz="1200" b="0" i="0" u="none" strike="noStrike" cap="none" dirty="0">
                <a:solidFill>
                  <a:schemeClr val="dk1"/>
                </a:solidFill>
                <a:effectLst/>
                <a:latin typeface="Calibri"/>
                <a:ea typeface="Calibri"/>
                <a:cs typeface="Calibri"/>
                <a:sym typeface="Calibri"/>
              </a:rPr>
              <a:t> ".NET Core”</a:t>
            </a:r>
          </a:p>
          <a:p>
            <a:pPr>
              <a:buFontTx/>
              <a:buChar char="-"/>
            </a:pP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Năm</a:t>
            </a:r>
            <a:r>
              <a:rPr lang="en-US" sz="1200" b="0" i="0" u="none" strike="noStrike" cap="none" dirty="0">
                <a:solidFill>
                  <a:schemeClr val="dk1"/>
                </a:solidFill>
                <a:effectLst/>
                <a:latin typeface="Calibri"/>
                <a:ea typeface="Calibri"/>
                <a:cs typeface="Calibri"/>
                <a:sym typeface="Calibri"/>
              </a:rPr>
              <a:t> 2020, Microsoft </a:t>
            </a:r>
            <a:r>
              <a:rPr lang="en-US" sz="1200" b="0" i="0" u="none" strike="noStrike" cap="none" dirty="0" err="1">
                <a:solidFill>
                  <a:schemeClr val="dk1"/>
                </a:solidFill>
                <a:effectLst/>
                <a:latin typeface="Calibri"/>
                <a:ea typeface="Calibri"/>
                <a:cs typeface="Calibri"/>
                <a:sym typeface="Calibri"/>
              </a:rPr>
              <a:t>đã</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công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bố</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sơ</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đồ</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phiên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bản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mới</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với</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bản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phát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hành</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tiếp</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theo</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tên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là</a:t>
            </a:r>
            <a:r>
              <a:rPr lang="en-US" sz="1200" b="0" i="0" u="none" strike="noStrike" cap="none" dirty="0">
                <a:solidFill>
                  <a:schemeClr val="dk1"/>
                </a:solidFill>
                <a:effectLst/>
                <a:latin typeface="Calibri"/>
                <a:ea typeface="Calibri"/>
                <a:cs typeface="Calibri"/>
                <a:sym typeface="Calibri"/>
              </a:rPr>
              <a:t> ".NET 5." </a:t>
            </a:r>
            <a:r>
              <a:rPr lang="en-US" sz="1200" b="0" i="0" u="none" strike="noStrike" cap="none" dirty="0" err="1">
                <a:solidFill>
                  <a:schemeClr val="dk1"/>
                </a:solidFill>
                <a:effectLst/>
                <a:latin typeface="Calibri"/>
                <a:ea typeface="Calibri"/>
                <a:cs typeface="Calibri"/>
                <a:sym typeface="Calibri"/>
              </a:rPr>
              <a:t>Quyết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định</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bỏ</a:t>
            </a:r>
            <a:r>
              <a:rPr lang="en-US" sz="1200" b="0" i="0" u="none" strike="noStrike" cap="none" dirty="0">
                <a:solidFill>
                  <a:schemeClr val="dk1"/>
                </a:solidFill>
                <a:effectLst/>
                <a:latin typeface="Calibri"/>
                <a:ea typeface="Calibri"/>
                <a:cs typeface="Calibri"/>
                <a:sym typeface="Calibri"/>
              </a:rPr>
              <a:t> qua </a:t>
            </a:r>
            <a:r>
              <a:rPr lang="en-US" sz="1200" b="0" i="0" u="none" strike="noStrike" cap="none" dirty="0" err="1">
                <a:solidFill>
                  <a:schemeClr val="dk1"/>
                </a:solidFill>
                <a:effectLst/>
                <a:latin typeface="Calibri"/>
                <a:ea typeface="Calibri"/>
                <a:cs typeface="Calibri"/>
                <a:sym typeface="Calibri"/>
              </a:rPr>
              <a:t>phiên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bản</a:t>
            </a:r>
            <a:r>
              <a:rPr lang="en-US" sz="1200" b="0" i="0" u="none" strike="noStrike" cap="none" dirty="0">
                <a:solidFill>
                  <a:schemeClr val="dk1"/>
                </a:solidFill>
                <a:effectLst/>
                <a:latin typeface="Calibri"/>
                <a:ea typeface="Calibri"/>
                <a:cs typeface="Calibri"/>
                <a:sym typeface="Calibri"/>
              </a:rPr>
              <a:t> 4.x </a:t>
            </a:r>
            <a:r>
              <a:rPr lang="en-US" sz="1200" b="0" i="0" u="none" strike="noStrike" cap="none" dirty="0" err="1">
                <a:solidFill>
                  <a:schemeClr val="dk1"/>
                </a:solidFill>
                <a:effectLst/>
                <a:latin typeface="Calibri"/>
                <a:ea typeface="Calibri"/>
                <a:cs typeface="Calibri"/>
                <a:sym typeface="Calibri"/>
              </a:rPr>
              <a:t>là</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để</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đồng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bộ</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các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phiên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bản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nền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tảng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của</a:t>
            </a:r>
            <a:r>
              <a:rPr lang="en-US" sz="1200" b="0" i="0" u="none" strike="noStrike" cap="none" dirty="0">
                <a:solidFill>
                  <a:schemeClr val="dk1"/>
                </a:solidFill>
                <a:effectLst/>
                <a:latin typeface="Calibri"/>
                <a:ea typeface="Calibri"/>
                <a:cs typeface="Calibri"/>
                <a:sym typeface="Calibri"/>
              </a:rPr>
              <a:t> .NET Framework </a:t>
            </a:r>
            <a:r>
              <a:rPr lang="en-US" sz="1200" b="0" i="0" u="none" strike="noStrike" cap="none" dirty="0" err="1">
                <a:solidFill>
                  <a:schemeClr val="dk1"/>
                </a:solidFill>
                <a:effectLst/>
                <a:latin typeface="Calibri"/>
                <a:ea typeface="Calibri"/>
                <a:cs typeface="Calibri"/>
                <a:sym typeface="Calibri"/>
              </a:rPr>
              <a:t>và</a:t>
            </a:r>
            <a:r>
              <a:rPr lang="en-US" sz="1200" b="0" i="0" u="none" strike="noStrike" cap="none" dirty="0">
                <a:solidFill>
                  <a:schemeClr val="dk1"/>
                </a:solidFill>
                <a:effectLst/>
                <a:latin typeface="Calibri"/>
                <a:ea typeface="Calibri"/>
                <a:cs typeface="Calibri"/>
                <a:sym typeface="Calibri"/>
              </a:rPr>
              <a:t> .NET Core </a:t>
            </a:r>
            <a:r>
              <a:rPr lang="en-US" sz="1200" b="0" i="0" u="none" strike="noStrike" cap="none" dirty="0" err="1">
                <a:solidFill>
                  <a:schemeClr val="dk1"/>
                </a:solidFill>
                <a:effectLst/>
                <a:latin typeface="Calibri"/>
                <a:ea typeface="Calibri"/>
                <a:cs typeface="Calibri"/>
                <a:sym typeface="Calibri"/>
              </a:rPr>
              <a:t>thành</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một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nền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tảng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duy</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nhất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Nó</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hợp</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nhất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các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khả</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năng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của</a:t>
            </a:r>
            <a:r>
              <a:rPr lang="en-US" sz="1200" b="0" i="0" u="none" strike="noStrike" cap="none" dirty="0">
                <a:solidFill>
                  <a:schemeClr val="dk1"/>
                </a:solidFill>
                <a:effectLst/>
                <a:latin typeface="Calibri"/>
                <a:ea typeface="Calibri"/>
                <a:cs typeface="Calibri"/>
                <a:sym typeface="Calibri"/>
              </a:rPr>
              <a:t> .NET Core, .NET Framework </a:t>
            </a:r>
            <a:r>
              <a:rPr lang="en-US" sz="1200" b="0" i="0" u="none" strike="noStrike" cap="none" dirty="0" err="1">
                <a:solidFill>
                  <a:schemeClr val="dk1"/>
                </a:solidFill>
                <a:effectLst/>
                <a:latin typeface="Calibri"/>
                <a:ea typeface="Calibri"/>
                <a:cs typeface="Calibri"/>
                <a:sym typeface="Calibri"/>
              </a:rPr>
              <a:t>và</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cả</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Xamarin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được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sử</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dụng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để</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xây</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dựng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các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ứng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dụng</a:t>
            </a:r>
            <a:r>
              <a:rPr lang="en-US" sz="1200" b="0" i="0" u="none" strike="noStrike" cap="none" dirty="0">
                <a:solidFill>
                  <a:schemeClr val="dk1"/>
                </a:solidFill>
                <a:effectLst/>
                <a:latin typeface="Calibri"/>
                <a:ea typeface="Calibri"/>
                <a:cs typeface="Calibri"/>
                <a:sym typeface="Calibri"/>
              </a:rPr>
              <a:t> di </a:t>
            </a:r>
            <a:r>
              <a:rPr lang="en-US" sz="1200" b="0" i="0" u="none" strike="noStrike" cap="none" dirty="0" err="1">
                <a:solidFill>
                  <a:schemeClr val="dk1"/>
                </a:solidFill>
                <a:effectLst/>
                <a:latin typeface="Calibri"/>
                <a:ea typeface="Calibri"/>
                <a:cs typeface="Calibri"/>
                <a:sym typeface="Calibri"/>
              </a:rPr>
              <a:t>động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vào</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một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nền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tảng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duy</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nhất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Sự</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hợp</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nhất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này</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nhằm</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mục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đích</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đơn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giản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hóa</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việc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phát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triển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và</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cung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cấp</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trải</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nghiệm</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nhất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quán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trên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các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loại</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ứng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dụng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khác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nhau</a:t>
            </a:r>
            <a:r>
              <a:rPr lang="en-US" sz="1200" b="0" i="0" u="none" strike="noStrike" cap="none" dirty="0">
                <a:solidFill>
                  <a:schemeClr val="dk1"/>
                </a:solidFill>
                <a:effectLst/>
                <a:latin typeface="Calibri"/>
                <a:ea typeface="Calibri"/>
                <a:cs typeface="Calibri"/>
                <a:sym typeface="Calibri"/>
              </a:rPr>
              <a:t>.</a:t>
            </a:r>
          </a:p>
          <a:p>
            <a:pPr marL="0" lvl="0" indent="0" algn="l" rtl="0">
              <a:spcBef>
                <a:spcPts val="0"/>
              </a:spcBef>
              <a:spcAft>
                <a:spcPts val="0"/>
              </a:spcAft>
              <a:buNone/>
            </a:pPr>
            <a:endParaRPr dirty="0"/>
          </a:p>
        </p:txBody>
      </p:sp>
      <p:sp>
        <p:nvSpPr>
          <p:cNvPr id="109" name="Google Shape;109;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6538150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a:buFontTx/>
              <a:buChar char="-"/>
            </a:pPr>
            <a:r>
              <a:rPr lang="en-US" sz="1200" b="0" i="0" u="none" strike="noStrike" cap="none" dirty="0" err="1">
                <a:solidFill>
                  <a:schemeClr val="dk1"/>
                </a:solidFill>
                <a:effectLst/>
                <a:latin typeface="Calibri"/>
                <a:ea typeface="Calibri"/>
                <a:cs typeface="Calibri"/>
                <a:sym typeface="Calibri"/>
              </a:rPr>
              <a:t>Năm</a:t>
            </a:r>
            <a:r>
              <a:rPr lang="en-US" sz="1200" b="0" i="0" u="none" strike="noStrike" cap="none" dirty="0">
                <a:solidFill>
                  <a:schemeClr val="dk1"/>
                </a:solidFill>
                <a:effectLst/>
                <a:latin typeface="Calibri"/>
                <a:ea typeface="Calibri"/>
                <a:cs typeface="Calibri"/>
                <a:sym typeface="Calibri"/>
              </a:rPr>
              <a:t> 2021, Microsoft </a:t>
            </a:r>
            <a:r>
              <a:rPr lang="en-US" sz="1200" b="0" i="0" u="none" strike="noStrike" cap="none" dirty="0" err="1">
                <a:solidFill>
                  <a:schemeClr val="dk1"/>
                </a:solidFill>
                <a:effectLst/>
                <a:latin typeface="Calibri"/>
                <a:ea typeface="Calibri"/>
                <a:cs typeface="Calibri"/>
                <a:sym typeface="Calibri"/>
              </a:rPr>
              <a:t>phát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hành</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phiên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bản</a:t>
            </a:r>
            <a:r>
              <a:rPr lang="en-US" sz="1200" b="0" i="0" u="none" strike="noStrike" cap="none" dirty="0">
                <a:solidFill>
                  <a:schemeClr val="dk1"/>
                </a:solidFill>
                <a:effectLst/>
                <a:latin typeface="Calibri"/>
                <a:ea typeface="Calibri"/>
                <a:cs typeface="Calibri"/>
                <a:sym typeface="Calibri"/>
              </a:rPr>
              <a:t> .NET 6 </a:t>
            </a:r>
            <a:r>
              <a:rPr lang="en-US" sz="1200" b="0" i="0" u="none" strike="noStrike" cap="none" dirty="0" err="1">
                <a:solidFill>
                  <a:schemeClr val="dk1"/>
                </a:solidFill>
                <a:effectLst/>
                <a:latin typeface="Calibri"/>
                <a:ea typeface="Calibri"/>
                <a:cs typeface="Calibri"/>
                <a:sym typeface="Calibri"/>
              </a:rPr>
              <a:t>và</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năm</a:t>
            </a:r>
            <a:r>
              <a:rPr lang="en-US" sz="1200" b="0" i="0" u="none" strike="noStrike" cap="none" dirty="0">
                <a:solidFill>
                  <a:schemeClr val="dk1"/>
                </a:solidFill>
                <a:effectLst/>
                <a:latin typeface="Calibri"/>
                <a:ea typeface="Calibri"/>
                <a:cs typeface="Calibri"/>
                <a:sym typeface="Calibri"/>
              </a:rPr>
              <a:t> 2022 </a:t>
            </a:r>
            <a:r>
              <a:rPr lang="en-US" sz="1200" b="0" i="0" u="none" strike="noStrike" cap="none" dirty="0" err="1">
                <a:solidFill>
                  <a:schemeClr val="dk1"/>
                </a:solidFill>
                <a:effectLst/>
                <a:latin typeface="Calibri"/>
                <a:ea typeface="Calibri"/>
                <a:cs typeface="Calibri"/>
                <a:sym typeface="Calibri"/>
              </a:rPr>
              <a:t>phát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hành</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phiên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bản</a:t>
            </a:r>
            <a:r>
              <a:rPr lang="en-US" sz="1200" b="0" i="0" u="none" strike="noStrike" cap="none" dirty="0">
                <a:solidFill>
                  <a:schemeClr val="dk1"/>
                </a:solidFill>
                <a:effectLst/>
                <a:latin typeface="Calibri"/>
                <a:ea typeface="Calibri"/>
                <a:cs typeface="Calibri"/>
                <a:sym typeface="Calibri"/>
              </a:rPr>
              <a:t> .NET 7 </a:t>
            </a:r>
            <a:r>
              <a:rPr lang="en-US" sz="1200" b="0" i="0" u="none" strike="noStrike" cap="none" dirty="0" err="1">
                <a:solidFill>
                  <a:schemeClr val="dk1"/>
                </a:solidFill>
                <a:effectLst/>
                <a:latin typeface="Calibri"/>
                <a:ea typeface="Calibri"/>
                <a:cs typeface="Calibri"/>
                <a:sym typeface="Calibri"/>
              </a:rPr>
              <a:t>tiếp</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tục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xu</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hướng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nâng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cao</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hiệu</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suất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cải</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thiện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năng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suất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của</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nhà</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phát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triển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và</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mở</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rộng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hỗ</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trợ</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cho</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nhiều</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khối</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lượng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công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việc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và</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nền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tảng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hơn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Lộ</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trình</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của</a:t>
            </a:r>
            <a:r>
              <a:rPr lang="en-US" sz="1200" b="0" i="0" u="none" strike="noStrike" cap="none" dirty="0">
                <a:solidFill>
                  <a:schemeClr val="dk1"/>
                </a:solidFill>
                <a:effectLst/>
                <a:latin typeface="Calibri"/>
                <a:ea typeface="Calibri"/>
                <a:cs typeface="Calibri"/>
                <a:sym typeface="Calibri"/>
              </a:rPr>
              <a:t> Microsoft </a:t>
            </a:r>
            <a:r>
              <a:rPr lang="en-US" sz="1200" b="0" i="0" u="none" strike="noStrike" cap="none" dirty="0" err="1">
                <a:solidFill>
                  <a:schemeClr val="dk1"/>
                </a:solidFill>
                <a:effectLst/>
                <a:latin typeface="Calibri"/>
                <a:ea typeface="Calibri"/>
                <a:cs typeface="Calibri"/>
                <a:sym typeface="Calibri"/>
              </a:rPr>
              <a:t>bao</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gồm</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những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cải</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tiến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hơn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nữa</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trong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các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lĩnh</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vực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như</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phát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triển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dựa</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trên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nền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tảng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đám</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mây</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IoT</a:t>
            </a:r>
            <a:r>
              <a:rPr lang="en-US" sz="1200" b="0" i="0" u="none" strike="noStrike" cap="none" dirty="0">
                <a:solidFill>
                  <a:schemeClr val="dk1"/>
                </a:solidFill>
                <a:effectLst/>
                <a:latin typeface="Calibri"/>
                <a:ea typeface="Calibri"/>
                <a:cs typeface="Calibri"/>
                <a:sym typeface="Calibri"/>
              </a:rPr>
              <a:t>, di </a:t>
            </a:r>
            <a:r>
              <a:rPr lang="en-US" sz="1200" b="0" i="0" u="none" strike="noStrike" cap="none" dirty="0" err="1">
                <a:solidFill>
                  <a:schemeClr val="dk1"/>
                </a:solidFill>
                <a:effectLst/>
                <a:latin typeface="Calibri"/>
                <a:ea typeface="Calibri"/>
                <a:cs typeface="Calibri"/>
                <a:sym typeface="Calibri"/>
              </a:rPr>
              <a:t>động</a:t>
            </a:r>
            <a:r>
              <a:rPr lang="en-US" sz="1200" b="0" i="0" u="none" strike="noStrike" cap="none" dirty="0">
                <a:solidFill>
                  <a:schemeClr val="dk1"/>
                </a:solidFill>
                <a:effectLst/>
                <a:latin typeface="Calibri"/>
                <a:ea typeface="Calibri"/>
                <a:cs typeface="Calibri"/>
                <a:sym typeface="Calibri"/>
              </a:rPr>
              <a:t>, AI </a:t>
            </a:r>
            <a:r>
              <a:rPr lang="en-US" sz="1200" b="0" i="0" u="none" strike="noStrike" cap="none" dirty="0" err="1">
                <a:solidFill>
                  <a:schemeClr val="dk1"/>
                </a:solidFill>
                <a:effectLst/>
                <a:latin typeface="Calibri"/>
                <a:ea typeface="Calibri"/>
                <a:cs typeface="Calibri"/>
                <a:sym typeface="Calibri"/>
              </a:rPr>
              <a:t>và</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học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máy</a:t>
            </a:r>
            <a:r>
              <a:rPr lang="en-US" sz="1200" b="0" i="0" u="none" strike="noStrike" cap="none" dirty="0">
                <a:solidFill>
                  <a:schemeClr val="dk1"/>
                </a:solidFill>
                <a:effectLst/>
                <a:latin typeface="Calibri"/>
                <a:ea typeface="Calibri"/>
                <a:cs typeface="Calibri"/>
                <a:sym typeface="Calibri"/>
              </a:rPr>
              <a:t>.</a:t>
            </a:r>
          </a:p>
          <a:p>
            <a:pPr>
              <a:buFontTx/>
              <a:buChar char="-"/>
            </a:pPr>
            <a:endParaRPr lang="en-US" sz="1200" b="0" i="0" u="none" strike="noStrike" cap="none" dirty="0">
              <a:solidFill>
                <a:schemeClr val="dk1"/>
              </a:solidFill>
              <a:effectLst/>
              <a:latin typeface="Calibri"/>
              <a:ea typeface="Calibri"/>
              <a:cs typeface="Calibri"/>
              <a:sym typeface="Calibri"/>
            </a:endParaRPr>
          </a:p>
          <a:p>
            <a:pPr>
              <a:buFontTx/>
              <a:buChar char="-"/>
            </a:pPr>
            <a:r>
              <a:rPr lang="en-US" sz="1200" b="0" i="0" u="none" strike="noStrike" cap="none" dirty="0" err="1">
                <a:solidFill>
                  <a:schemeClr val="dk1"/>
                </a:solidFill>
                <a:effectLst/>
                <a:latin typeface="Calibri"/>
                <a:ea typeface="Calibri"/>
                <a:cs typeface="Calibri"/>
                <a:sym typeface="Calibri"/>
              </a:rPr>
              <a:t>Phiên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bản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mới</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nhất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hiện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tại</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là</a:t>
            </a:r>
            <a:r>
              <a:rPr lang="en-US" sz="1200" b="0" i="0" u="none" strike="noStrike" cap="none" dirty="0">
                <a:solidFill>
                  <a:schemeClr val="dk1"/>
                </a:solidFill>
                <a:effectLst/>
                <a:latin typeface="Calibri"/>
                <a:ea typeface="Calibri"/>
                <a:cs typeface="Calibri"/>
                <a:sym typeface="Calibri"/>
              </a:rPr>
              <a:t> .NET 8 </a:t>
            </a:r>
            <a:r>
              <a:rPr lang="en-US" sz="1200" b="0" i="0" u="none" strike="noStrike" cap="none" dirty="0" err="1">
                <a:solidFill>
                  <a:schemeClr val="dk1"/>
                </a:solidFill>
                <a:effectLst/>
                <a:latin typeface="Calibri"/>
                <a:ea typeface="Calibri"/>
                <a:cs typeface="Calibri"/>
                <a:sym typeface="Calibri"/>
              </a:rPr>
              <a:t>được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ra</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mắt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ngày</a:t>
            </a:r>
            <a:r>
              <a:rPr lang="en-US" sz="1200" b="0" i="0" u="none" strike="noStrike" cap="none" dirty="0">
                <a:solidFill>
                  <a:schemeClr val="dk1"/>
                </a:solidFill>
                <a:effectLst/>
                <a:latin typeface="Calibri"/>
                <a:ea typeface="Calibri"/>
                <a:cs typeface="Calibri"/>
                <a:sym typeface="Calibri"/>
              </a:rPr>
              <a:t> 14/11/2023 </a:t>
            </a:r>
            <a:r>
              <a:rPr lang="en-US" sz="1200" b="0" i="0" u="none" strike="noStrike" cap="none" dirty="0" err="1">
                <a:solidFill>
                  <a:schemeClr val="dk1"/>
                </a:solidFill>
                <a:effectLst/>
                <a:latin typeface="Calibri"/>
                <a:ea typeface="Calibri"/>
                <a:cs typeface="Calibri"/>
                <a:sym typeface="Calibri"/>
              </a:rPr>
              <a:t>cho</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phép</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các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nhà</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phát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triển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xây</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dựng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nhiều</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ứng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dụng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bao</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gồm</a:t>
            </a:r>
            <a:r>
              <a:rPr lang="en-US" sz="1200" b="0" i="0" u="none" strike="noStrike" cap="none" dirty="0">
                <a:solidFill>
                  <a:schemeClr val="dk1"/>
                </a:solidFill>
                <a:effectLst/>
                <a:latin typeface="Calibri"/>
                <a:ea typeface="Calibri"/>
                <a:cs typeface="Calibri"/>
                <a:sym typeface="Calibri"/>
              </a:rPr>
              <a:t> Windows, web, </a:t>
            </a:r>
            <a:r>
              <a:rPr lang="en-US" sz="1200" b="0" i="0" u="none" strike="noStrike" cap="none" dirty="0" err="1">
                <a:solidFill>
                  <a:schemeClr val="dk1"/>
                </a:solidFill>
                <a:effectLst/>
                <a:latin typeface="Calibri"/>
                <a:ea typeface="Calibri"/>
                <a:cs typeface="Calibri"/>
                <a:sym typeface="Calibri"/>
              </a:rPr>
              <a:t>thiết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bị</a:t>
            </a:r>
            <a:r>
              <a:rPr lang="en-US" sz="1200" b="0" i="0" u="none" strike="noStrike" cap="none" dirty="0">
                <a:solidFill>
                  <a:schemeClr val="dk1"/>
                </a:solidFill>
                <a:effectLst/>
                <a:latin typeface="Calibri"/>
                <a:ea typeface="Calibri"/>
                <a:cs typeface="Calibri"/>
                <a:sym typeface="Calibri"/>
              </a:rPr>
              <a:t> di </a:t>
            </a:r>
            <a:r>
              <a:rPr lang="en-US" sz="1200" b="0" i="0" u="none" strike="noStrike" cap="none" dirty="0" err="1">
                <a:solidFill>
                  <a:schemeClr val="dk1"/>
                </a:solidFill>
                <a:effectLst/>
                <a:latin typeface="Calibri"/>
                <a:ea typeface="Calibri"/>
                <a:cs typeface="Calibri"/>
                <a:sym typeface="Calibri"/>
              </a:rPr>
              <a:t>động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và</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giao</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diẹn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dòng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lệnh</a:t>
            </a:r>
            <a:r>
              <a:rPr lang="en-US" sz="1200" b="0" i="0" u="none" strike="noStrike" cap="none" dirty="0">
                <a:solidFill>
                  <a:schemeClr val="dk1"/>
                </a:solidFill>
                <a:effectLst/>
                <a:latin typeface="Calibri"/>
                <a:ea typeface="Calibri"/>
                <a:cs typeface="Calibri"/>
                <a:sym typeface="Calibri"/>
              </a:rPr>
              <a:t> Console.</a:t>
            </a:r>
          </a:p>
          <a:p>
            <a:pPr>
              <a:buFontTx/>
              <a:buChar char="-"/>
            </a:pP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Thông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thường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mỗi</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phiên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bản</a:t>
            </a:r>
            <a:r>
              <a:rPr lang="en-US" sz="1200" b="0" i="0" u="none" strike="noStrike" cap="none" dirty="0">
                <a:solidFill>
                  <a:schemeClr val="dk1"/>
                </a:solidFill>
                <a:effectLst/>
                <a:latin typeface="Calibri"/>
                <a:ea typeface="Calibri"/>
                <a:cs typeface="Calibri"/>
                <a:sym typeface="Calibri"/>
              </a:rPr>
              <a:t> .NET </a:t>
            </a:r>
            <a:r>
              <a:rPr lang="en-US" sz="1200" b="0" i="0" u="none" strike="noStrike" cap="none" dirty="0" err="1">
                <a:solidFill>
                  <a:schemeClr val="dk1"/>
                </a:solidFill>
                <a:effectLst/>
                <a:latin typeface="Calibri"/>
                <a:ea typeface="Calibri"/>
                <a:cs typeface="Calibri"/>
                <a:sym typeface="Calibri"/>
              </a:rPr>
              <a:t>mới</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đều</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mang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đến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những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cải</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tiến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về</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hiệu</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suất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tính</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năng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và</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công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cụ</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để</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cải</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thiện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trải</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nghiệm</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phát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triển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và</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hỗ</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trợ</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nhiều</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tình</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huống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ứng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dụng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hơn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Phiên</a:t>
            </a:r>
            <a:r>
              <a:rPr lang="en-US" sz="1200" b="0" i="0" u="none" strike="noStrike" cap="none" baseline="0" dirty="0">
                <a:solidFill>
                  <a:schemeClr val="dk1"/>
                </a:solidFill>
                <a:effectLst/>
                <a:latin typeface="Calibri"/>
                <a:ea typeface="Calibri"/>
                <a:cs typeface="Calibri"/>
                <a:sym typeface="Calibri"/>
              </a:rPr>
              <a:t> </a:t>
            </a:r>
            <a:r>
              <a:rPr lang="en-US" sz="1200" b="0" i="0" u="none" strike="noStrike" cap="none" baseline="0" dirty="0" err="1">
                <a:solidFill>
                  <a:schemeClr val="dk1"/>
                </a:solidFill>
                <a:effectLst/>
                <a:latin typeface="Calibri"/>
                <a:ea typeface="Calibri"/>
                <a:cs typeface="Calibri"/>
                <a:sym typeface="Calibri"/>
              </a:rPr>
              <a:t>bản</a:t>
            </a:r>
            <a:r>
              <a:rPr lang="en-US" sz="1200" b="0" i="0" u="none" strike="noStrike" cap="none" baseline="0" dirty="0">
                <a:solidFill>
                  <a:schemeClr val="dk1"/>
                </a:solidFill>
                <a:effectLst/>
                <a:latin typeface="Calibri"/>
                <a:ea typeface="Calibri"/>
                <a:cs typeface="Calibri"/>
                <a:sym typeface="Calibri"/>
              </a:rPr>
              <a:t> .</a:t>
            </a:r>
            <a:r>
              <a:rPr lang="en-US" sz="1200" b="0" i="0" u="none" strike="noStrike" cap="none" baseline="0">
                <a:solidFill>
                  <a:schemeClr val="dk1"/>
                </a:solidFill>
                <a:effectLst/>
                <a:latin typeface="Calibri"/>
                <a:ea typeface="Calibri"/>
                <a:cs typeface="Calibri"/>
                <a:sym typeface="Calibri"/>
              </a:rPr>
              <a:t>NET 9, .NET 10 cải </a:t>
            </a:r>
            <a:r>
              <a:rPr lang="en-US" sz="1200" b="0" i="0" u="none" strike="noStrike" cap="none" baseline="0" dirty="0" err="1">
                <a:solidFill>
                  <a:schemeClr val="dk1"/>
                </a:solidFill>
                <a:effectLst/>
                <a:latin typeface="Calibri"/>
                <a:ea typeface="Calibri"/>
                <a:cs typeface="Calibri"/>
                <a:sym typeface="Calibri"/>
              </a:rPr>
              <a:t>thiện</a:t>
            </a:r>
            <a:r>
              <a:rPr lang="en-US" sz="1200" b="0" i="0" u="none" strike="noStrike" cap="none" baseline="0" dirty="0">
                <a:solidFill>
                  <a:schemeClr val="dk1"/>
                </a:solidFill>
                <a:effectLst/>
                <a:latin typeface="Calibri"/>
                <a:ea typeface="Calibri"/>
                <a:cs typeface="Calibri"/>
                <a:sym typeface="Calibri"/>
              </a:rPr>
              <a:t> </a:t>
            </a:r>
            <a:r>
              <a:rPr lang="en-US" sz="1200" b="0" i="0" u="none" strike="noStrike" cap="none" baseline="0" dirty="0" err="1">
                <a:solidFill>
                  <a:schemeClr val="dk1"/>
                </a:solidFill>
                <a:effectLst/>
                <a:latin typeface="Calibri"/>
                <a:ea typeface="Calibri"/>
                <a:cs typeface="Calibri"/>
                <a:sym typeface="Calibri"/>
              </a:rPr>
              <a:t>tốc</a:t>
            </a:r>
            <a:r>
              <a:rPr lang="en-US" sz="1200" b="0" i="0" u="none" strike="noStrike" cap="none" baseline="0" dirty="0">
                <a:solidFill>
                  <a:schemeClr val="dk1"/>
                </a:solidFill>
                <a:effectLst/>
                <a:latin typeface="Calibri"/>
                <a:ea typeface="Calibri"/>
                <a:cs typeface="Calibri"/>
                <a:sym typeface="Calibri"/>
              </a:rPr>
              <a:t> </a:t>
            </a:r>
            <a:r>
              <a:rPr lang="en-US" sz="1200" b="0" i="0" u="none" strike="noStrike" cap="none" baseline="0" dirty="0" err="1">
                <a:solidFill>
                  <a:schemeClr val="dk1"/>
                </a:solidFill>
                <a:effectLst/>
                <a:latin typeface="Calibri"/>
                <a:ea typeface="Calibri"/>
                <a:cs typeface="Calibri"/>
                <a:sym typeface="Calibri"/>
              </a:rPr>
              <a:t>độ</a:t>
            </a:r>
            <a:r>
              <a:rPr lang="en-US" sz="1200" b="0" i="0" u="none" strike="noStrike" cap="none" baseline="0" dirty="0">
                <a:solidFill>
                  <a:schemeClr val="dk1"/>
                </a:solidFill>
                <a:effectLst/>
                <a:latin typeface="Calibri"/>
                <a:ea typeface="Calibri"/>
                <a:cs typeface="Calibri"/>
                <a:sym typeface="Calibri"/>
              </a:rPr>
              <a:t> </a:t>
            </a:r>
            <a:r>
              <a:rPr lang="en-US" sz="1200" b="0" i="0" u="none" strike="noStrike" cap="none" baseline="0" dirty="0" err="1">
                <a:solidFill>
                  <a:schemeClr val="dk1"/>
                </a:solidFill>
                <a:effectLst/>
                <a:latin typeface="Calibri"/>
                <a:ea typeface="Calibri"/>
                <a:cs typeface="Calibri"/>
                <a:sym typeface="Calibri"/>
              </a:rPr>
              <a:t>chạy</a:t>
            </a:r>
            <a:r>
              <a:rPr lang="en-US" sz="1200" b="0" i="0" u="none" strike="noStrike" cap="none" baseline="0" dirty="0">
                <a:solidFill>
                  <a:schemeClr val="dk1"/>
                </a:solidFill>
                <a:effectLst/>
                <a:latin typeface="Calibri"/>
                <a:ea typeface="Calibri"/>
                <a:cs typeface="Calibri"/>
                <a:sym typeface="Calibri"/>
              </a:rPr>
              <a:t> code, </a:t>
            </a:r>
            <a:r>
              <a:rPr lang="en-US" sz="1200" b="0" i="0" u="none" strike="noStrike" cap="none" baseline="0" dirty="0" err="1">
                <a:solidFill>
                  <a:schemeClr val="dk1"/>
                </a:solidFill>
                <a:effectLst/>
                <a:latin typeface="Calibri"/>
                <a:ea typeface="Calibri"/>
                <a:cs typeface="Calibri"/>
                <a:sym typeface="Calibri"/>
              </a:rPr>
              <a:t>hỗ</a:t>
            </a:r>
            <a:r>
              <a:rPr lang="en-US" sz="1200" b="0" i="0" u="none" strike="noStrike" cap="none" baseline="0" dirty="0">
                <a:solidFill>
                  <a:schemeClr val="dk1"/>
                </a:solidFill>
                <a:effectLst/>
                <a:latin typeface="Calibri"/>
                <a:ea typeface="Calibri"/>
                <a:cs typeface="Calibri"/>
                <a:sym typeface="Calibri"/>
              </a:rPr>
              <a:t> </a:t>
            </a:r>
            <a:r>
              <a:rPr lang="en-US" sz="1200" b="0" i="0" u="none" strike="noStrike" cap="none" baseline="0" dirty="0" err="1">
                <a:solidFill>
                  <a:schemeClr val="dk1"/>
                </a:solidFill>
                <a:effectLst/>
                <a:latin typeface="Calibri"/>
                <a:ea typeface="Calibri"/>
                <a:cs typeface="Calibri"/>
                <a:sym typeface="Calibri"/>
              </a:rPr>
              <a:t>trợ</a:t>
            </a:r>
            <a:r>
              <a:rPr lang="en-US" sz="1200" b="0" i="0" u="none" strike="noStrike" cap="none" baseline="0" dirty="0">
                <a:solidFill>
                  <a:schemeClr val="dk1"/>
                </a:solidFill>
                <a:effectLst/>
                <a:latin typeface="Calibri"/>
                <a:ea typeface="Calibri"/>
                <a:cs typeface="Calibri"/>
                <a:sym typeface="Calibri"/>
              </a:rPr>
              <a:t> </a:t>
            </a:r>
            <a:r>
              <a:rPr lang="en-US" sz="1200" b="0" i="0" u="none" strike="noStrike" cap="none" baseline="0" dirty="0" err="1">
                <a:solidFill>
                  <a:schemeClr val="dk1"/>
                </a:solidFill>
                <a:effectLst/>
                <a:latin typeface="Calibri"/>
                <a:ea typeface="Calibri"/>
                <a:cs typeface="Calibri"/>
                <a:sym typeface="Calibri"/>
              </a:rPr>
              <a:t>thêm</a:t>
            </a:r>
            <a:r>
              <a:rPr lang="en-US" sz="1200" b="0" i="0" u="none" strike="noStrike" cap="none" baseline="0" dirty="0">
                <a:solidFill>
                  <a:schemeClr val="dk1"/>
                </a:solidFill>
                <a:effectLst/>
                <a:latin typeface="Calibri"/>
                <a:ea typeface="Calibri"/>
                <a:cs typeface="Calibri"/>
                <a:sym typeface="Calibri"/>
              </a:rPr>
              <a:t> </a:t>
            </a:r>
            <a:r>
              <a:rPr lang="en-US" sz="1200" b="0" i="0" u="none" strike="noStrike" cap="none" baseline="0" dirty="0" err="1">
                <a:solidFill>
                  <a:schemeClr val="dk1"/>
                </a:solidFill>
                <a:effectLst/>
                <a:latin typeface="Calibri"/>
                <a:ea typeface="Calibri"/>
                <a:cs typeface="Calibri"/>
                <a:sym typeface="Calibri"/>
              </a:rPr>
              <a:t>các</a:t>
            </a:r>
            <a:r>
              <a:rPr lang="en-US" sz="1200" b="0" i="0" u="none" strike="noStrike" cap="none" baseline="0" dirty="0">
                <a:solidFill>
                  <a:schemeClr val="dk1"/>
                </a:solidFill>
                <a:effectLst/>
                <a:latin typeface="Calibri"/>
                <a:ea typeface="Calibri"/>
                <a:cs typeface="Calibri"/>
                <a:sym typeface="Calibri"/>
              </a:rPr>
              <a:t> </a:t>
            </a:r>
            <a:r>
              <a:rPr lang="en-US" sz="1200" b="0" i="0" u="none" strike="noStrike" cap="none" baseline="0" dirty="0" err="1">
                <a:solidFill>
                  <a:schemeClr val="dk1"/>
                </a:solidFill>
                <a:effectLst/>
                <a:latin typeface="Calibri"/>
                <a:ea typeface="Calibri"/>
                <a:cs typeface="Calibri"/>
                <a:sym typeface="Calibri"/>
              </a:rPr>
              <a:t>bộ</a:t>
            </a:r>
            <a:r>
              <a:rPr lang="en-US" sz="1200" b="0" i="0" u="none" strike="noStrike" cap="none" baseline="0" dirty="0">
                <a:solidFill>
                  <a:schemeClr val="dk1"/>
                </a:solidFill>
                <a:effectLst/>
                <a:latin typeface="Calibri"/>
                <a:ea typeface="Calibri"/>
                <a:cs typeface="Calibri"/>
                <a:sym typeface="Calibri"/>
              </a:rPr>
              <a:t> </a:t>
            </a:r>
            <a:r>
              <a:rPr lang="en-US" sz="1200" b="0" i="0" u="none" strike="noStrike" cap="none" baseline="0" dirty="0" err="1">
                <a:solidFill>
                  <a:schemeClr val="dk1"/>
                </a:solidFill>
                <a:effectLst/>
                <a:latin typeface="Calibri"/>
                <a:ea typeface="Calibri"/>
                <a:cs typeface="Calibri"/>
                <a:sym typeface="Calibri"/>
              </a:rPr>
              <a:t>công</a:t>
            </a:r>
            <a:r>
              <a:rPr lang="en-US" sz="1200" b="0" i="0" u="none" strike="noStrike" cap="none" baseline="0" dirty="0">
                <a:solidFill>
                  <a:schemeClr val="dk1"/>
                </a:solidFill>
                <a:effectLst/>
                <a:latin typeface="Calibri"/>
                <a:ea typeface="Calibri"/>
                <a:cs typeface="Calibri"/>
                <a:sym typeface="Calibri"/>
              </a:rPr>
              <a:t> </a:t>
            </a:r>
            <a:r>
              <a:rPr lang="en-US" sz="1200" b="0" i="0" u="none" strike="noStrike" cap="none" baseline="0" dirty="0" err="1">
                <a:solidFill>
                  <a:schemeClr val="dk1"/>
                </a:solidFill>
                <a:effectLst/>
                <a:latin typeface="Calibri"/>
                <a:ea typeface="Calibri"/>
                <a:cs typeface="Calibri"/>
                <a:sym typeface="Calibri"/>
              </a:rPr>
              <a:t>cụ</a:t>
            </a:r>
            <a:r>
              <a:rPr lang="en-US" sz="1200" b="0" i="0" u="none" strike="noStrike" cap="none" baseline="0" dirty="0">
                <a:solidFill>
                  <a:schemeClr val="dk1"/>
                </a:solidFill>
                <a:effectLst/>
                <a:latin typeface="Calibri"/>
                <a:ea typeface="Calibri"/>
                <a:cs typeface="Calibri"/>
                <a:sym typeface="Calibri"/>
              </a:rPr>
              <a:t> AI </a:t>
            </a:r>
            <a:r>
              <a:rPr lang="en-US" sz="1200" b="0" i="0" u="none" strike="noStrike" cap="none" baseline="0" dirty="0" err="1">
                <a:solidFill>
                  <a:schemeClr val="dk1"/>
                </a:solidFill>
                <a:effectLst/>
                <a:latin typeface="Calibri"/>
                <a:ea typeface="Calibri"/>
                <a:cs typeface="Calibri"/>
                <a:sym typeface="Calibri"/>
              </a:rPr>
              <a:t>và</a:t>
            </a:r>
            <a:r>
              <a:rPr lang="en-US" sz="1200" b="0" i="0" u="none" strike="noStrike" cap="none" baseline="0" dirty="0">
                <a:solidFill>
                  <a:schemeClr val="dk1"/>
                </a:solidFill>
                <a:effectLst/>
                <a:latin typeface="Calibri"/>
                <a:ea typeface="Calibri"/>
                <a:cs typeface="Calibri"/>
                <a:sym typeface="Calibri"/>
              </a:rPr>
              <a:t> </a:t>
            </a:r>
            <a:r>
              <a:rPr lang="en-US" sz="1200" b="0" i="0" u="none" strike="noStrike" cap="none" baseline="0" dirty="0" err="1">
                <a:solidFill>
                  <a:schemeClr val="dk1"/>
                </a:solidFill>
                <a:effectLst/>
                <a:latin typeface="Calibri"/>
                <a:ea typeface="Calibri"/>
                <a:cs typeface="Calibri"/>
                <a:sym typeface="Calibri"/>
              </a:rPr>
              <a:t>một</a:t>
            </a:r>
            <a:r>
              <a:rPr lang="en-US" sz="1200" b="0" i="0" u="none" strike="noStrike" cap="none" baseline="0" dirty="0">
                <a:solidFill>
                  <a:schemeClr val="dk1"/>
                </a:solidFill>
                <a:effectLst/>
                <a:latin typeface="Calibri"/>
                <a:ea typeface="Calibri"/>
                <a:cs typeface="Calibri"/>
                <a:sym typeface="Calibri"/>
              </a:rPr>
              <a:t> </a:t>
            </a:r>
            <a:r>
              <a:rPr lang="en-US" sz="1200" b="0" i="0" u="none" strike="noStrike" cap="none" baseline="0" dirty="0" err="1">
                <a:solidFill>
                  <a:schemeClr val="dk1"/>
                </a:solidFill>
                <a:effectLst/>
                <a:latin typeface="Calibri"/>
                <a:ea typeface="Calibri"/>
                <a:cs typeface="Calibri"/>
                <a:sym typeface="Calibri"/>
              </a:rPr>
              <a:t>số</a:t>
            </a:r>
            <a:r>
              <a:rPr lang="en-US" sz="1200" b="0" i="0" u="none" strike="noStrike" cap="none" baseline="0" dirty="0">
                <a:solidFill>
                  <a:schemeClr val="dk1"/>
                </a:solidFill>
                <a:effectLst/>
                <a:latin typeface="Calibri"/>
                <a:ea typeface="Calibri"/>
                <a:cs typeface="Calibri"/>
                <a:sym typeface="Calibri"/>
              </a:rPr>
              <a:t> </a:t>
            </a:r>
            <a:r>
              <a:rPr lang="en-US" sz="1200" b="0" i="0" u="none" strike="noStrike" cap="none" baseline="0" dirty="0" err="1">
                <a:solidFill>
                  <a:schemeClr val="dk1"/>
                </a:solidFill>
                <a:effectLst/>
                <a:latin typeface="Calibri"/>
                <a:ea typeface="Calibri"/>
                <a:cs typeface="Calibri"/>
                <a:sym typeface="Calibri"/>
              </a:rPr>
              <a:t>nâng</a:t>
            </a:r>
            <a:r>
              <a:rPr lang="en-US" sz="1200" b="0" i="0" u="none" strike="noStrike" cap="none" baseline="0" dirty="0">
                <a:solidFill>
                  <a:schemeClr val="dk1"/>
                </a:solidFill>
                <a:effectLst/>
                <a:latin typeface="Calibri"/>
                <a:ea typeface="Calibri"/>
                <a:cs typeface="Calibri"/>
                <a:sym typeface="Calibri"/>
              </a:rPr>
              <a:t> </a:t>
            </a:r>
            <a:r>
              <a:rPr lang="en-US" sz="1200" b="0" i="0" u="none" strike="noStrike" cap="none" baseline="0" dirty="0" err="1">
                <a:solidFill>
                  <a:schemeClr val="dk1"/>
                </a:solidFill>
                <a:effectLst/>
                <a:latin typeface="Calibri"/>
                <a:ea typeface="Calibri"/>
                <a:cs typeface="Calibri"/>
                <a:sym typeface="Calibri"/>
              </a:rPr>
              <a:t>cấp</a:t>
            </a:r>
            <a:r>
              <a:rPr lang="en-US" sz="1200" b="0" i="0" u="none" strike="noStrike" cap="none" baseline="0" dirty="0">
                <a:solidFill>
                  <a:schemeClr val="dk1"/>
                </a:solidFill>
                <a:effectLst/>
                <a:latin typeface="Calibri"/>
                <a:ea typeface="Calibri"/>
                <a:cs typeface="Calibri"/>
                <a:sym typeface="Calibri"/>
              </a:rPr>
              <a:t> </a:t>
            </a:r>
            <a:r>
              <a:rPr lang="en-US" sz="1200" b="0" i="0" u="none" strike="noStrike" cap="none" baseline="0" dirty="0" err="1">
                <a:solidFill>
                  <a:schemeClr val="dk1"/>
                </a:solidFill>
                <a:effectLst/>
                <a:latin typeface="Calibri"/>
                <a:ea typeface="Calibri"/>
                <a:cs typeface="Calibri"/>
                <a:sym typeface="Calibri"/>
              </a:rPr>
              <a:t>cho</a:t>
            </a:r>
            <a:r>
              <a:rPr lang="en-US" sz="1200" b="0" i="0" u="none" strike="noStrike" cap="none" baseline="0" dirty="0">
                <a:solidFill>
                  <a:schemeClr val="dk1"/>
                </a:solidFill>
                <a:effectLst/>
                <a:latin typeface="Calibri"/>
                <a:ea typeface="Calibri"/>
                <a:cs typeface="Calibri"/>
                <a:sym typeface="Calibri"/>
              </a:rPr>
              <a:t> </a:t>
            </a:r>
            <a:r>
              <a:rPr lang="en-US" sz="1200" b="0" i="0" u="none" strike="noStrike" cap="none" baseline="0" dirty="0" err="1">
                <a:solidFill>
                  <a:schemeClr val="dk1"/>
                </a:solidFill>
                <a:effectLst/>
                <a:latin typeface="Calibri"/>
                <a:ea typeface="Calibri"/>
                <a:cs typeface="Calibri"/>
                <a:sym typeface="Calibri"/>
              </a:rPr>
              <a:t>các</a:t>
            </a:r>
            <a:r>
              <a:rPr lang="en-US" sz="1200" b="0" i="0" u="none" strike="noStrike" cap="none" baseline="0" dirty="0">
                <a:solidFill>
                  <a:schemeClr val="dk1"/>
                </a:solidFill>
                <a:effectLst/>
                <a:latin typeface="Calibri"/>
                <a:ea typeface="Calibri"/>
                <a:cs typeface="Calibri"/>
                <a:sym typeface="Calibri"/>
              </a:rPr>
              <a:t> </a:t>
            </a:r>
            <a:r>
              <a:rPr lang="en-US" sz="1200" b="0" i="0" u="none" strike="noStrike" cap="none" baseline="0" dirty="0" err="1">
                <a:solidFill>
                  <a:schemeClr val="dk1"/>
                </a:solidFill>
                <a:effectLst/>
                <a:latin typeface="Calibri"/>
                <a:ea typeface="Calibri"/>
                <a:cs typeface="Calibri"/>
                <a:sym typeface="Calibri"/>
              </a:rPr>
              <a:t>công</a:t>
            </a:r>
            <a:r>
              <a:rPr lang="en-US" sz="1200" b="0" i="0" u="none" strike="noStrike" cap="none" baseline="0" dirty="0">
                <a:solidFill>
                  <a:schemeClr val="dk1"/>
                </a:solidFill>
                <a:effectLst/>
                <a:latin typeface="Calibri"/>
                <a:ea typeface="Calibri"/>
                <a:cs typeface="Calibri"/>
                <a:sym typeface="Calibri"/>
              </a:rPr>
              <a:t> </a:t>
            </a:r>
            <a:r>
              <a:rPr lang="en-US" sz="1200" b="0" i="0" u="none" strike="noStrike" cap="none" baseline="0" dirty="0" err="1">
                <a:solidFill>
                  <a:schemeClr val="dk1"/>
                </a:solidFill>
                <a:effectLst/>
                <a:latin typeface="Calibri"/>
                <a:ea typeface="Calibri"/>
                <a:cs typeface="Calibri"/>
                <a:sym typeface="Calibri"/>
              </a:rPr>
              <a:t>nghệ</a:t>
            </a:r>
            <a:r>
              <a:rPr lang="en-US" sz="1200" b="0" i="0" u="none" strike="noStrike" cap="none" baseline="0" dirty="0">
                <a:solidFill>
                  <a:schemeClr val="dk1"/>
                </a:solidFill>
                <a:effectLst/>
                <a:latin typeface="Calibri"/>
                <a:ea typeface="Calibri"/>
                <a:cs typeface="Calibri"/>
                <a:sym typeface="Calibri"/>
              </a:rPr>
              <a:t> </a:t>
            </a:r>
            <a:r>
              <a:rPr lang="en-US" sz="1200" b="0" i="0" u="none" strike="noStrike" cap="none" baseline="0" dirty="0" err="1">
                <a:solidFill>
                  <a:schemeClr val="dk1"/>
                </a:solidFill>
                <a:effectLst/>
                <a:latin typeface="Calibri"/>
                <a:ea typeface="Calibri"/>
                <a:cs typeface="Calibri"/>
                <a:sym typeface="Calibri"/>
              </a:rPr>
              <a:t>đã</a:t>
            </a:r>
            <a:r>
              <a:rPr lang="en-US" sz="1200" b="0" i="0" u="none" strike="noStrike" cap="none" baseline="0" dirty="0">
                <a:solidFill>
                  <a:schemeClr val="dk1"/>
                </a:solidFill>
                <a:effectLst/>
                <a:latin typeface="Calibri"/>
                <a:ea typeface="Calibri"/>
                <a:cs typeface="Calibri"/>
                <a:sym typeface="Calibri"/>
              </a:rPr>
              <a:t> </a:t>
            </a:r>
            <a:r>
              <a:rPr lang="en-US" sz="1200" b="0" i="0" u="none" strike="noStrike" cap="none" baseline="0" dirty="0" err="1">
                <a:solidFill>
                  <a:schemeClr val="dk1"/>
                </a:solidFill>
                <a:effectLst/>
                <a:latin typeface="Calibri"/>
                <a:ea typeface="Calibri"/>
                <a:cs typeface="Calibri"/>
                <a:sym typeface="Calibri"/>
              </a:rPr>
              <a:t>có</a:t>
            </a:r>
            <a:r>
              <a:rPr lang="en-US" sz="1200" b="0" i="0" u="none" strike="noStrike" cap="none" baseline="0" dirty="0">
                <a:solidFill>
                  <a:schemeClr val="dk1"/>
                </a:solidFill>
                <a:effectLst/>
                <a:latin typeface="Calibri"/>
                <a:ea typeface="Calibri"/>
                <a:cs typeface="Calibri"/>
                <a:sym typeface="Calibri"/>
              </a:rPr>
              <a:t> ở </a:t>
            </a:r>
            <a:r>
              <a:rPr lang="en-US" sz="1200" b="0" i="0" u="none" strike="noStrike" cap="none" baseline="0" dirty="0" err="1">
                <a:solidFill>
                  <a:schemeClr val="dk1"/>
                </a:solidFill>
                <a:effectLst/>
                <a:latin typeface="Calibri"/>
                <a:ea typeface="Calibri"/>
                <a:cs typeface="Calibri"/>
                <a:sym typeface="Calibri"/>
              </a:rPr>
              <a:t>phiên</a:t>
            </a:r>
            <a:r>
              <a:rPr lang="en-US" sz="1200" b="0" i="0" u="none" strike="noStrike" cap="none" baseline="0" dirty="0">
                <a:solidFill>
                  <a:schemeClr val="dk1"/>
                </a:solidFill>
                <a:effectLst/>
                <a:latin typeface="Calibri"/>
                <a:ea typeface="Calibri"/>
                <a:cs typeface="Calibri"/>
                <a:sym typeface="Calibri"/>
              </a:rPr>
              <a:t> </a:t>
            </a:r>
            <a:r>
              <a:rPr lang="en-US" sz="1200" b="0" i="0" u="none" strike="noStrike" cap="none" baseline="0" dirty="0" err="1">
                <a:solidFill>
                  <a:schemeClr val="dk1"/>
                </a:solidFill>
                <a:effectLst/>
                <a:latin typeface="Calibri"/>
                <a:ea typeface="Calibri"/>
                <a:cs typeface="Calibri"/>
                <a:sym typeface="Calibri"/>
              </a:rPr>
              <a:t>bản</a:t>
            </a:r>
            <a:r>
              <a:rPr lang="en-US" sz="1200" b="0" i="0" u="none" strike="noStrike" cap="none" baseline="0" dirty="0">
                <a:solidFill>
                  <a:schemeClr val="dk1"/>
                </a:solidFill>
                <a:effectLst/>
                <a:latin typeface="Calibri"/>
                <a:ea typeface="Calibri"/>
                <a:cs typeface="Calibri"/>
                <a:sym typeface="Calibri"/>
              </a:rPr>
              <a:t> </a:t>
            </a:r>
            <a:r>
              <a:rPr lang="en-US" sz="1200" b="0" i="0" u="none" strike="noStrike" cap="none" baseline="0" dirty="0" err="1">
                <a:solidFill>
                  <a:schemeClr val="dk1"/>
                </a:solidFill>
                <a:effectLst/>
                <a:latin typeface="Calibri"/>
                <a:ea typeface="Calibri"/>
                <a:cs typeface="Calibri"/>
                <a:sym typeface="Calibri"/>
              </a:rPr>
              <a:t>trước</a:t>
            </a:r>
            <a:r>
              <a:rPr lang="en-US" sz="1200" b="0" i="0" u="none" strike="noStrike" cap="none" baseline="0" dirty="0">
                <a:solidFill>
                  <a:schemeClr val="dk1"/>
                </a:solidFill>
                <a:effectLst/>
                <a:latin typeface="Calibri"/>
                <a:ea typeface="Calibri"/>
                <a:cs typeface="Calibri"/>
                <a:sym typeface="Calibri"/>
              </a:rPr>
              <a:t> </a:t>
            </a:r>
            <a:r>
              <a:rPr lang="en-US" sz="1200" b="0" i="0" u="none" strike="noStrike" cap="none" baseline="0" dirty="0" err="1">
                <a:solidFill>
                  <a:schemeClr val="dk1"/>
                </a:solidFill>
                <a:effectLst/>
                <a:latin typeface="Calibri"/>
                <a:ea typeface="Calibri"/>
                <a:cs typeface="Calibri"/>
                <a:sym typeface="Calibri"/>
              </a:rPr>
              <a:t>đó</a:t>
            </a:r>
            <a:r>
              <a:rPr lang="en-US" sz="1200" b="0" i="0" u="none" strike="noStrike" cap="none" baseline="0" dirty="0">
                <a:solidFill>
                  <a:schemeClr val="dk1"/>
                </a:solidFill>
                <a:effectLst/>
                <a:latin typeface="Calibri"/>
                <a:ea typeface="Calibri"/>
                <a:cs typeface="Calibri"/>
                <a:sym typeface="Calibri"/>
              </a:rPr>
              <a:t>.</a:t>
            </a:r>
            <a:endParaRPr lang="en-US" sz="1200" b="0" i="0" u="none" strike="noStrike" cap="none" dirty="0">
              <a:solidFill>
                <a:schemeClr val="dk1"/>
              </a:solidFill>
              <a:effectLst/>
              <a:latin typeface="Calibri"/>
              <a:ea typeface="Calibri"/>
              <a:cs typeface="Calibri"/>
              <a:sym typeface="Calibri"/>
            </a:endParaRPr>
          </a:p>
          <a:p>
            <a:pPr marL="0" lvl="0" indent="0" algn="l" rtl="0">
              <a:spcBef>
                <a:spcPts val="0"/>
              </a:spcBef>
              <a:spcAft>
                <a:spcPts val="0"/>
              </a:spcAft>
              <a:buNone/>
            </a:pPr>
            <a:endParaRPr dirty="0"/>
          </a:p>
        </p:txBody>
      </p:sp>
      <p:sp>
        <p:nvSpPr>
          <p:cNvPr id="109" name="Google Shape;109;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6763498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8" name="Google Shape;14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ASP.NET Core</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Là</a:t>
            </a:r>
            <a:r>
              <a:rPr lang="en-US" sz="1200" b="0" i="0" u="none" strike="noStrike" cap="none" dirty="0">
                <a:solidFill>
                  <a:schemeClr val="dk1"/>
                </a:solidFill>
                <a:effectLst/>
                <a:latin typeface="Calibri"/>
                <a:ea typeface="Calibri"/>
                <a:cs typeface="Calibri"/>
                <a:sym typeface="Calibri"/>
              </a:rPr>
              <a:t> 1 framework </a:t>
            </a:r>
            <a:r>
              <a:rPr lang="en-US" sz="1200" b="0" i="0" u="none" strike="noStrike" cap="none" dirty="0" err="1">
                <a:solidFill>
                  <a:schemeClr val="dk1"/>
                </a:solidFill>
                <a:effectLst/>
                <a:latin typeface="Calibri"/>
                <a:ea typeface="Calibri"/>
                <a:cs typeface="Calibri"/>
                <a:sym typeface="Calibri"/>
              </a:rPr>
              <a:t>để</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xây</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dựng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các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ứng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dụng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và</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dịch</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vụ</a:t>
            </a:r>
            <a:r>
              <a:rPr lang="en-US" sz="1200" b="0" i="0" u="none" strike="noStrike" cap="none" dirty="0">
                <a:solidFill>
                  <a:schemeClr val="dk1"/>
                </a:solidFill>
                <a:effectLst/>
                <a:latin typeface="Calibri"/>
                <a:ea typeface="Calibri"/>
                <a:cs typeface="Calibri"/>
                <a:sym typeface="Calibri"/>
              </a:rPr>
              <a:t> web </a:t>
            </a:r>
            <a:r>
              <a:rPr lang="en-US" sz="1200" b="0" i="0" u="none" strike="noStrike" cap="none" dirty="0" err="1">
                <a:solidFill>
                  <a:schemeClr val="dk1"/>
                </a:solidFill>
                <a:effectLst/>
                <a:latin typeface="Calibri"/>
                <a:ea typeface="Calibri"/>
                <a:cs typeface="Calibri"/>
                <a:sym typeface="Calibri"/>
              </a:rPr>
              <a:t>trên</a:t>
            </a:r>
            <a:r>
              <a:rPr lang="en-US" sz="1200" b="0" i="0" u="none" strike="noStrike" cap="none" dirty="0">
                <a:solidFill>
                  <a:schemeClr val="dk1"/>
                </a:solidFill>
                <a:effectLst/>
                <a:latin typeface="Calibri"/>
                <a:ea typeface="Calibri"/>
                <a:cs typeface="Calibri"/>
                <a:sym typeface="Calibri"/>
              </a:rPr>
              <a:t> .NET Core. (MVC, Razor Pages </a:t>
            </a:r>
            <a:r>
              <a:rPr lang="en-US" sz="1200" b="0" i="0" u="none" strike="noStrike" cap="none" dirty="0" err="1">
                <a:solidFill>
                  <a:schemeClr val="dk1"/>
                </a:solidFill>
                <a:effectLst/>
                <a:latin typeface="Calibri"/>
                <a:ea typeface="Calibri"/>
                <a:cs typeface="Calibri"/>
                <a:sym typeface="Calibri"/>
              </a:rPr>
              <a:t>và</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Blazor</a:t>
            </a:r>
            <a:r>
              <a:rPr lang="en-US" sz="1200" b="0" i="0" u="none" strike="noStrike" cap="none" dirty="0">
                <a:solidFill>
                  <a:schemeClr val="dk1"/>
                </a:solidFill>
                <a:effectLst/>
                <a:latin typeface="Calibri"/>
                <a:ea typeface="Calibri"/>
                <a:cs typeface="Calibri"/>
                <a:sym typeface="Calibri"/>
              </a:rPr>
              <a:t>).</a:t>
            </a:r>
          </a:p>
          <a:p>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Base Class Library (BCL):</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Một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tập</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hợp</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các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thư</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viện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thiết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yếu</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cung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cấp</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các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chức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năng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cơ</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bản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như</a:t>
            </a:r>
            <a:r>
              <a:rPr lang="en-US" sz="1200" b="0" i="0" u="none" strike="noStrike" cap="none" dirty="0">
                <a:solidFill>
                  <a:schemeClr val="dk1"/>
                </a:solidFill>
                <a:effectLst/>
                <a:latin typeface="Calibri"/>
                <a:ea typeface="Calibri"/>
                <a:cs typeface="Calibri"/>
                <a:sym typeface="Calibri"/>
              </a:rPr>
              <a:t> I/O </a:t>
            </a:r>
            <a:r>
              <a:rPr lang="en-US" sz="1200" b="0" i="0" u="none" strike="noStrike" cap="none" dirty="0" err="1">
                <a:solidFill>
                  <a:schemeClr val="dk1"/>
                </a:solidFill>
                <a:effectLst/>
                <a:latin typeface="Calibri"/>
                <a:ea typeface="Calibri"/>
                <a:cs typeface="Calibri"/>
                <a:sym typeface="Calibri"/>
              </a:rPr>
              <a:t>tệp</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kết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nối</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mạng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bộ</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sưu</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tập</a:t>
            </a:r>
            <a:r>
              <a:rPr lang="en-US" sz="1200" b="0" i="0" u="none" strike="noStrike" cap="none" dirty="0">
                <a:solidFill>
                  <a:schemeClr val="dk1"/>
                </a:solidFill>
                <a:effectLst/>
                <a:latin typeface="Calibri"/>
                <a:ea typeface="Calibri"/>
                <a:cs typeface="Calibri"/>
                <a:sym typeface="Calibri"/>
              </a:rPr>
              <a:t>, v.v.</a:t>
            </a:r>
          </a:p>
          <a:p>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.NET CLI (Command Line Interface):</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một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công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cụ</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dòng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lệnh</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dotnet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được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cung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cấp</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bởi</a:t>
            </a:r>
            <a:r>
              <a:rPr lang="en-US" sz="1200" b="0" i="0" u="none" strike="noStrike" cap="none" dirty="0">
                <a:solidFill>
                  <a:schemeClr val="dk1"/>
                </a:solidFill>
                <a:effectLst/>
                <a:latin typeface="Calibri"/>
                <a:ea typeface="Calibri"/>
                <a:cs typeface="Calibri"/>
                <a:sym typeface="Calibri"/>
              </a:rPr>
              <a:t> Microsoft </a:t>
            </a:r>
            <a:r>
              <a:rPr lang="en-US" sz="1200" b="0" i="0" u="none" strike="noStrike" cap="none" dirty="0" err="1">
                <a:solidFill>
                  <a:schemeClr val="dk1"/>
                </a:solidFill>
                <a:effectLst/>
                <a:latin typeface="Calibri"/>
                <a:ea typeface="Calibri"/>
                <a:cs typeface="Calibri"/>
                <a:sym typeface="Calibri"/>
              </a:rPr>
              <a:t>để</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phát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triển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xây</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dựng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và</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quản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lý</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các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dự</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án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và</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ứng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dụng</a:t>
            </a:r>
            <a:r>
              <a:rPr lang="en-US" sz="1200" b="0" i="0" u="none" strike="noStrike" cap="none" dirty="0">
                <a:solidFill>
                  <a:schemeClr val="dk1"/>
                </a:solidFill>
                <a:effectLst/>
                <a:latin typeface="Calibri"/>
                <a:ea typeface="Calibri"/>
                <a:cs typeface="Calibri"/>
                <a:sym typeface="Calibri"/>
              </a:rPr>
              <a:t> .NET Core. </a:t>
            </a:r>
            <a:r>
              <a:rPr lang="en-US" sz="1200" b="0" i="0" u="none" strike="noStrike" cap="none" dirty="0" err="1">
                <a:solidFill>
                  <a:schemeClr val="dk1"/>
                </a:solidFill>
                <a:effectLst/>
                <a:latin typeface="Calibri"/>
                <a:ea typeface="Calibri"/>
                <a:cs typeface="Calibri"/>
                <a:sym typeface="Calibri"/>
              </a:rPr>
              <a:t>thực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hiện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các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tác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vụ</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phổ</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biến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như</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tạo</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mới</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dự</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án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thêm</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các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gói</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NuGet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xây</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dựng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và</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chạy</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ứng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dụng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và</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quản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lý</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các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sự</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phụ</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thuộc</a:t>
            </a:r>
            <a:r>
              <a:rPr lang="en-US" sz="1200" b="0" i="0" u="none" strike="noStrike" cap="none" dirty="0">
                <a:solidFill>
                  <a:schemeClr val="dk1"/>
                </a:solidFill>
                <a:effectLst/>
                <a:latin typeface="Calibri"/>
                <a:ea typeface="Calibri"/>
                <a:cs typeface="Calibri"/>
                <a:sym typeface="Calibri"/>
              </a:rPr>
              <a:t>.</a:t>
            </a:r>
          </a:p>
          <a:p>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.NET Native Runtime:</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là</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một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công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nghệ</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tối</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ưu</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hóa</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hiệu</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suất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và</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tiêu</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thụ</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tài</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nguyên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cho</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ứng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dụng</a:t>
            </a:r>
            <a:r>
              <a:rPr lang="en-US" sz="1200" b="0" i="0" u="none" strike="noStrike" cap="none" dirty="0">
                <a:solidFill>
                  <a:schemeClr val="dk1"/>
                </a:solidFill>
                <a:effectLst/>
                <a:latin typeface="Calibri"/>
                <a:ea typeface="Calibri"/>
                <a:cs typeface="Calibri"/>
                <a:sym typeface="Calibri"/>
              </a:rPr>
              <a:t> .NET </a:t>
            </a:r>
            <a:r>
              <a:rPr lang="en-US" sz="1200" b="0" i="0" u="none" strike="noStrike" cap="none" dirty="0" err="1">
                <a:solidFill>
                  <a:schemeClr val="dk1"/>
                </a:solidFill>
                <a:effectLst/>
                <a:latin typeface="Calibri"/>
                <a:ea typeface="Calibri"/>
                <a:cs typeface="Calibri"/>
                <a:sym typeface="Calibri"/>
              </a:rPr>
              <a:t>bằng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cách</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sử</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dụng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biên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dịch</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tĩnh</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để</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biên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dịch</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mã</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nguồn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thành</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mã</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máy</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trực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tiếp</a:t>
            </a:r>
            <a:r>
              <a:rPr lang="en-US" sz="1200" b="0" i="0" u="none" strike="noStrike" cap="none" dirty="0">
                <a:solidFill>
                  <a:schemeClr val="dk1"/>
                </a:solidFill>
                <a:effectLst/>
                <a:latin typeface="Calibri"/>
                <a:ea typeface="Calibri"/>
                <a:cs typeface="Calibri"/>
                <a:sym typeface="Calibri"/>
              </a:rPr>
              <a:t>.</a:t>
            </a:r>
          </a:p>
          <a:p>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Core CLR:</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cung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cấp</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môi</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trường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thực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thi</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mã</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linh</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hoạt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hiệu</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suất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cao</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và</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đa</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nền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tảng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cho</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việc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phát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triển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và</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triển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khai</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các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ứng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dụng</a:t>
            </a:r>
            <a:r>
              <a:rPr lang="en-US" sz="1200" b="0" i="0" u="none" strike="noStrike" cap="none" dirty="0">
                <a:solidFill>
                  <a:schemeClr val="dk1"/>
                </a:solidFill>
                <a:effectLst/>
                <a:latin typeface="Calibri"/>
                <a:ea typeface="Calibri"/>
                <a:cs typeface="Calibri"/>
                <a:sym typeface="Calibri"/>
              </a:rPr>
              <a:t> .NET Core. </a:t>
            </a:r>
            <a:r>
              <a:rPr lang="en-US" sz="1200" b="0" i="0" u="none" strike="noStrike" cap="none" dirty="0" err="1">
                <a:solidFill>
                  <a:schemeClr val="dk1"/>
                </a:solidFill>
                <a:effectLst/>
                <a:latin typeface="Calibri"/>
                <a:ea typeface="Calibri"/>
                <a:cs typeface="Calibri"/>
                <a:sym typeface="Calibri"/>
              </a:rPr>
              <a:t>tương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tự</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như</a:t>
            </a:r>
            <a:r>
              <a:rPr lang="en-US" sz="1200" b="0" i="0" u="none" strike="noStrike" cap="none" dirty="0">
                <a:solidFill>
                  <a:schemeClr val="dk1"/>
                </a:solidFill>
                <a:effectLst/>
                <a:latin typeface="Calibri"/>
                <a:ea typeface="Calibri"/>
                <a:cs typeface="Calibri"/>
                <a:sym typeface="Calibri"/>
              </a:rPr>
              <a:t> Common Language Runtime (CLR) </a:t>
            </a:r>
            <a:r>
              <a:rPr lang="en-US" sz="1200" b="0" i="0" u="none" strike="noStrike" cap="none" dirty="0" err="1">
                <a:solidFill>
                  <a:schemeClr val="dk1"/>
                </a:solidFill>
                <a:effectLst/>
                <a:latin typeface="Calibri"/>
                <a:ea typeface="Calibri"/>
                <a:cs typeface="Calibri"/>
                <a:sym typeface="Calibri"/>
              </a:rPr>
              <a:t>của</a:t>
            </a:r>
            <a:r>
              <a:rPr lang="en-US" sz="1200" b="0" i="0" u="none" strike="noStrike" cap="none" dirty="0">
                <a:solidFill>
                  <a:schemeClr val="dk1"/>
                </a:solidFill>
                <a:effectLst/>
                <a:latin typeface="Calibri"/>
                <a:ea typeface="Calibri"/>
                <a:cs typeface="Calibri"/>
                <a:sym typeface="Calibri"/>
              </a:rPr>
              <a:t> .NET Framework. </a:t>
            </a:r>
            <a:r>
              <a:rPr lang="en-US" sz="1200" b="0" i="0" u="none" strike="noStrike" cap="none" dirty="0" err="1">
                <a:solidFill>
                  <a:schemeClr val="dk1"/>
                </a:solidFill>
                <a:effectLst/>
                <a:latin typeface="Calibri"/>
                <a:ea typeface="Calibri"/>
                <a:cs typeface="Calibri"/>
                <a:sym typeface="Calibri"/>
              </a:rPr>
              <a:t>bao</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gồm</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công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nghệ</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như</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trình</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biên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dịch</a:t>
            </a:r>
            <a:r>
              <a:rPr lang="en-US" sz="1200" b="0" i="0" u="none" strike="noStrike" cap="none" dirty="0">
                <a:solidFill>
                  <a:schemeClr val="dk1"/>
                </a:solidFill>
                <a:effectLst/>
                <a:latin typeface="Calibri"/>
                <a:ea typeface="Calibri"/>
                <a:cs typeface="Calibri"/>
                <a:sym typeface="Calibri"/>
              </a:rPr>
              <a:t> Just-in-time (JIT) </a:t>
            </a:r>
            <a:r>
              <a:rPr lang="en-US" sz="1200" b="0" i="0" u="none" strike="noStrike" cap="none" dirty="0" err="1">
                <a:solidFill>
                  <a:schemeClr val="dk1"/>
                </a:solidFill>
                <a:effectLst/>
                <a:latin typeface="Calibri"/>
                <a:ea typeface="Calibri"/>
                <a:cs typeface="Calibri"/>
                <a:sym typeface="Calibri"/>
              </a:rPr>
              <a:t>và</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công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nghệ</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quản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lý</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thu</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hồi</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tài</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nguyen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bộ</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nhớ</a:t>
            </a:r>
            <a:r>
              <a:rPr lang="en-US" sz="1200" b="0" i="0" u="none" strike="noStrike" cap="none" dirty="0">
                <a:solidFill>
                  <a:schemeClr val="dk1"/>
                </a:solidFill>
                <a:effectLst/>
                <a:latin typeface="Calibri"/>
                <a:ea typeface="Calibri"/>
                <a:cs typeface="Calibri"/>
                <a:sym typeface="Calibri"/>
              </a:rPr>
              <a:t> Garbage Collector (GC).</a:t>
            </a:r>
          </a:p>
          <a:p>
            <a:endParaRPr lang="en-US" sz="1200" b="0" i="0" u="none" strike="noStrike" cap="none" dirty="0">
              <a:solidFill>
                <a:schemeClr val="dk1"/>
              </a:solidFill>
              <a:effectLst/>
              <a:latin typeface="Calibri"/>
              <a:ea typeface="Calibri"/>
              <a:cs typeface="Calibri"/>
              <a:sym typeface="Calibri"/>
            </a:endParaRPr>
          </a:p>
          <a:p>
            <a:pPr marL="457200" marR="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b="0" i="0" u="none" strike="noStrike" cap="none" dirty="0" err="1">
                <a:solidFill>
                  <a:schemeClr val="dk1"/>
                </a:solidFill>
                <a:effectLst/>
                <a:latin typeface="Calibri"/>
                <a:ea typeface="Calibri"/>
                <a:cs typeface="Calibri"/>
                <a:sym typeface="Calibri"/>
              </a:rPr>
              <a:t>Thế</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mạnh</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của</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mô</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hình</a:t>
            </a:r>
            <a:r>
              <a:rPr lang="en-US" sz="1200" b="0" i="0" u="none" strike="noStrike" cap="none" dirty="0">
                <a:solidFill>
                  <a:schemeClr val="dk1"/>
                </a:solidFill>
                <a:effectLst/>
                <a:latin typeface="Calibri"/>
                <a:ea typeface="Calibri"/>
                <a:cs typeface="Calibri"/>
                <a:sym typeface="Calibri"/>
              </a:rPr>
              <a:t> CLR </a:t>
            </a:r>
            <a:r>
              <a:rPr lang="en-US" sz="1200" b="0" i="0" u="none" strike="noStrike" cap="none" dirty="0" err="1">
                <a:solidFill>
                  <a:schemeClr val="dk1"/>
                </a:solidFill>
                <a:effectLst/>
                <a:latin typeface="Calibri"/>
                <a:ea typeface="Calibri"/>
                <a:cs typeface="Calibri"/>
                <a:sym typeface="Calibri"/>
              </a:rPr>
              <a:t>là</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có</a:t>
            </a:r>
            <a:r>
              <a:rPr lang="en-US" sz="1200" b="0" i="0" u="none" strike="noStrike" cap="none" baseline="0" dirty="0">
                <a:solidFill>
                  <a:schemeClr val="dk1"/>
                </a:solidFill>
                <a:effectLst/>
                <a:latin typeface="Calibri"/>
                <a:ea typeface="Calibri"/>
                <a:cs typeface="Calibri"/>
                <a:sym typeface="Calibri"/>
              </a:rPr>
              <a:t> </a:t>
            </a:r>
            <a:r>
              <a:rPr lang="en-US" sz="1200" b="0" i="0" u="none" strike="noStrike" cap="none" baseline="0" dirty="0" err="1">
                <a:solidFill>
                  <a:schemeClr val="dk1"/>
                </a:solidFill>
                <a:effectLst/>
                <a:latin typeface="Calibri"/>
                <a:ea typeface="Calibri"/>
                <a:cs typeface="Calibri"/>
                <a:sym typeface="Calibri"/>
              </a:rPr>
              <a:t>thể</a:t>
            </a:r>
            <a:r>
              <a:rPr lang="en-US" sz="1200" b="0" i="0" u="none" strike="noStrike" cap="none" baseline="0" dirty="0">
                <a:solidFill>
                  <a:schemeClr val="dk1"/>
                </a:solidFill>
                <a:effectLst/>
                <a:latin typeface="Calibri"/>
                <a:ea typeface="Calibri"/>
                <a:cs typeface="Calibri"/>
                <a:sym typeface="Calibri"/>
              </a:rPr>
              <a:t> </a:t>
            </a:r>
            <a:r>
              <a:rPr lang="vi-VN" dirty="0"/>
              <a:t>bảo đảm rằng mã IL được xác thực an toàn</a:t>
            </a:r>
            <a:r>
              <a:rPr lang="en-US" dirty="0"/>
              <a:t> </a:t>
            </a:r>
            <a:r>
              <a:rPr lang="en-US" dirty="0" err="1"/>
              <a:t>bằng</a:t>
            </a:r>
            <a:r>
              <a:rPr lang="en-US" baseline="0" dirty="0"/>
              <a:t> </a:t>
            </a:r>
            <a:r>
              <a:rPr lang="vi-VN" dirty="0"/>
              <a:t>cơ chế kiểm tra mã IL (Type Safety và Verification)  trước khi biên dịch bằng JIT</a:t>
            </a:r>
            <a:r>
              <a:rPr lang="en-US" sz="1200" b="0" i="0" u="none" strike="noStrike" cap="none" dirty="0">
                <a:solidFill>
                  <a:schemeClr val="dk1"/>
                </a:solidFill>
                <a:effectLst/>
                <a:latin typeface="Calibri"/>
                <a:ea typeface="Calibri"/>
                <a:cs typeface="Calibri"/>
                <a:sym typeface="Calibri"/>
              </a:rPr>
              <a:t> (Just-In-Time) .</a:t>
            </a:r>
            <a:r>
              <a:rPr lang="en-US" sz="1200" b="0" i="0" u="none" strike="noStrike" cap="none" baseline="0"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điều</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này</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tránh</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được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một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số</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rũi</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ro</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từ</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mã</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độc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không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phù</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hợp</a:t>
            </a:r>
            <a:r>
              <a:rPr lang="en-US" sz="1200" b="0" i="0" u="none" strike="noStrike" cap="none" dirty="0">
                <a:solidFill>
                  <a:schemeClr val="dk1"/>
                </a:solidFill>
                <a:effectLst/>
                <a:latin typeface="Calibri"/>
                <a:ea typeface="Calibri"/>
                <a:cs typeface="Calibri"/>
                <a:sym typeface="Calibri"/>
              </a:rPr>
              <a:t>.</a:t>
            </a:r>
            <a:r>
              <a:rPr lang="en-US" sz="1200" b="0" i="0" u="none" strike="noStrike" cap="none" baseline="0"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bên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cạnh</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đó</a:t>
            </a:r>
            <a:r>
              <a:rPr lang="en-US" sz="1200" b="0" i="0" u="none" strike="noStrike" cap="none" dirty="0">
                <a:solidFill>
                  <a:schemeClr val="dk1"/>
                </a:solidFill>
                <a:effectLst/>
                <a:latin typeface="Calibri"/>
                <a:ea typeface="Calibri"/>
                <a:cs typeface="Calibri"/>
                <a:sym typeface="Calibri"/>
              </a:rPr>
              <a:t> JIT </a:t>
            </a:r>
            <a:r>
              <a:rPr lang="en-US" sz="1200" b="0" i="0" u="none" strike="noStrike" cap="none" dirty="0" err="1">
                <a:solidFill>
                  <a:schemeClr val="dk1"/>
                </a:solidFill>
                <a:effectLst/>
                <a:latin typeface="Calibri"/>
                <a:ea typeface="Calibri"/>
                <a:cs typeface="Calibri"/>
                <a:sym typeface="Calibri"/>
              </a:rPr>
              <a:t>cũng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cung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cấp</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cơ</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chế</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cho</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phép</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mã</a:t>
            </a:r>
            <a:r>
              <a:rPr lang="en-US" sz="1200" b="0" i="0" u="none" strike="noStrike" cap="none" dirty="0">
                <a:solidFill>
                  <a:schemeClr val="dk1"/>
                </a:solidFill>
                <a:effectLst/>
                <a:latin typeface="Calibri"/>
                <a:ea typeface="Calibri"/>
                <a:cs typeface="Calibri"/>
                <a:sym typeface="Calibri"/>
              </a:rPr>
              <a:t> IL </a:t>
            </a:r>
            <a:r>
              <a:rPr lang="en-US" sz="1200" b="0" i="0" u="none" strike="noStrike" cap="none" dirty="0" err="1">
                <a:solidFill>
                  <a:schemeClr val="dk1"/>
                </a:solidFill>
                <a:effectLst/>
                <a:latin typeface="Calibri"/>
                <a:ea typeface="Calibri"/>
                <a:cs typeface="Calibri"/>
                <a:sym typeface="Calibri"/>
              </a:rPr>
              <a:t>độc</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lập</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với</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phần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cứng</a:t>
            </a:r>
            <a:r>
              <a:rPr lang="en-US" sz="1200" b="0" i="0" u="none" strike="noStrike" cap="none" dirty="0">
                <a:solidFill>
                  <a:schemeClr val="dk1"/>
                </a:solidFill>
                <a:effectLst/>
                <a:latin typeface="Calibri"/>
                <a:ea typeface="Calibri"/>
                <a:cs typeface="Calibri"/>
                <a:sym typeface="Calibri"/>
              </a:rPr>
              <a:t>.</a:t>
            </a:r>
          </a:p>
          <a:p>
            <a:endParaRPr lang="en-US" sz="1200" b="0" i="0" u="none" strike="noStrike" cap="none" dirty="0">
              <a:solidFill>
                <a:schemeClr val="dk1"/>
              </a:solidFill>
              <a:effectLst/>
              <a:latin typeface="Calibri"/>
              <a:ea typeface="Calibri"/>
              <a:cs typeface="Calibri"/>
              <a:sym typeface="Calibri"/>
            </a:endParaRPr>
          </a:p>
          <a:p>
            <a:pPr marL="0" lvl="0" indent="0" algn="l" rtl="0">
              <a:spcBef>
                <a:spcPts val="0"/>
              </a:spcBef>
              <a:spcAft>
                <a:spcPts val="0"/>
              </a:spcAft>
              <a:buNone/>
            </a:pPr>
            <a:endParaRPr dirty="0"/>
          </a:p>
        </p:txBody>
      </p:sp>
      <p:sp>
        <p:nvSpPr>
          <p:cNvPr id="148" name="Google Shape;14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74" name="Google Shape;174;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https://devblogs.microsoft.com/dotnet/announcing-dotnet-8/</a:t>
            </a:r>
            <a:endParaRPr dirty="0"/>
          </a:p>
        </p:txBody>
      </p:sp>
      <p:sp>
        <p:nvSpPr>
          <p:cNvPr id="148" name="Google Shape;14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865369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a:buFont typeface="+mj-lt"/>
              <a:buAutoNum type="arabicPeriod"/>
            </a:pPr>
            <a:r>
              <a:rPr lang="vi-VN" b="1" dirty="0">
                <a:latin typeface="+mj-lt"/>
              </a:rPr>
              <a:t>Native AOT Compilation</a:t>
            </a:r>
            <a:endParaRPr lang="vi-VN" dirty="0">
              <a:latin typeface="+mj-lt"/>
            </a:endParaRPr>
          </a:p>
          <a:p>
            <a:pPr marL="742950" lvl="1" indent="-285750">
              <a:buFont typeface="+mj-lt"/>
              <a:buAutoNum type="arabicPeriod"/>
            </a:pPr>
            <a:r>
              <a:rPr lang="vi-VN" dirty="0">
                <a:latin typeface="+mj-lt"/>
              </a:rPr>
              <a:t>Cho phép biên dịch trước (Ahead-of-Time) để tạo ứng dụng tự chứa.</a:t>
            </a:r>
          </a:p>
          <a:p>
            <a:pPr marL="742950" lvl="1" indent="-285750">
              <a:buFont typeface="+mj-lt"/>
              <a:buAutoNum type="arabicPeriod"/>
            </a:pPr>
            <a:r>
              <a:rPr lang="vi-VN" dirty="0">
                <a:latin typeface="+mj-lt"/>
              </a:rPr>
              <a:t>Giúp </a:t>
            </a:r>
            <a:r>
              <a:rPr lang="vi-VN" b="1" dirty="0">
                <a:latin typeface="+mj-lt"/>
              </a:rPr>
              <a:t>khởi động nhanh hơn</a:t>
            </a:r>
            <a:r>
              <a:rPr lang="vi-VN" dirty="0">
                <a:latin typeface="+mj-lt"/>
              </a:rPr>
              <a:t> và </a:t>
            </a:r>
            <a:r>
              <a:rPr lang="vi-VN" b="1" dirty="0">
                <a:latin typeface="+mj-lt"/>
              </a:rPr>
              <a:t>tiết kiệm bộ nhớ</a:t>
            </a:r>
            <a:r>
              <a:rPr lang="vi-VN" dirty="0">
                <a:latin typeface="+mj-lt"/>
              </a:rPr>
              <a:t>.</a:t>
            </a:r>
          </a:p>
          <a:p>
            <a:pPr>
              <a:buFont typeface="+mj-lt"/>
              <a:buAutoNum type="arabicPeriod"/>
            </a:pPr>
            <a:r>
              <a:rPr lang="vi-VN" b="1" dirty="0">
                <a:latin typeface="+mj-lt"/>
              </a:rPr>
              <a:t>Container Improvements</a:t>
            </a:r>
            <a:endParaRPr lang="vi-VN" dirty="0">
              <a:latin typeface="+mj-lt"/>
            </a:endParaRPr>
          </a:p>
          <a:p>
            <a:pPr marL="742950" lvl="1" indent="-285750">
              <a:buFont typeface="+mj-lt"/>
              <a:buAutoNum type="arabicPeriod"/>
            </a:pPr>
            <a:r>
              <a:rPr lang="vi-VN" dirty="0">
                <a:latin typeface="+mj-lt"/>
              </a:rPr>
              <a:t>Tối ưu hóa cho ứng dụng chạy trong container.</a:t>
            </a:r>
          </a:p>
          <a:p>
            <a:pPr marL="742950" lvl="1" indent="-285750">
              <a:buFont typeface="+mj-lt"/>
              <a:buAutoNum type="arabicPeriod"/>
            </a:pPr>
            <a:r>
              <a:rPr lang="vi-VN" dirty="0">
                <a:latin typeface="+mj-lt"/>
              </a:rPr>
              <a:t>Giảm kích thước image và cải thiện tốc độ khởi động.</a:t>
            </a:r>
          </a:p>
          <a:p>
            <a:pPr>
              <a:buFont typeface="+mj-lt"/>
              <a:buAutoNum type="arabicPeriod"/>
            </a:pPr>
            <a:r>
              <a:rPr lang="vi-VN" b="1" dirty="0">
                <a:latin typeface="+mj-lt"/>
              </a:rPr>
              <a:t>Performance Enhancements</a:t>
            </a:r>
            <a:endParaRPr lang="vi-VN" dirty="0">
              <a:latin typeface="+mj-lt"/>
            </a:endParaRPr>
          </a:p>
          <a:p>
            <a:pPr marL="742950" lvl="1" indent="-285750">
              <a:buFont typeface="+mj-lt"/>
              <a:buAutoNum type="arabicPeriod"/>
            </a:pPr>
            <a:r>
              <a:rPr lang="vi-VN" dirty="0">
                <a:latin typeface="+mj-lt"/>
              </a:rPr>
              <a:t>Nhiều cải tiến hiệu năng trong framework.</a:t>
            </a:r>
          </a:p>
          <a:p>
            <a:pPr marL="742950" lvl="1" indent="-285750">
              <a:buFont typeface="+mj-lt"/>
              <a:buAutoNum type="arabicPeriod"/>
            </a:pPr>
            <a:r>
              <a:rPr lang="vi-VN" dirty="0">
                <a:latin typeface="+mj-lt"/>
              </a:rPr>
              <a:t>Bao gồm tối ưu ở thư viện cốt lõi và runtime.</a:t>
            </a:r>
          </a:p>
          <a:p>
            <a:pPr>
              <a:buFont typeface="+mj-lt"/>
              <a:buAutoNum type="arabicPeriod"/>
            </a:pPr>
            <a:r>
              <a:rPr lang="vi-VN" b="1" dirty="0">
                <a:latin typeface="+mj-lt"/>
              </a:rPr>
              <a:t>Observability and Diagnostics</a:t>
            </a:r>
            <a:endParaRPr lang="vi-VN" dirty="0">
              <a:latin typeface="+mj-lt"/>
            </a:endParaRPr>
          </a:p>
          <a:p>
            <a:pPr marL="742950" lvl="1" indent="-285750">
              <a:buFont typeface="+mj-lt"/>
              <a:buAutoNum type="arabicPeriod"/>
            </a:pPr>
            <a:r>
              <a:rPr lang="vi-VN" dirty="0">
                <a:latin typeface="+mj-lt"/>
              </a:rPr>
              <a:t>Cung cấp công cụ và API mới để giám sát, chẩn đoán ứng dụng .NET.</a:t>
            </a:r>
          </a:p>
          <a:p>
            <a:pPr marL="742950" lvl="1" indent="-285750">
              <a:buFont typeface="+mj-lt"/>
              <a:buAutoNum type="arabicPeriod"/>
            </a:pPr>
            <a:r>
              <a:rPr lang="vi-VN" dirty="0">
                <a:latin typeface="+mj-lt"/>
              </a:rPr>
              <a:t>Giúp dễ dàng tìm hiểu hành vi ứng dụng và khắc phục sự cố.</a:t>
            </a:r>
          </a:p>
          <a:p>
            <a:r>
              <a:rPr lang="vi-VN" dirty="0">
                <a:latin typeface="+mj-lt"/>
              </a:rPr>
              <a:t>Nói ngắn gọn: </a:t>
            </a:r>
            <a:r>
              <a:rPr lang="vi-VN" b="1" dirty="0">
                <a:latin typeface="+mj-lt"/>
              </a:rPr>
              <a:t>.NET 8 tập trung vào hiệu năng, gọn nhẹ, hỗ trợ container tốt hơn, và có thêm công cụ để giám sát và xử lý lỗi ứng dụng.</a:t>
            </a:r>
            <a:endParaRPr lang="vi-VN" dirty="0">
              <a:latin typeface="+mj-lt"/>
            </a:endParaRPr>
          </a:p>
          <a:p>
            <a:pPr marL="0" lvl="0" indent="0" algn="l" rtl="0">
              <a:spcBef>
                <a:spcPts val="0"/>
              </a:spcBef>
              <a:spcAft>
                <a:spcPts val="0"/>
              </a:spcAft>
              <a:buNone/>
            </a:pPr>
            <a:endParaRPr dirty="0"/>
          </a:p>
        </p:txBody>
      </p:sp>
      <p:sp>
        <p:nvSpPr>
          <p:cNvPr id="109" name="Google Shape;109;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19744404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a:buFont typeface="+mj-lt"/>
              <a:buAutoNum type="arabicPeriod"/>
            </a:pPr>
            <a:r>
              <a:rPr lang="vi-VN" b="1" dirty="0">
                <a:latin typeface="+mj-lt"/>
              </a:rPr>
              <a:t>C# 12 Enhancements</a:t>
            </a:r>
            <a:endParaRPr lang="vi-VN" dirty="0">
              <a:latin typeface="+mj-lt"/>
            </a:endParaRPr>
          </a:p>
          <a:p>
            <a:pPr marL="742950" lvl="1" indent="-285750">
              <a:buFont typeface="+mj-lt"/>
              <a:buAutoNum type="arabicPeriod"/>
            </a:pPr>
            <a:r>
              <a:rPr lang="vi-VN" dirty="0">
                <a:latin typeface="+mj-lt"/>
              </a:rPr>
              <a:t>C# 12 có thêm tính năng mới:</a:t>
            </a:r>
          </a:p>
          <a:p>
            <a:pPr marL="1143000" lvl="2" indent="-228600">
              <a:buFont typeface="+mj-lt"/>
              <a:buAutoNum type="arabicPeriod"/>
            </a:pPr>
            <a:r>
              <a:rPr lang="vi-VN" i="1" dirty="0">
                <a:latin typeface="+mj-lt"/>
              </a:rPr>
              <a:t>Primary constructors</a:t>
            </a:r>
            <a:r>
              <a:rPr lang="vi-VN" dirty="0">
                <a:latin typeface="+mj-lt"/>
              </a:rPr>
              <a:t> cho non-record types.</a:t>
            </a:r>
          </a:p>
          <a:p>
            <a:pPr marL="1143000" lvl="2" indent="-228600">
              <a:buFont typeface="+mj-lt"/>
              <a:buAutoNum type="arabicPeriod"/>
            </a:pPr>
            <a:r>
              <a:rPr lang="vi-VN" i="1" dirty="0">
                <a:latin typeface="+mj-lt"/>
              </a:rPr>
              <a:t>Aliasing any type</a:t>
            </a:r>
            <a:r>
              <a:rPr lang="vi-VN" dirty="0">
                <a:latin typeface="+mj-lt"/>
              </a:rPr>
              <a:t> (đặt tên thay thế cho kiểu dữ liệu).</a:t>
            </a:r>
          </a:p>
          <a:p>
            <a:pPr marL="1143000" lvl="2" indent="-228600">
              <a:buFont typeface="+mj-lt"/>
              <a:buAutoNum type="arabicPeriod"/>
            </a:pPr>
            <a:r>
              <a:rPr lang="vi-VN" dirty="0">
                <a:latin typeface="+mj-lt"/>
              </a:rPr>
              <a:t>Cải thiện khả năng </a:t>
            </a:r>
            <a:r>
              <a:rPr lang="vi-VN" i="1" dirty="0">
                <a:latin typeface="+mj-lt"/>
              </a:rPr>
              <a:t>interop</a:t>
            </a:r>
            <a:r>
              <a:rPr lang="vi-VN" dirty="0">
                <a:latin typeface="+mj-lt"/>
              </a:rPr>
              <a:t> (tương tác với ngôn ngữ khác/hệ thống khác).</a:t>
            </a:r>
          </a:p>
          <a:p>
            <a:pPr>
              <a:buFont typeface="+mj-lt"/>
              <a:buAutoNum type="arabicPeriod"/>
            </a:pPr>
            <a:r>
              <a:rPr lang="vi-VN" b="1" dirty="0">
                <a:latin typeface="+mj-lt"/>
              </a:rPr>
              <a:t>.NET Libraries Updates</a:t>
            </a:r>
            <a:endParaRPr lang="vi-VN" dirty="0">
              <a:latin typeface="+mj-lt"/>
            </a:endParaRPr>
          </a:p>
          <a:p>
            <a:pPr marL="742950" lvl="1" indent="-285750">
              <a:buFont typeface="+mj-lt"/>
              <a:buAutoNum type="arabicPeriod"/>
            </a:pPr>
            <a:r>
              <a:rPr lang="vi-VN" dirty="0">
                <a:latin typeface="+mj-lt"/>
              </a:rPr>
              <a:t>Cập nhật, cải tiến nhiều thư viện chính trong .NET.</a:t>
            </a:r>
          </a:p>
          <a:p>
            <a:pPr>
              <a:buFont typeface="+mj-lt"/>
              <a:buAutoNum type="arabicPeriod"/>
            </a:pPr>
            <a:r>
              <a:rPr lang="vi-VN" b="1" dirty="0">
                <a:latin typeface="+mj-lt"/>
              </a:rPr>
              <a:t>Blazor Unification</a:t>
            </a:r>
            <a:endParaRPr lang="vi-VN" dirty="0">
              <a:latin typeface="+mj-lt"/>
            </a:endParaRPr>
          </a:p>
          <a:p>
            <a:pPr marL="742950" lvl="1" indent="-285750">
              <a:buFont typeface="+mj-lt"/>
              <a:buAutoNum type="arabicPeriod"/>
            </a:pPr>
            <a:r>
              <a:rPr lang="vi-VN" dirty="0">
                <a:latin typeface="+mj-lt"/>
              </a:rPr>
              <a:t>Blazor giới thiệu mô hình hosting hợp nhất.</a:t>
            </a:r>
          </a:p>
          <a:p>
            <a:pPr marL="742950" lvl="1" indent="-285750">
              <a:buFont typeface="+mj-lt"/>
              <a:buAutoNum type="arabicPeriod"/>
            </a:pPr>
            <a:r>
              <a:rPr lang="vi-VN" dirty="0">
                <a:latin typeface="+mj-lt"/>
              </a:rPr>
              <a:t>Cho phép chọn chế độ render: </a:t>
            </a:r>
            <a:r>
              <a:rPr lang="vi-VN" i="1" dirty="0">
                <a:latin typeface="+mj-lt"/>
              </a:rPr>
              <a:t>server-side</a:t>
            </a:r>
            <a:r>
              <a:rPr lang="vi-VN" dirty="0">
                <a:latin typeface="+mj-lt"/>
              </a:rPr>
              <a:t>, </a:t>
            </a:r>
            <a:r>
              <a:rPr lang="vi-VN" i="1" dirty="0">
                <a:latin typeface="+mj-lt"/>
              </a:rPr>
              <a:t>WebAssembly</a:t>
            </a:r>
            <a:r>
              <a:rPr lang="vi-VN" dirty="0">
                <a:latin typeface="+mj-lt"/>
              </a:rPr>
              <a:t>, hoặc </a:t>
            </a:r>
            <a:r>
              <a:rPr lang="vi-VN" i="1" dirty="0">
                <a:latin typeface="+mj-lt"/>
              </a:rPr>
              <a:t>hybrid</a:t>
            </a:r>
            <a:r>
              <a:rPr lang="vi-VN" dirty="0">
                <a:latin typeface="+mj-lt"/>
              </a:rPr>
              <a:t>.</a:t>
            </a:r>
          </a:p>
          <a:p>
            <a:pPr marL="742950" lvl="1" indent="-285750">
              <a:buFont typeface="+mj-lt"/>
              <a:buAutoNum type="arabicPeriod"/>
            </a:pPr>
            <a:r>
              <a:rPr lang="vi-VN" dirty="0">
                <a:latin typeface="+mj-lt"/>
              </a:rPr>
              <a:t>Giúp linh hoạt hơn và tăng hiệu năng.</a:t>
            </a:r>
          </a:p>
          <a:p>
            <a:pPr>
              <a:buFont typeface="+mj-lt"/>
              <a:buAutoNum type="arabicPeriod"/>
            </a:pPr>
            <a:r>
              <a:rPr lang="vi-VN" b="1" dirty="0">
                <a:latin typeface="+mj-lt"/>
              </a:rPr>
              <a:t>Minimal APIs Advancements</a:t>
            </a:r>
            <a:endParaRPr lang="vi-VN" dirty="0">
              <a:latin typeface="+mj-lt"/>
            </a:endParaRPr>
          </a:p>
          <a:p>
            <a:pPr marL="742950" lvl="1" indent="-285750">
              <a:buFont typeface="+mj-lt"/>
              <a:buAutoNum type="arabicPeriod"/>
            </a:pPr>
            <a:r>
              <a:rPr lang="vi-VN" dirty="0">
                <a:latin typeface="+mj-lt"/>
              </a:rPr>
              <a:t>Cải tiến trong Minimal APIs để xây dựng web service nhẹ và hiệu quả.</a:t>
            </a:r>
          </a:p>
          <a:p>
            <a:pPr marL="742950" lvl="1" indent="-285750">
              <a:buFont typeface="+mj-lt"/>
              <a:buAutoNum type="arabicPeriod"/>
            </a:pPr>
            <a:r>
              <a:rPr lang="vi-VN" dirty="0">
                <a:latin typeface="+mj-lt"/>
              </a:rPr>
              <a:t>Hỗ trợ tốt hơn cho </a:t>
            </a:r>
            <a:r>
              <a:rPr lang="vi-VN" i="1" dirty="0">
                <a:latin typeface="+mj-lt"/>
              </a:rPr>
              <a:t>routing</a:t>
            </a:r>
            <a:r>
              <a:rPr lang="vi-VN" dirty="0">
                <a:latin typeface="+mj-lt"/>
              </a:rPr>
              <a:t> và </a:t>
            </a:r>
            <a:r>
              <a:rPr lang="vi-VN" i="1" dirty="0">
                <a:latin typeface="+mj-lt"/>
              </a:rPr>
              <a:t>streaming scenarios</a:t>
            </a:r>
            <a:r>
              <a:rPr lang="vi-VN" dirty="0">
                <a:latin typeface="+mj-lt"/>
              </a:rPr>
              <a:t>.</a:t>
            </a:r>
          </a:p>
          <a:p>
            <a:r>
              <a:rPr lang="vi-VN" dirty="0">
                <a:latin typeface="+mj-lt"/>
              </a:rPr>
              <a:t>Nói ngắn gọn: </a:t>
            </a:r>
            <a:r>
              <a:rPr lang="vi-VN" b="1" dirty="0">
                <a:latin typeface="+mj-lt"/>
              </a:rPr>
              <a:t>.NET 8 mang đến các cải tiến về ngôn ngữ C# 12, thư viện, Blazor hợp nhất để xây dựng ứng dụng web linh hoạt, và Minimal APIs mạnh hơn để làm dịch vụ web nhanh gọn.</a:t>
            </a:r>
            <a:endParaRPr lang="vi-VN" dirty="0">
              <a:latin typeface="+mj-lt"/>
            </a:endParaRPr>
          </a:p>
          <a:p>
            <a:pPr marL="0" lvl="0" indent="0" algn="l" rtl="0">
              <a:spcBef>
                <a:spcPts val="0"/>
              </a:spcBef>
              <a:spcAft>
                <a:spcPts val="0"/>
              </a:spcAft>
              <a:buNone/>
            </a:pPr>
            <a:endParaRPr dirty="0"/>
          </a:p>
        </p:txBody>
      </p:sp>
      <p:sp>
        <p:nvSpPr>
          <p:cNvPr id="109" name="Google Shape;109;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14004304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a:buFont typeface="Arial" panose="020B0604020202020204" pitchFamily="34" charset="0"/>
              <a:buChar char="•"/>
            </a:pPr>
            <a:r>
              <a:rPr lang="vi-VN" b="1" dirty="0">
                <a:latin typeface="+mj-lt"/>
              </a:rPr>
              <a:t>“Write once, run anywhere”</a:t>
            </a:r>
            <a:r>
              <a:rPr lang="vi-VN" dirty="0">
                <a:latin typeface="+mj-lt"/>
              </a:rPr>
              <a:t>: viết code một lần nhưng chạy được trên nhiều hệ điều hành.</a:t>
            </a:r>
          </a:p>
          <a:p>
            <a:pPr>
              <a:buFont typeface="Arial" panose="020B0604020202020204" pitchFamily="34" charset="0"/>
              <a:buChar char="•"/>
            </a:pPr>
            <a:r>
              <a:rPr lang="vi-VN" dirty="0">
                <a:latin typeface="+mj-lt"/>
              </a:rPr>
              <a:t>Điều này giúp lập trình viên </a:t>
            </a:r>
            <a:r>
              <a:rPr lang="vi-VN" b="1" dirty="0">
                <a:latin typeface="+mj-lt"/>
              </a:rPr>
              <a:t>không cần viết lại nhiều code lặp thừa</a:t>
            </a:r>
            <a:r>
              <a:rPr lang="vi-VN" dirty="0">
                <a:latin typeface="+mj-lt"/>
              </a:rPr>
              <a:t>.</a:t>
            </a:r>
          </a:p>
          <a:p>
            <a:pPr>
              <a:buFont typeface="Arial" panose="020B0604020202020204" pitchFamily="34" charset="0"/>
              <a:buChar char="•"/>
            </a:pPr>
            <a:r>
              <a:rPr lang="vi-VN" b="1" dirty="0">
                <a:latin typeface="+mj-lt"/>
              </a:rPr>
              <a:t>.NET</a:t>
            </a:r>
            <a:r>
              <a:rPr lang="vi-VN" dirty="0">
                <a:latin typeface="+mj-lt"/>
              </a:rPr>
              <a:t> (mã nguồn mở từ Microsoft) là công cụ hỗ trợ tạo ứng dụng cross-platform.</a:t>
            </a:r>
          </a:p>
          <a:p>
            <a:pPr>
              <a:buFont typeface="Arial" panose="020B0604020202020204" pitchFamily="34" charset="0"/>
              <a:buChar char="•"/>
            </a:pPr>
            <a:r>
              <a:rPr lang="vi-VN" dirty="0">
                <a:latin typeface="+mj-lt"/>
              </a:rPr>
              <a:t>Ứng dụng có thể chạy được trên </a:t>
            </a:r>
            <a:r>
              <a:rPr lang="vi-VN" b="1" dirty="0">
                <a:latin typeface="+mj-lt"/>
              </a:rPr>
              <a:t>Windows, Linux, và macOS</a:t>
            </a:r>
            <a:r>
              <a:rPr lang="vi-VN" dirty="0">
                <a:latin typeface="+mj-lt"/>
              </a:rPr>
              <a:t>.</a:t>
            </a:r>
          </a:p>
          <a:p>
            <a:r>
              <a:rPr lang="vi-VN" dirty="0">
                <a:latin typeface="+mj-lt"/>
              </a:rPr>
              <a:t>Nói ngắn gọn: </a:t>
            </a:r>
            <a:r>
              <a:rPr lang="vi-VN" b="1" dirty="0">
                <a:latin typeface="+mj-lt"/>
              </a:rPr>
              <a:t>.NET cho phép lập trình viên phát triển ứng dụng một lần nhưng chạy được ở nhiều hệ điều hành khác nhau, tiết kiệm thời gian và công sức.</a:t>
            </a:r>
            <a:endParaRPr lang="vi-VN" dirty="0">
              <a:latin typeface="+mj-lt"/>
            </a:endParaRPr>
          </a:p>
          <a:p>
            <a:pPr marL="0" lvl="0" indent="0" algn="l" rtl="0">
              <a:spcBef>
                <a:spcPts val="0"/>
              </a:spcBef>
              <a:spcAft>
                <a:spcPts val="0"/>
              </a:spcAft>
              <a:buNone/>
            </a:pPr>
            <a:endParaRPr dirty="0"/>
          </a:p>
        </p:txBody>
      </p:sp>
      <p:sp>
        <p:nvSpPr>
          <p:cNvPr id="257" name="Google Shape;257;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6" name="Google Shape;266;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a:buFont typeface="+mj-lt"/>
              <a:buAutoNum type="arabicPeriod"/>
            </a:pPr>
            <a:r>
              <a:rPr lang="vi-VN" b="1" dirty="0">
                <a:latin typeface="+mj-lt"/>
              </a:rPr>
              <a:t>Platform là gì</a:t>
            </a:r>
            <a:endParaRPr lang="vi-VN" dirty="0">
              <a:latin typeface="+mj-lt"/>
            </a:endParaRPr>
          </a:p>
          <a:p>
            <a:pPr marL="742950" lvl="1" indent="-285750">
              <a:buFont typeface="+mj-lt"/>
              <a:buAutoNum type="arabicPeriod"/>
            </a:pPr>
            <a:r>
              <a:rPr lang="vi-VN" dirty="0">
                <a:latin typeface="+mj-lt"/>
              </a:rPr>
              <a:t>Nền tảng gồm cả </a:t>
            </a:r>
            <a:r>
              <a:rPr lang="vi-VN" b="1" dirty="0">
                <a:latin typeface="+mj-lt"/>
              </a:rPr>
              <a:t>phần cứng</a:t>
            </a:r>
            <a:r>
              <a:rPr lang="vi-VN" dirty="0">
                <a:latin typeface="+mj-lt"/>
              </a:rPr>
              <a:t> (CPU, RAM, HDD, GPU, …) và </a:t>
            </a:r>
            <a:r>
              <a:rPr lang="vi-VN" b="1" dirty="0">
                <a:latin typeface="+mj-lt"/>
              </a:rPr>
              <a:t>phần mềm</a:t>
            </a:r>
            <a:r>
              <a:rPr lang="vi-VN" dirty="0">
                <a:latin typeface="+mj-lt"/>
              </a:rPr>
              <a:t> (hệ điều hành, framework như .NET, JVM).</a:t>
            </a:r>
          </a:p>
          <a:p>
            <a:pPr marL="742950" lvl="1" indent="-285750">
              <a:buFont typeface="+mj-lt"/>
              <a:buAutoNum type="arabicPeriod"/>
            </a:pPr>
            <a:r>
              <a:rPr lang="vi-VN" dirty="0">
                <a:latin typeface="+mj-lt"/>
              </a:rPr>
              <a:t>Đây là môi trường mà chương trình được cài đặt và chạy.</a:t>
            </a:r>
          </a:p>
          <a:p>
            <a:pPr>
              <a:buFont typeface="+mj-lt"/>
              <a:buAutoNum type="arabicPeriod"/>
            </a:pPr>
            <a:r>
              <a:rPr lang="vi-VN" b="1" dirty="0">
                <a:latin typeface="+mj-lt"/>
              </a:rPr>
              <a:t>Cross-platform support</a:t>
            </a:r>
            <a:endParaRPr lang="vi-VN" dirty="0">
              <a:latin typeface="+mj-lt"/>
            </a:endParaRPr>
          </a:p>
          <a:p>
            <a:pPr marL="742950" lvl="1" indent="-285750">
              <a:buFont typeface="+mj-lt"/>
              <a:buAutoNum type="arabicPeriod"/>
            </a:pPr>
            <a:r>
              <a:rPr lang="vi-VN" dirty="0">
                <a:latin typeface="+mj-lt"/>
              </a:rPr>
              <a:t>Hỗ trợ chạy trên nhiều nền tảng khác nhau.</a:t>
            </a:r>
          </a:p>
          <a:p>
            <a:pPr marL="742950" lvl="1" indent="-285750">
              <a:buFont typeface="+mj-lt"/>
              <a:buAutoNum type="arabicPeriod"/>
            </a:pPr>
            <a:r>
              <a:rPr lang="vi-VN" dirty="0">
                <a:latin typeface="+mj-lt"/>
              </a:rPr>
              <a:t>Nghĩa là cùng một đoạn code có thể chạy được trên nhiều framework, hệ điều hành, và kiến trúc máy khác nhau.</a:t>
            </a:r>
          </a:p>
          <a:p>
            <a:pPr>
              <a:buFont typeface="+mj-lt"/>
              <a:buAutoNum type="arabicPeriod"/>
            </a:pPr>
            <a:r>
              <a:rPr lang="vi-VN" b="1" dirty="0">
                <a:latin typeface="+mj-lt"/>
              </a:rPr>
              <a:t>Cross-platform programming language</a:t>
            </a:r>
            <a:endParaRPr lang="vi-VN" dirty="0">
              <a:latin typeface="+mj-lt"/>
            </a:endParaRPr>
          </a:p>
          <a:p>
            <a:pPr marL="742950" lvl="1" indent="-285750">
              <a:buFont typeface="+mj-lt"/>
              <a:buAutoNum type="arabicPeriod"/>
            </a:pPr>
            <a:r>
              <a:rPr lang="vi-VN" dirty="0">
                <a:latin typeface="+mj-lt"/>
              </a:rPr>
              <a:t>Ngôn ngữ lập trình cross-platform có khả năng chạy trên nhiều framework, OS, và kiến trúc máy.</a:t>
            </a:r>
          </a:p>
          <a:p>
            <a:pPr marL="742950" lvl="1" indent="-285750">
              <a:buFont typeface="+mj-lt"/>
              <a:buAutoNum type="arabicPeriod"/>
            </a:pPr>
            <a:r>
              <a:rPr lang="vi-VN" dirty="0">
                <a:latin typeface="+mj-lt"/>
              </a:rPr>
              <a:t>Điều này giúp cùng một ngôn ngữ hoặc công cụ có thể vận hành trên nhiều loại máy tính khác nhau.</a:t>
            </a:r>
          </a:p>
          <a:p>
            <a:r>
              <a:rPr lang="vi-VN" dirty="0">
                <a:latin typeface="+mj-lt"/>
              </a:rPr>
              <a:t>Nói ngắn gọn: </a:t>
            </a:r>
            <a:r>
              <a:rPr lang="vi-VN" b="1" dirty="0">
                <a:latin typeface="+mj-lt"/>
              </a:rPr>
              <a:t>Ứng dụng cross-platform cho phép một đoạn code có thể chạy trên nhiều hệ điều hành và kiến trúc phần cứng khác nhau, nhờ đó tiết kiệm công sức và tăng tính linh hoạt.</a:t>
            </a:r>
            <a:endParaRPr lang="vi-VN" dirty="0">
              <a:latin typeface="+mj-lt"/>
            </a:endParaRPr>
          </a:p>
          <a:p>
            <a:pPr marL="0" lvl="0" indent="0" algn="l" rtl="0">
              <a:spcBef>
                <a:spcPts val="0"/>
              </a:spcBef>
              <a:spcAft>
                <a:spcPts val="0"/>
              </a:spcAft>
              <a:buNone/>
            </a:pPr>
            <a:endParaRPr dirty="0">
              <a:latin typeface="+mj-lt"/>
            </a:endParaRPr>
          </a:p>
        </p:txBody>
      </p:sp>
      <p:sp>
        <p:nvSpPr>
          <p:cNvPr id="267" name="Google Shape;267;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a:buFont typeface="+mj-lt"/>
              <a:buAutoNum type="arabicPeriod"/>
            </a:pPr>
            <a:r>
              <a:rPr lang="vi-VN" b="1" dirty="0">
                <a:latin typeface="+mj-lt"/>
              </a:rPr>
              <a:t>.NET Standard là gì</a:t>
            </a:r>
            <a:endParaRPr lang="vi-VN" dirty="0">
              <a:latin typeface="+mj-lt"/>
            </a:endParaRPr>
          </a:p>
          <a:p>
            <a:pPr marL="742950" lvl="1" indent="-285750">
              <a:buFont typeface="+mj-lt"/>
              <a:buAutoNum type="arabicPeriod"/>
            </a:pPr>
            <a:r>
              <a:rPr lang="vi-VN" dirty="0">
                <a:latin typeface="+mj-lt"/>
              </a:rPr>
              <a:t>Là một </a:t>
            </a:r>
            <a:r>
              <a:rPr lang="vi-VN" b="1" dirty="0">
                <a:latin typeface="+mj-lt"/>
              </a:rPr>
              <a:t>specification (đặc tả chuẩn)</a:t>
            </a:r>
            <a:r>
              <a:rPr lang="vi-VN" dirty="0">
                <a:latin typeface="+mj-lt"/>
              </a:rPr>
              <a:t> có thể dùng cho tất cả các phiên bản .NET.</a:t>
            </a:r>
          </a:p>
          <a:p>
            <a:pPr marL="742950" lvl="1" indent="-285750">
              <a:buFont typeface="+mj-lt"/>
              <a:buAutoNum type="arabicPeriod"/>
            </a:pPr>
            <a:r>
              <a:rPr lang="vi-VN" dirty="0">
                <a:latin typeface="+mj-lt"/>
              </a:rPr>
              <a:t>Chủ yếu dùng để phát triển </a:t>
            </a:r>
            <a:r>
              <a:rPr lang="vi-VN" b="1" dirty="0">
                <a:latin typeface="+mj-lt"/>
              </a:rPr>
              <a:t>library (thư viện)</a:t>
            </a:r>
            <a:r>
              <a:rPr lang="vi-VN" dirty="0">
                <a:latin typeface="+mj-lt"/>
              </a:rPr>
              <a:t>.</a:t>
            </a:r>
          </a:p>
          <a:p>
            <a:pPr>
              <a:buFont typeface="+mj-lt"/>
              <a:buAutoNum type="arabicPeriod"/>
            </a:pPr>
            <a:r>
              <a:rPr lang="vi-VN" b="1" dirty="0">
                <a:latin typeface="+mj-lt"/>
              </a:rPr>
              <a:t>Ý nghĩa</a:t>
            </a:r>
            <a:endParaRPr lang="vi-VN" dirty="0">
              <a:latin typeface="+mj-lt"/>
            </a:endParaRPr>
          </a:p>
          <a:p>
            <a:pPr marL="742950" lvl="1" indent="-285750">
              <a:buFont typeface="+mj-lt"/>
              <a:buAutoNum type="arabicPeriod"/>
            </a:pPr>
            <a:r>
              <a:rPr lang="vi-VN" dirty="0">
                <a:latin typeface="+mj-lt"/>
              </a:rPr>
              <a:t>Khi tạo library bằng .NET Standard, có thể dùng được trong cả </a:t>
            </a:r>
            <a:r>
              <a:rPr lang="vi-VN" b="1" dirty="0">
                <a:latin typeface="+mj-lt"/>
              </a:rPr>
              <a:t>.NET Framework</a:t>
            </a:r>
            <a:r>
              <a:rPr lang="vi-VN" dirty="0">
                <a:latin typeface="+mj-lt"/>
              </a:rPr>
              <a:t> lẫn </a:t>
            </a:r>
            <a:r>
              <a:rPr lang="vi-VN" b="1" dirty="0">
                <a:latin typeface="+mj-lt"/>
              </a:rPr>
              <a:t>.NET Core</a:t>
            </a:r>
            <a:r>
              <a:rPr lang="vi-VN" dirty="0">
                <a:latin typeface="+mj-lt"/>
              </a:rPr>
              <a:t>.</a:t>
            </a:r>
          </a:p>
          <a:p>
            <a:pPr marL="742950" lvl="1" indent="-285750">
              <a:buFont typeface="+mj-lt"/>
              <a:buAutoNum type="arabicPeriod"/>
            </a:pPr>
            <a:r>
              <a:rPr lang="vi-VN" dirty="0">
                <a:latin typeface="+mj-lt"/>
              </a:rPr>
              <a:t>Giúp tạo sự </a:t>
            </a:r>
            <a:r>
              <a:rPr lang="vi-VN" b="1" dirty="0">
                <a:latin typeface="+mj-lt"/>
              </a:rPr>
              <a:t>thống nhất</a:t>
            </a:r>
            <a:r>
              <a:rPr lang="vi-VN" dirty="0">
                <a:latin typeface="+mj-lt"/>
              </a:rPr>
              <a:t> giữa các phiên bản .NET.</a:t>
            </a:r>
          </a:p>
          <a:p>
            <a:pPr>
              <a:buFont typeface="+mj-lt"/>
              <a:buAutoNum type="arabicPeriod"/>
            </a:pPr>
            <a:r>
              <a:rPr lang="vi-VN" b="1" dirty="0">
                <a:latin typeface="+mj-lt"/>
              </a:rPr>
              <a:t>Hỗ trợ đa nền tảng</a:t>
            </a:r>
            <a:endParaRPr lang="vi-VN" dirty="0">
              <a:latin typeface="+mj-lt"/>
            </a:endParaRPr>
          </a:p>
          <a:p>
            <a:pPr marL="742950" lvl="1" indent="-285750">
              <a:buFont typeface="+mj-lt"/>
              <a:buAutoNum type="arabicPeriod"/>
            </a:pPr>
            <a:r>
              <a:rPr lang="vi-VN" dirty="0">
                <a:latin typeface="+mj-lt"/>
              </a:rPr>
              <a:t>.NET Standard hỗ trợ nhiều nền tảng như:</a:t>
            </a:r>
          </a:p>
          <a:p>
            <a:pPr marL="1143000" lvl="2" indent="-228600">
              <a:buFont typeface="+mj-lt"/>
              <a:buAutoNum type="arabicPeriod"/>
            </a:pPr>
            <a:r>
              <a:rPr lang="vi-VN" b="1" dirty="0">
                <a:latin typeface="+mj-lt"/>
              </a:rPr>
              <a:t>Mono</a:t>
            </a:r>
            <a:r>
              <a:rPr lang="vi-VN" dirty="0">
                <a:latin typeface="+mj-lt"/>
              </a:rPr>
              <a:t> (ứng dụng đa nền tảng).</a:t>
            </a:r>
          </a:p>
          <a:p>
            <a:pPr marL="1143000" lvl="2" indent="-228600">
              <a:buFont typeface="+mj-lt"/>
              <a:buAutoNum type="arabicPeriod"/>
            </a:pPr>
            <a:r>
              <a:rPr lang="vi-VN" b="1" dirty="0">
                <a:latin typeface="+mj-lt"/>
              </a:rPr>
              <a:t>Xamarin</a:t>
            </a:r>
            <a:r>
              <a:rPr lang="vi-VN" dirty="0">
                <a:latin typeface="+mj-lt"/>
              </a:rPr>
              <a:t> (ứng dụng di động).</a:t>
            </a:r>
          </a:p>
          <a:p>
            <a:pPr marL="1143000" lvl="2" indent="-228600">
              <a:buFont typeface="+mj-lt"/>
              <a:buAutoNum type="arabicPeriod"/>
            </a:pPr>
            <a:r>
              <a:rPr lang="vi-VN" b="1" dirty="0">
                <a:latin typeface="+mj-lt"/>
              </a:rPr>
              <a:t>Universal Windows Platform (UWP)</a:t>
            </a:r>
            <a:r>
              <a:rPr lang="vi-VN" dirty="0">
                <a:latin typeface="+mj-lt"/>
              </a:rPr>
              <a:t>.</a:t>
            </a:r>
          </a:p>
          <a:p>
            <a:pPr marL="1143000" lvl="2" indent="-228600">
              <a:buFont typeface="+mj-lt"/>
              <a:buAutoNum type="arabicPeriod"/>
            </a:pPr>
            <a:r>
              <a:rPr lang="vi-VN" b="1" dirty="0">
                <a:latin typeface="+mj-lt"/>
              </a:rPr>
              <a:t>Unity</a:t>
            </a:r>
            <a:r>
              <a:rPr lang="vi-VN" dirty="0">
                <a:latin typeface="+mj-lt"/>
              </a:rPr>
              <a:t> (game engine).</a:t>
            </a:r>
          </a:p>
          <a:p>
            <a:r>
              <a:rPr lang="vi-VN" dirty="0">
                <a:latin typeface="+mj-lt"/>
              </a:rPr>
              <a:t>Nói ngắn gọn: </a:t>
            </a:r>
            <a:r>
              <a:rPr lang="vi-VN" b="1" dirty="0">
                <a:latin typeface="+mj-lt"/>
              </a:rPr>
              <a:t>.NET Standard là chuẩn chung để viết thư viện một lần nhưng có thể dùng cho nhiều phiên bản .NET và nhiều nền tảng khác nhau, giúp tiết kiệm công sức và đảm bảo tính thống nhất.</a:t>
            </a:r>
            <a:endParaRPr lang="vi-VN" dirty="0">
              <a:latin typeface="+mj-lt"/>
            </a:endParaRPr>
          </a:p>
          <a:p>
            <a:pPr marL="0" lvl="0" indent="0" algn="l" rtl="0">
              <a:spcBef>
                <a:spcPts val="0"/>
              </a:spcBef>
              <a:spcAft>
                <a:spcPts val="0"/>
              </a:spcAft>
              <a:buNone/>
            </a:pPr>
            <a:endParaRPr dirty="0">
              <a:latin typeface="+mj-lt"/>
            </a:endParaRPr>
          </a:p>
        </p:txBody>
      </p:sp>
      <p:sp>
        <p:nvSpPr>
          <p:cNvPr id="307" name="Google Shape;307;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5" name="Google Shape;315;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vi-VN" b="1" dirty="0"/>
              <a:t>🔹 .NET Core</a:t>
            </a:r>
          </a:p>
          <a:p>
            <a:pPr>
              <a:buFont typeface="Arial" panose="020B0604020202020204" pitchFamily="34" charset="0"/>
              <a:buChar char="•"/>
            </a:pPr>
            <a:r>
              <a:rPr lang="vi-VN" b="1" dirty="0"/>
              <a:t>Dùng cho:</a:t>
            </a:r>
            <a:r>
              <a:rPr lang="vi-VN" dirty="0"/>
              <a:t> phát triển ứng dụng mới.</a:t>
            </a:r>
          </a:p>
          <a:p>
            <a:pPr>
              <a:buFont typeface="Arial" panose="020B0604020202020204" pitchFamily="34" charset="0"/>
              <a:buChar char="•"/>
            </a:pPr>
            <a:r>
              <a:rPr lang="vi-VN" b="1" dirty="0"/>
              <a:t>Cross-platform:</a:t>
            </a:r>
            <a:r>
              <a:rPr lang="vi-VN" dirty="0"/>
              <a:t> có (Windows, Linux, macOS).</a:t>
            </a:r>
          </a:p>
          <a:p>
            <a:pPr>
              <a:buFont typeface="Arial" panose="020B0604020202020204" pitchFamily="34" charset="0"/>
              <a:buChar char="•"/>
            </a:pPr>
            <a:r>
              <a:rPr lang="vi-VN" b="1" dirty="0"/>
              <a:t>Hiệu năng:</a:t>
            </a:r>
            <a:r>
              <a:rPr lang="vi-VN" dirty="0"/>
              <a:t> cao.</a:t>
            </a:r>
          </a:p>
          <a:p>
            <a:pPr>
              <a:buFont typeface="Arial" panose="020B0604020202020204" pitchFamily="34" charset="0"/>
              <a:buChar char="•"/>
            </a:pPr>
            <a:r>
              <a:rPr lang="vi-VN" b="1" dirty="0"/>
              <a:t>Mã nguồn:</a:t>
            </a:r>
            <a:r>
              <a:rPr lang="vi-VN" dirty="0"/>
              <a:t> mở (open source).</a:t>
            </a:r>
          </a:p>
          <a:p>
            <a:pPr>
              <a:buFont typeface="Arial" panose="020B0604020202020204" pitchFamily="34" charset="0"/>
              <a:buChar char="•"/>
            </a:pPr>
            <a:r>
              <a:rPr lang="vi-VN" b="1" dirty="0"/>
              <a:t>Công cụ:</a:t>
            </a:r>
            <a:r>
              <a:rPr lang="vi-VN" dirty="0"/>
              <a:t> Visual Studio / Visual Studio Code.</a:t>
            </a:r>
          </a:p>
          <a:p>
            <a:pPr>
              <a:buFont typeface="Arial" panose="020B0604020202020204" pitchFamily="34" charset="0"/>
              <a:buChar char="•"/>
            </a:pPr>
            <a:r>
              <a:rPr lang="vi-VN" b="1" dirty="0"/>
              <a:t>Chi phí:</a:t>
            </a:r>
            <a:r>
              <a:rPr lang="vi-VN" dirty="0"/>
              <a:t> miễn phí.</a:t>
            </a:r>
          </a:p>
          <a:p>
            <a:r>
              <a:rPr lang="vi-VN" b="1" dirty="0"/>
              <a:t>🔹 .NET Framework</a:t>
            </a:r>
          </a:p>
          <a:p>
            <a:pPr>
              <a:buFont typeface="Arial" panose="020B0604020202020204" pitchFamily="34" charset="0"/>
              <a:buChar char="•"/>
            </a:pPr>
            <a:r>
              <a:rPr lang="vi-VN" b="1" dirty="0"/>
              <a:t>Dùng cho:</a:t>
            </a:r>
            <a:r>
              <a:rPr lang="vi-VN" dirty="0"/>
              <a:t> bảo trì ứng dụng cũ (legacy).</a:t>
            </a:r>
          </a:p>
          <a:p>
            <a:pPr>
              <a:buFont typeface="Arial" panose="020B0604020202020204" pitchFamily="34" charset="0"/>
              <a:buChar char="•"/>
            </a:pPr>
            <a:r>
              <a:rPr lang="vi-VN" b="1" dirty="0"/>
              <a:t>Cross-platform:</a:t>
            </a:r>
            <a:r>
              <a:rPr lang="vi-VN" dirty="0"/>
              <a:t> chỉ chạy trên Windows.</a:t>
            </a:r>
          </a:p>
          <a:p>
            <a:pPr>
              <a:buFont typeface="Arial" panose="020B0604020202020204" pitchFamily="34" charset="0"/>
              <a:buChar char="•"/>
            </a:pPr>
            <a:r>
              <a:rPr lang="vi-VN" b="1" dirty="0"/>
              <a:t>Hiệu năng:</a:t>
            </a:r>
            <a:r>
              <a:rPr lang="vi-VN" dirty="0"/>
              <a:t> trung bình.</a:t>
            </a:r>
          </a:p>
          <a:p>
            <a:pPr>
              <a:buFont typeface="Arial" panose="020B0604020202020204" pitchFamily="34" charset="0"/>
              <a:buChar char="•"/>
            </a:pPr>
            <a:r>
              <a:rPr lang="vi-VN" b="1" dirty="0"/>
              <a:t>Mã nguồn:</a:t>
            </a:r>
            <a:r>
              <a:rPr lang="vi-VN" dirty="0"/>
              <a:t> đóng (private).</a:t>
            </a:r>
          </a:p>
          <a:p>
            <a:pPr>
              <a:buFont typeface="Arial" panose="020B0604020202020204" pitchFamily="34" charset="0"/>
              <a:buChar char="•"/>
            </a:pPr>
            <a:r>
              <a:rPr lang="vi-VN" b="1" dirty="0"/>
              <a:t>Công cụ:</a:t>
            </a:r>
            <a:r>
              <a:rPr lang="vi-VN" dirty="0"/>
              <a:t> Visual Studio.</a:t>
            </a:r>
          </a:p>
          <a:p>
            <a:pPr>
              <a:buFont typeface="Arial" panose="020B0604020202020204" pitchFamily="34" charset="0"/>
              <a:buChar char="•"/>
            </a:pPr>
            <a:r>
              <a:rPr lang="vi-VN" b="1" dirty="0"/>
              <a:t>Chi phí:</a:t>
            </a:r>
            <a:r>
              <a:rPr lang="vi-VN" dirty="0"/>
              <a:t> miễn phí.</a:t>
            </a:r>
          </a:p>
          <a:p>
            <a:r>
              <a:rPr lang="vi-VN" b="1" dirty="0"/>
              <a:t>🔹 .NET Standard</a:t>
            </a:r>
          </a:p>
          <a:p>
            <a:pPr>
              <a:buFont typeface="Arial" panose="020B0604020202020204" pitchFamily="34" charset="0"/>
              <a:buChar char="•"/>
            </a:pPr>
            <a:r>
              <a:rPr lang="vi-VN" b="1" dirty="0"/>
              <a:t>Dùng cho:</a:t>
            </a:r>
            <a:r>
              <a:rPr lang="vi-VN" dirty="0"/>
              <a:t> phát triển </a:t>
            </a:r>
            <a:r>
              <a:rPr lang="vi-VN" b="1" dirty="0"/>
              <a:t>library</a:t>
            </a:r>
            <a:r>
              <a:rPr lang="vi-VN" dirty="0"/>
              <a:t> (thư viện) để tái sử dụng.</a:t>
            </a:r>
          </a:p>
          <a:p>
            <a:pPr>
              <a:buFont typeface="Arial" panose="020B0604020202020204" pitchFamily="34" charset="0"/>
              <a:buChar char="•"/>
            </a:pPr>
            <a:r>
              <a:rPr lang="vi-VN" b="1" dirty="0"/>
              <a:t>Cross-platform:</a:t>
            </a:r>
            <a:r>
              <a:rPr lang="vi-VN" dirty="0"/>
              <a:t> có.</a:t>
            </a:r>
          </a:p>
          <a:p>
            <a:pPr>
              <a:buFont typeface="Arial" panose="020B0604020202020204" pitchFamily="34" charset="0"/>
              <a:buChar char="•"/>
            </a:pPr>
            <a:r>
              <a:rPr lang="vi-VN" b="1" dirty="0"/>
              <a:t>Mã nguồn:</a:t>
            </a:r>
            <a:r>
              <a:rPr lang="vi-VN" dirty="0"/>
              <a:t> mở (open source).</a:t>
            </a:r>
          </a:p>
          <a:p>
            <a:pPr>
              <a:buFont typeface="Arial" panose="020B0604020202020204" pitchFamily="34" charset="0"/>
              <a:buChar char="•"/>
            </a:pPr>
            <a:r>
              <a:rPr lang="vi-VN" b="1" dirty="0"/>
              <a:t>Công cụ:</a:t>
            </a:r>
            <a:r>
              <a:rPr lang="vi-VN" dirty="0"/>
              <a:t> Visual Studio / Visual Studio Code.</a:t>
            </a:r>
          </a:p>
          <a:p>
            <a:pPr>
              <a:buFont typeface="Arial" panose="020B0604020202020204" pitchFamily="34" charset="0"/>
              <a:buChar char="•"/>
            </a:pPr>
            <a:r>
              <a:rPr lang="vi-VN" b="1" dirty="0"/>
              <a:t>Chi phí:</a:t>
            </a:r>
            <a:r>
              <a:rPr lang="vi-VN" dirty="0"/>
              <a:t> miễn phí.</a:t>
            </a:r>
          </a:p>
          <a:p>
            <a:r>
              <a:rPr lang="vi-VN" dirty="0"/>
              <a:t>👉 Nói ngắn gọn:</a:t>
            </a:r>
          </a:p>
          <a:p>
            <a:pPr>
              <a:buFont typeface="Arial" panose="020B0604020202020204" pitchFamily="34" charset="0"/>
              <a:buChar char="•"/>
            </a:pPr>
            <a:r>
              <a:rPr lang="vi-VN" b="1" dirty="0"/>
              <a:t>.NET Core</a:t>
            </a:r>
            <a:r>
              <a:rPr lang="vi-VN" dirty="0"/>
              <a:t>: tốt cho ứng dụng mới, đa nền tảng, hiệu năng cao.</a:t>
            </a:r>
          </a:p>
          <a:p>
            <a:pPr>
              <a:buFont typeface="Arial" panose="020B0604020202020204" pitchFamily="34" charset="0"/>
              <a:buChar char="•"/>
            </a:pPr>
            <a:r>
              <a:rPr lang="vi-VN" b="1" dirty="0"/>
              <a:t>.NET Framework</a:t>
            </a:r>
            <a:r>
              <a:rPr lang="vi-VN" dirty="0"/>
              <a:t>: duy trì ứng dụng cũ, chỉ Windows.</a:t>
            </a:r>
          </a:p>
          <a:p>
            <a:pPr>
              <a:buFont typeface="Arial" panose="020B0604020202020204" pitchFamily="34" charset="0"/>
              <a:buChar char="•"/>
            </a:pPr>
            <a:r>
              <a:rPr lang="vi-VN" b="1" dirty="0"/>
              <a:t>.NET Standard</a:t>
            </a:r>
            <a:r>
              <a:rPr lang="vi-VN" dirty="0"/>
              <a:t>: chuẩn để viết thư viện dùng chung cho nhiều nền tảng.</a:t>
            </a:r>
          </a:p>
          <a:p>
            <a:pPr marL="0" lvl="0" indent="0" algn="l" rtl="0">
              <a:spcBef>
                <a:spcPts val="0"/>
              </a:spcBef>
              <a:spcAft>
                <a:spcPts val="0"/>
              </a:spcAft>
              <a:buNone/>
            </a:pPr>
            <a:endParaRPr dirty="0"/>
          </a:p>
        </p:txBody>
      </p:sp>
      <p:sp>
        <p:nvSpPr>
          <p:cNvPr id="316" name="Google Shape;316;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5" name="Google Shape;315;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6" name="Google Shape;316;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4" name="Google Shape;324;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a:buFont typeface="+mj-lt"/>
              <a:buAutoNum type="arabicPeriod"/>
            </a:pPr>
            <a:r>
              <a:rPr lang="vi-VN" b="1" dirty="0"/>
              <a:t>Java interoperability</a:t>
            </a:r>
            <a:endParaRPr lang="vi-VN" dirty="0"/>
          </a:p>
          <a:p>
            <a:pPr marL="742950" lvl="1" indent="-285750">
              <a:buFont typeface="+mj-lt"/>
              <a:buAutoNum type="arabicPeriod"/>
            </a:pPr>
            <a:r>
              <a:rPr lang="vi-VN" dirty="0"/>
              <a:t>Có thể tương tác với Java trên tất cả các nền tảng.</a:t>
            </a:r>
          </a:p>
          <a:p>
            <a:pPr>
              <a:buFont typeface="+mj-lt"/>
              <a:buAutoNum type="arabicPeriod"/>
            </a:pPr>
            <a:r>
              <a:rPr lang="vi-VN" b="1" dirty="0"/>
              <a:t>Objective-C và Swift interoperability</a:t>
            </a:r>
            <a:endParaRPr lang="vi-VN" dirty="0"/>
          </a:p>
          <a:p>
            <a:pPr marL="742950" lvl="1" indent="-285750">
              <a:buFont typeface="+mj-lt"/>
              <a:buAutoNum type="arabicPeriod"/>
            </a:pPr>
            <a:r>
              <a:rPr lang="vi-VN" dirty="0"/>
              <a:t>Hỗ trợ giao tiếp với Objective-C và Swift trên nhiều hệ điều hành.</a:t>
            </a:r>
          </a:p>
          <a:p>
            <a:pPr marL="742950" lvl="1" indent="-285750">
              <a:buFont typeface="+mj-lt"/>
              <a:buAutoNum type="arabicPeriod"/>
            </a:pPr>
            <a:r>
              <a:rPr lang="vi-VN" dirty="0"/>
              <a:t>Tức là giúp phát triển ứng dụng cross-platform dễ dàng hơn, đặc biệt với iOS/macOS.</a:t>
            </a:r>
          </a:p>
          <a:p>
            <a:pPr>
              <a:buFont typeface="+mj-lt"/>
              <a:buAutoNum type="arabicPeriod"/>
            </a:pPr>
            <a:r>
              <a:rPr lang="vi-VN" b="1" dirty="0"/>
              <a:t>CoreFX mở rộng</a:t>
            </a:r>
            <a:endParaRPr lang="vi-VN" dirty="0"/>
          </a:p>
          <a:p>
            <a:pPr marL="742950" lvl="1" indent="-285750">
              <a:buFont typeface="+mj-lt"/>
              <a:buAutoNum type="arabicPeriod"/>
            </a:pPr>
            <a:r>
              <a:rPr lang="vi-VN" dirty="0"/>
              <a:t>Hỗ trợ biên dịch tĩnh (AOT – Ahead-of-Time).</a:t>
            </a:r>
          </a:p>
          <a:p>
            <a:pPr marL="742950" lvl="1" indent="-285750">
              <a:buFont typeface="+mj-lt"/>
              <a:buAutoNum type="arabicPeriod"/>
            </a:pPr>
            <a:r>
              <a:rPr lang="vi-VN" dirty="0"/>
              <a:t>Giúp ứng dụng khởi động nhanh hơn, gọn nhẹ hơn (smaller footprints).</a:t>
            </a:r>
          </a:p>
          <a:p>
            <a:pPr marL="742950" lvl="1" indent="-285750">
              <a:buFont typeface="+mj-lt"/>
              <a:buAutoNum type="arabicPeriod"/>
            </a:pPr>
            <a:r>
              <a:rPr lang="vi-VN" dirty="0"/>
              <a:t>Chạy được trên nhiều hệ điều hành hơn.</a:t>
            </a:r>
          </a:p>
          <a:p>
            <a:r>
              <a:rPr lang="vi-VN" dirty="0"/>
              <a:t>Nói ngắn gọn: </a:t>
            </a:r>
            <a:r>
              <a:rPr lang="vi-VN" b="1" dirty="0"/>
              <a:t>.NET 8 bổ sung khả năng tương tác với Java, Objective-C và Swift, đồng thời mở rộng CoreFX để hỗ trợ biên dịch AOT, giúp ứng dụng nhẹ và chạy nhanh hơn trên nhiều hệ điều hành.</a:t>
            </a:r>
            <a:endParaRPr lang="vi-VN" dirty="0"/>
          </a:p>
          <a:p>
            <a:pPr marL="0" lvl="0" indent="0" algn="l" rtl="0">
              <a:spcBef>
                <a:spcPts val="0"/>
              </a:spcBef>
              <a:spcAft>
                <a:spcPts val="0"/>
              </a:spcAft>
              <a:buNone/>
            </a:pPr>
            <a:endParaRPr dirty="0"/>
          </a:p>
        </p:txBody>
      </p:sp>
      <p:sp>
        <p:nvSpPr>
          <p:cNvPr id="325" name="Google Shape;325;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3" name="Google Shape;333;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.NET Framework 1.0 was released Feb 13,  2002</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.NET Core 1.0 was released on June 27, 2016</a:t>
            </a:r>
          </a:p>
          <a:p>
            <a:pPr marL="0" lvl="0" indent="0" algn="l" rtl="0">
              <a:spcBef>
                <a:spcPts val="0"/>
              </a:spcBef>
              <a:spcAft>
                <a:spcPts val="0"/>
              </a:spcAft>
              <a:buNone/>
            </a:pPr>
            <a:endParaRPr lang="en-US" dirty="0"/>
          </a:p>
          <a:p>
            <a:pPr>
              <a:buFont typeface="+mj-lt"/>
              <a:buAutoNum type="arabicPeriod"/>
            </a:pPr>
            <a:r>
              <a:rPr lang="vi-VN" b="1" dirty="0"/>
              <a:t>Open Source</a:t>
            </a:r>
            <a:endParaRPr lang="vi-VN" dirty="0"/>
          </a:p>
          <a:p>
            <a:pPr marL="742950" lvl="1" indent="-285750">
              <a:buFont typeface="+mj-lt"/>
              <a:buAutoNum type="arabicPeriod"/>
            </a:pPr>
            <a:r>
              <a:rPr lang="vi-VN" dirty="0"/>
              <a:t>Mã nguồn mở, có cộng đồng hỗ trợ trên GitHub.</a:t>
            </a:r>
          </a:p>
          <a:p>
            <a:pPr>
              <a:buFont typeface="+mj-lt"/>
              <a:buAutoNum type="arabicPeriod"/>
            </a:pPr>
            <a:r>
              <a:rPr lang="vi-VN" b="1" dirty="0"/>
              <a:t>Cross-Platform</a:t>
            </a:r>
            <a:endParaRPr lang="vi-VN" dirty="0"/>
          </a:p>
          <a:p>
            <a:pPr marL="742950" lvl="1" indent="-285750">
              <a:buFont typeface="+mj-lt"/>
              <a:buAutoNum type="arabicPeriod"/>
            </a:pPr>
            <a:r>
              <a:rPr lang="vi-VN" dirty="0"/>
              <a:t>.NET Core chạy được trên </a:t>
            </a:r>
            <a:r>
              <a:rPr lang="vi-VN" b="1" dirty="0"/>
              <a:t>Windows, Linux, macOS</a:t>
            </a:r>
            <a:r>
              <a:rPr lang="vi-VN" dirty="0"/>
              <a:t>.</a:t>
            </a:r>
          </a:p>
          <a:p>
            <a:pPr>
              <a:buFont typeface="+mj-lt"/>
              <a:buAutoNum type="arabicPeriod"/>
            </a:pPr>
            <a:r>
              <a:rPr lang="vi-VN" b="1" dirty="0"/>
              <a:t>Command-line tools</a:t>
            </a:r>
            <a:endParaRPr lang="vi-VN" dirty="0"/>
          </a:p>
          <a:p>
            <a:pPr marL="742950" lvl="1" indent="-285750">
              <a:buFont typeface="+mj-lt"/>
              <a:buAutoNum type="arabicPeriod"/>
            </a:pPr>
            <a:r>
              <a:rPr lang="vi-VN" dirty="0"/>
              <a:t>Hỗ trợ tạo, build, chạy project trực tiếp từ command line.</a:t>
            </a:r>
          </a:p>
          <a:p>
            <a:pPr>
              <a:buFont typeface="+mj-lt"/>
              <a:buAutoNum type="arabicPeriod"/>
            </a:pPr>
            <a:r>
              <a:rPr lang="vi-VN" b="1" dirty="0"/>
              <a:t>Modular</a:t>
            </a:r>
            <a:endParaRPr lang="vi-VN" dirty="0"/>
          </a:p>
          <a:p>
            <a:pPr marL="742950" lvl="1" indent="-285750">
              <a:buFont typeface="+mj-lt"/>
              <a:buAutoNum type="arabicPeriod"/>
            </a:pPr>
            <a:r>
              <a:rPr lang="vi-VN" dirty="0"/>
              <a:t>Sử dụng các gói </a:t>
            </a:r>
            <a:r>
              <a:rPr lang="vi-VN" b="1" dirty="0"/>
              <a:t>NuGet</a:t>
            </a:r>
            <a:r>
              <a:rPr lang="vi-VN" dirty="0"/>
              <a:t> để cài đặt và quản lý tính năng.</a:t>
            </a:r>
          </a:p>
          <a:p>
            <a:pPr>
              <a:buFont typeface="+mj-lt"/>
              <a:buAutoNum type="arabicPeriod"/>
            </a:pPr>
            <a:r>
              <a:rPr lang="vi-VN" b="1" dirty="0"/>
              <a:t>Host Agnostic</a:t>
            </a:r>
            <a:endParaRPr lang="vi-VN" dirty="0"/>
          </a:p>
          <a:p>
            <a:pPr marL="742950" lvl="1" indent="-285750">
              <a:buFont typeface="+mj-lt"/>
              <a:buAutoNum type="arabicPeriod"/>
            </a:pPr>
            <a:r>
              <a:rPr lang="vi-VN" dirty="0"/>
              <a:t>Không phụ thuộc vào IIS.</a:t>
            </a:r>
          </a:p>
          <a:p>
            <a:pPr marL="742950" lvl="1" indent="-285750">
              <a:buFont typeface="+mj-lt"/>
              <a:buAutoNum type="arabicPeriod"/>
            </a:pPr>
            <a:r>
              <a:rPr lang="vi-VN" dirty="0"/>
              <a:t>Có thể chạy với server nhẹ như </a:t>
            </a:r>
            <a:r>
              <a:rPr lang="vi-VN" b="1" dirty="0"/>
              <a:t>Kestrel</a:t>
            </a:r>
            <a:r>
              <a:rPr lang="vi-VN" dirty="0"/>
              <a:t> và </a:t>
            </a:r>
            <a:r>
              <a:rPr lang="vi-VN" b="1" dirty="0"/>
              <a:t>WebListener</a:t>
            </a:r>
            <a:r>
              <a:rPr lang="vi-VN" dirty="0"/>
              <a:t>.</a:t>
            </a:r>
          </a:p>
          <a:p>
            <a:pPr marL="742950" lvl="1" indent="-285750">
              <a:buFont typeface="+mj-lt"/>
              <a:buAutoNum type="arabicPeriod"/>
            </a:pPr>
            <a:r>
              <a:rPr lang="vi-VN" dirty="0"/>
              <a:t>Có thể self-host như Console App hoặc tích hợp với server lớn (IIS, Apache) qua reverse proxy.</a:t>
            </a:r>
          </a:p>
          <a:p>
            <a:r>
              <a:rPr lang="vi-VN" dirty="0"/>
              <a:t>Nói ngắn gọn: </a:t>
            </a:r>
            <a:r>
              <a:rPr lang="vi-VN" b="1" dirty="0"/>
              <a:t>.NET mang lại nhiều lợi ích như mã nguồn mở, chạy đa nền tảng, hỗ trợ CLI, dễ mở rộng bằng NuGet, và linh hoạt khi triển khai trên nhiều loại server.</a:t>
            </a:r>
            <a:endParaRPr lang="vi-VN" dirty="0"/>
          </a:p>
          <a:p>
            <a:pPr marL="0" lvl="0" indent="0" algn="l" rtl="0">
              <a:spcBef>
                <a:spcPts val="0"/>
              </a:spcBef>
              <a:spcAft>
                <a:spcPts val="0"/>
              </a:spcAft>
              <a:buNone/>
            </a:pPr>
            <a:endParaRPr dirty="0"/>
          </a:p>
        </p:txBody>
      </p:sp>
      <p:sp>
        <p:nvSpPr>
          <p:cNvPr id="334" name="Google Shape;334;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1" name="Google Shape;351;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.NET Framework 1.0 was released Feb 13,  2002</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.NET Core 1.0 was released on June 27, 2016 </a:t>
            </a:r>
          </a:p>
          <a:p>
            <a:pPr marL="0" lvl="0" indent="0" algn="l" rtl="0">
              <a:spcBef>
                <a:spcPts val="0"/>
              </a:spcBef>
              <a:spcAft>
                <a:spcPts val="0"/>
              </a:spcAft>
              <a:buNone/>
            </a:pPr>
            <a:endParaRPr lang="en-US" dirty="0"/>
          </a:p>
          <a:p>
            <a:pPr>
              <a:buFont typeface="+mj-lt"/>
              <a:buAutoNum type="arabicPeriod"/>
            </a:pPr>
            <a:r>
              <a:rPr lang="vi-VN" b="1" dirty="0"/>
              <a:t>Hỗ trợ tận dụng đặc thù từng nền tảng</a:t>
            </a:r>
            <a:endParaRPr lang="vi-VN" dirty="0"/>
          </a:p>
          <a:p>
            <a:pPr marL="742950" lvl="1" indent="-285750">
              <a:buFont typeface="+mj-lt"/>
              <a:buAutoNum type="arabicPeriod"/>
            </a:pPr>
            <a:r>
              <a:rPr lang="vi-VN" dirty="0"/>
              <a:t>Ví dụ: </a:t>
            </a:r>
            <a:r>
              <a:rPr lang="vi-VN" b="1" dirty="0"/>
              <a:t>Windows Forms</a:t>
            </a:r>
            <a:r>
              <a:rPr lang="vi-VN" dirty="0"/>
              <a:t> và </a:t>
            </a:r>
            <a:r>
              <a:rPr lang="vi-VN" b="1" dirty="0"/>
              <a:t>WPF (Windows Presentation Foundation)</a:t>
            </a:r>
            <a:r>
              <a:rPr lang="vi-VN" dirty="0"/>
              <a:t> trên Windows.</a:t>
            </a:r>
          </a:p>
          <a:p>
            <a:pPr marL="742950" lvl="1" indent="-285750">
              <a:buFont typeface="+mj-lt"/>
              <a:buAutoNum type="arabicPeriod"/>
            </a:pPr>
            <a:r>
              <a:rPr lang="vi-VN" b="1" dirty="0"/>
              <a:t>Xamarin</a:t>
            </a:r>
            <a:r>
              <a:rPr lang="vi-VN" dirty="0"/>
              <a:t> để kết nối với native platform trên mobile.</a:t>
            </a:r>
          </a:p>
          <a:p>
            <a:pPr>
              <a:buFont typeface="+mj-lt"/>
              <a:buAutoNum type="arabicPeriod"/>
            </a:pPr>
            <a:r>
              <a:rPr lang="vi-VN" b="1" dirty="0"/>
              <a:t>High performance</a:t>
            </a:r>
            <a:endParaRPr lang="vi-VN" dirty="0"/>
          </a:p>
          <a:p>
            <a:pPr marL="742950" lvl="1" indent="-285750">
              <a:buFont typeface="+mj-lt"/>
              <a:buAutoNum type="arabicPeriod"/>
            </a:pPr>
            <a:r>
              <a:rPr lang="vi-VN" dirty="0"/>
              <a:t>Ứng dụng chạy nhanh, hiệu năng cao.</a:t>
            </a:r>
          </a:p>
          <a:p>
            <a:pPr>
              <a:buFont typeface="+mj-lt"/>
              <a:buAutoNum type="arabicPeriod"/>
            </a:pPr>
            <a:r>
              <a:rPr lang="vi-VN" b="1" dirty="0"/>
              <a:t>Side-by-side installation</a:t>
            </a:r>
            <a:endParaRPr lang="vi-VN" dirty="0"/>
          </a:p>
          <a:p>
            <a:pPr marL="742950" lvl="1" indent="-285750">
              <a:buFont typeface="+mj-lt"/>
              <a:buAutoNum type="arabicPeriod"/>
            </a:pPr>
            <a:r>
              <a:rPr lang="vi-VN" dirty="0"/>
              <a:t>Có thể cài đặt nhiều phiên bản .NET cùng lúc mà không bị xung đột.</a:t>
            </a:r>
          </a:p>
          <a:p>
            <a:pPr>
              <a:buFont typeface="+mj-lt"/>
              <a:buAutoNum type="arabicPeriod"/>
            </a:pPr>
            <a:r>
              <a:rPr lang="vi-VN" b="1" dirty="0"/>
              <a:t>Small project files (SDK-style)</a:t>
            </a:r>
            <a:endParaRPr lang="vi-VN" dirty="0"/>
          </a:p>
          <a:p>
            <a:pPr marL="742950" lvl="1" indent="-285750">
              <a:buFont typeface="+mj-lt"/>
              <a:buAutoNum type="arabicPeriod"/>
            </a:pPr>
            <a:r>
              <a:rPr lang="vi-VN" dirty="0"/>
              <a:t>Cấu trúc file dự án gọn nhẹ, dễ quản lý.</a:t>
            </a:r>
          </a:p>
          <a:p>
            <a:pPr>
              <a:buFont typeface="+mj-lt"/>
              <a:buAutoNum type="arabicPeriod"/>
            </a:pPr>
            <a:r>
              <a:rPr lang="vi-VN" b="1" dirty="0"/>
              <a:t>IDE đa dạng</a:t>
            </a:r>
            <a:endParaRPr lang="vi-VN" dirty="0"/>
          </a:p>
          <a:p>
            <a:pPr marL="742950" lvl="1" indent="-285750">
              <a:buFont typeface="+mj-lt"/>
              <a:buAutoNum type="arabicPeriod"/>
            </a:pPr>
            <a:r>
              <a:rPr lang="vi-VN" dirty="0"/>
              <a:t>Hỗ trợ nhiều công cụ: Visual Studio, Visual Studio for Mac, và Visual Studio Code.</a:t>
            </a:r>
          </a:p>
          <a:p>
            <a:r>
              <a:rPr lang="vi-VN" dirty="0"/>
              <a:t>Nói ngắn gọn: </a:t>
            </a:r>
            <a:r>
              <a:rPr lang="vi-VN" b="1" dirty="0"/>
              <a:t>.NET vừa mạnh mẽ, vừa linh hoạt, hỗ trợ tốt từ ứng dụng desktop (Windows Forms, WPF), ứng dụng mobile (Xamarin), cho tới phát triển đa nền tảng với nhiều IDE khác nhau.</a:t>
            </a:r>
            <a:endParaRPr lang="vi-VN" dirty="0"/>
          </a:p>
          <a:p>
            <a:pPr marL="0" lvl="0" indent="0" algn="l" rtl="0">
              <a:spcBef>
                <a:spcPts val="0"/>
              </a:spcBef>
              <a:spcAft>
                <a:spcPts val="0"/>
              </a:spcAft>
              <a:buNone/>
            </a:pPr>
            <a:endParaRPr dirty="0"/>
          </a:p>
        </p:txBody>
      </p:sp>
      <p:sp>
        <p:nvSpPr>
          <p:cNvPr id="352" name="Google Shape;352;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a:buFont typeface="+mj-lt"/>
              <a:buAutoNum type="arabicPeriod"/>
            </a:pPr>
            <a:r>
              <a:rPr lang="vi-VN" b="1" dirty="0"/>
              <a:t>Nguồn gốc</a:t>
            </a:r>
            <a:endParaRPr lang="vi-VN" dirty="0"/>
          </a:p>
          <a:p>
            <a:pPr marL="742950" lvl="1" indent="-285750">
              <a:buFont typeface="+mj-lt"/>
              <a:buAutoNum type="arabicPeriod"/>
            </a:pPr>
            <a:r>
              <a:rPr lang="vi-VN" dirty="0"/>
              <a:t>C# được phát triển bởi </a:t>
            </a:r>
            <a:r>
              <a:rPr lang="vi-VN" b="1" dirty="0"/>
              <a:t>Anders Hejlsberg</a:t>
            </a:r>
            <a:r>
              <a:rPr lang="vi-VN" dirty="0"/>
              <a:t> và nhóm của ông trong quá trình xây dựng .NET.</a:t>
            </a:r>
          </a:p>
          <a:p>
            <a:pPr>
              <a:buFont typeface="+mj-lt"/>
              <a:buAutoNum type="arabicPeriod"/>
            </a:pPr>
            <a:r>
              <a:rPr lang="vi-VN" b="1" dirty="0"/>
              <a:t>Đặc điểm của C#</a:t>
            </a:r>
            <a:endParaRPr lang="vi-VN" dirty="0"/>
          </a:p>
          <a:p>
            <a:pPr marL="742950" lvl="1" indent="-285750">
              <a:buFont typeface="+mj-lt"/>
              <a:buAutoNum type="arabicPeriod"/>
            </a:pPr>
            <a:r>
              <a:rPr lang="vi-VN" dirty="0"/>
              <a:t>Là ngôn ngữ </a:t>
            </a:r>
            <a:r>
              <a:rPr lang="vi-VN" b="1" dirty="0"/>
              <a:t>hiện đại, hướng đối tượng, an toàn kiểu dữ liệu (type-safe)</a:t>
            </a:r>
            <a:r>
              <a:rPr lang="vi-VN" dirty="0"/>
              <a:t>.</a:t>
            </a:r>
          </a:p>
          <a:p>
            <a:pPr marL="742950" lvl="1" indent="-285750">
              <a:buFont typeface="+mj-lt"/>
              <a:buAutoNum type="arabicPeriod"/>
            </a:pPr>
            <a:r>
              <a:rPr lang="vi-VN" dirty="0"/>
              <a:t>Cho phép lập trình viên tạo nhiều loại ứng dụng an toàn, mạnh mẽ chạy trong hệ sinh thái .NET.</a:t>
            </a:r>
          </a:p>
          <a:p>
            <a:pPr marL="742950" lvl="1" indent="-285750">
              <a:buFont typeface="+mj-lt"/>
              <a:buAutoNum type="arabicPeriod"/>
            </a:pPr>
            <a:r>
              <a:rPr lang="vi-VN" dirty="0"/>
              <a:t>Có gốc rễ từ họ ngôn ngữ C → quen thuộc với người biết C, C++, Java, JavaScript.</a:t>
            </a:r>
          </a:p>
          <a:p>
            <a:pPr>
              <a:buFont typeface="+mj-lt"/>
              <a:buAutoNum type="arabicPeriod"/>
            </a:pPr>
            <a:r>
              <a:rPr lang="vi-VN" b="1" dirty="0"/>
              <a:t>Hỗ trợ hạ tầng chung (CLI – Common Language Infrastructure)</a:t>
            </a:r>
            <a:endParaRPr lang="vi-VN" dirty="0"/>
          </a:p>
          <a:p>
            <a:pPr marL="742950" lvl="1" indent="-285750">
              <a:buFont typeface="+mj-lt"/>
              <a:buAutoNum type="arabicPeriod"/>
            </a:pPr>
            <a:r>
              <a:rPr lang="vi-VN" dirty="0"/>
              <a:t>C# được thiết kế cho CLI, bao gồm code thực thi và môi trường runtime.</a:t>
            </a:r>
          </a:p>
          <a:p>
            <a:pPr marL="742950" lvl="1" indent="-285750">
              <a:buFont typeface="+mj-lt"/>
              <a:buAutoNum type="arabicPeriod"/>
            </a:pPr>
            <a:r>
              <a:rPr lang="vi-VN" dirty="0"/>
              <a:t>Cho phép sử dụng nhiều ngôn ngữ bậc cao khác nhau trên nhiều nền tảng và kiến trúc máy tính.</a:t>
            </a:r>
          </a:p>
          <a:p>
            <a:r>
              <a:rPr lang="vi-VN" dirty="0"/>
              <a:t>Nói ngắn gọn: </a:t>
            </a:r>
            <a:r>
              <a:rPr lang="vi-VN" b="1" dirty="0"/>
              <a:t>C# được chọn vì nó hiện đại, hướng đối tượng, an toàn, quen thuộc với nhiều lập trình viên, và được thiết kế để chạy hiệu quả trong hệ sinh thái .NET và nhiều nền tảng khác nhau.</a:t>
            </a:r>
            <a:endParaRPr lang="vi-VN" dirty="0"/>
          </a:p>
          <a:p>
            <a:pPr marL="0" lvl="0" indent="0" algn="l" rtl="0">
              <a:spcBef>
                <a:spcPts val="0"/>
              </a:spcBef>
              <a:spcAft>
                <a:spcPts val="0"/>
              </a:spcAft>
              <a:buNone/>
            </a:pPr>
            <a:endParaRPr dirty="0"/>
          </a:p>
        </p:txBody>
      </p:sp>
      <p:sp>
        <p:nvSpPr>
          <p:cNvPr id="369" name="Google Shape;369;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vi-VN" b="1" dirty="0"/>
              <a:t>Các lý do khiến C# được sử dụng rộng rãi:</a:t>
            </a:r>
          </a:p>
          <a:p>
            <a:pPr>
              <a:buFont typeface="Arial" panose="020B0604020202020204" pitchFamily="34" charset="0"/>
              <a:buChar char="•"/>
            </a:pPr>
            <a:r>
              <a:rPr lang="vi-VN" b="1" dirty="0"/>
              <a:t>Modern &amp; General-purpose</a:t>
            </a:r>
            <a:r>
              <a:rPr lang="vi-VN" dirty="0"/>
              <a:t>: ngôn ngữ hiện đại, đa mục đích.</a:t>
            </a:r>
          </a:p>
          <a:p>
            <a:pPr>
              <a:buFont typeface="Arial" panose="020B0604020202020204" pitchFamily="34" charset="0"/>
              <a:buChar char="•"/>
            </a:pPr>
            <a:r>
              <a:rPr lang="vi-VN" b="1" dirty="0"/>
              <a:t>Object-oriented</a:t>
            </a:r>
            <a:r>
              <a:rPr lang="vi-VN" dirty="0"/>
              <a:t>: hỗ trợ lập trình hướng đối tượng.</a:t>
            </a:r>
          </a:p>
          <a:p>
            <a:pPr>
              <a:buFont typeface="Arial" panose="020B0604020202020204" pitchFamily="34" charset="0"/>
              <a:buChar char="•"/>
            </a:pPr>
            <a:r>
              <a:rPr lang="vi-VN" b="1" dirty="0"/>
              <a:t>Component-oriented</a:t>
            </a:r>
            <a:r>
              <a:rPr lang="vi-VN" dirty="0"/>
              <a:t>: dễ phát triển ứng dụng theo từng thành phần.</a:t>
            </a:r>
          </a:p>
          <a:p>
            <a:pPr>
              <a:buFont typeface="Arial" panose="020B0604020202020204" pitchFamily="34" charset="0"/>
              <a:buChar char="•"/>
            </a:pPr>
            <a:r>
              <a:rPr lang="vi-VN" b="1" dirty="0"/>
              <a:t>Easy to learn</a:t>
            </a:r>
            <a:r>
              <a:rPr lang="vi-VN" dirty="0"/>
              <a:t>: cú pháp quen thuộc, học nhanh.</a:t>
            </a:r>
          </a:p>
          <a:p>
            <a:pPr>
              <a:buFont typeface="Arial" panose="020B0604020202020204" pitchFamily="34" charset="0"/>
              <a:buChar char="•"/>
            </a:pPr>
            <a:r>
              <a:rPr lang="vi-VN" b="1" dirty="0"/>
              <a:t>Structured language</a:t>
            </a:r>
            <a:r>
              <a:rPr lang="vi-VN" dirty="0"/>
              <a:t>: có cấu trúc rõ ràng.</a:t>
            </a:r>
          </a:p>
          <a:p>
            <a:pPr>
              <a:buFont typeface="Arial" panose="020B0604020202020204" pitchFamily="34" charset="0"/>
              <a:buChar char="•"/>
            </a:pPr>
            <a:r>
              <a:rPr lang="vi-VN" b="1" dirty="0"/>
              <a:t>Efficient programs</a:t>
            </a:r>
            <a:r>
              <a:rPr lang="vi-VN" dirty="0"/>
              <a:t>: tạo ra chương trình hiệu quả, tối ưu.</a:t>
            </a:r>
          </a:p>
          <a:p>
            <a:pPr>
              <a:buFont typeface="Arial" panose="020B0604020202020204" pitchFamily="34" charset="0"/>
              <a:buChar char="•"/>
            </a:pPr>
            <a:r>
              <a:rPr lang="vi-VN" b="1" dirty="0"/>
              <a:t>Cross-platform compilation</a:t>
            </a:r>
            <a:r>
              <a:rPr lang="vi-VN" dirty="0"/>
              <a:t>: có thể biên dịch và chạy trên nhiều nền tảng.</a:t>
            </a:r>
          </a:p>
          <a:p>
            <a:pPr>
              <a:buFont typeface="Arial" panose="020B0604020202020204" pitchFamily="34" charset="0"/>
              <a:buChar char="•"/>
            </a:pPr>
            <a:r>
              <a:rPr lang="vi-VN" b="1" dirty="0"/>
              <a:t>Part of .NET</a:t>
            </a:r>
            <a:r>
              <a:rPr lang="vi-VN" dirty="0"/>
              <a:t>: tích hợp chặt chẽ trong hệ sinh thái .NET.</a:t>
            </a:r>
          </a:p>
          <a:p>
            <a:r>
              <a:rPr lang="vi-VN" dirty="0"/>
              <a:t>Cuối slide còn link tài liệu tham khảo về các tính năng của C#:</a:t>
            </a:r>
            <a:br>
              <a:rPr lang="vi-VN" dirty="0"/>
            </a:br>
            <a:r>
              <a:rPr lang="vi-VN" dirty="0"/>
              <a:t>🔗 C# Language Reference</a:t>
            </a:r>
          </a:p>
          <a:p>
            <a:r>
              <a:rPr lang="vi-VN" dirty="0"/>
              <a:t>Nói ngắn gọn: </a:t>
            </a:r>
            <a:r>
              <a:rPr lang="vi-VN" b="1" dirty="0"/>
              <a:t>C# vừa dễ học, hiện đại, hướng đối tượng, chạy đa nền tảng, vừa tích hợp sâu với .NET nên được chọn làm ngôn ngữ chính trong phát triển ứng dụng .NET.</a:t>
            </a:r>
            <a:endParaRPr lang="vi-VN" dirty="0"/>
          </a:p>
          <a:p>
            <a:pPr marL="0" lvl="0" indent="0" algn="l" rtl="0">
              <a:spcBef>
                <a:spcPts val="0"/>
              </a:spcBef>
              <a:spcAft>
                <a:spcPts val="0"/>
              </a:spcAft>
              <a:buNone/>
            </a:pPr>
            <a:endParaRPr dirty="0"/>
          </a:p>
        </p:txBody>
      </p:sp>
      <p:sp>
        <p:nvSpPr>
          <p:cNvPr id="377" name="Google Shape;377;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5" name="Google Shape;385;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5" name="Google Shape;385;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959777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2" name="Google Shape;402;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1" name="Google Shape;411;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6" name="Google Shape;416;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0" name="Google Shape;430;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7" name="Google Shape;447;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4" name="Google Shape;464;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0" name="Google Shape;480;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1" name="Google Shape;481;p4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9" name="Google Shape;489;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0" name="Google Shape;490;p4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8" name="Google Shape;498;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To view MSIL of the assemblies :</a:t>
            </a:r>
            <a:endParaRPr/>
          </a:p>
          <a:p>
            <a:pPr marL="0" lvl="0" indent="0" algn="l" rtl="0">
              <a:spcBef>
                <a:spcPts val="0"/>
              </a:spcBef>
              <a:spcAft>
                <a:spcPts val="0"/>
              </a:spcAft>
              <a:buNone/>
            </a:pPr>
            <a:r>
              <a:rPr lang="en-US"/>
              <a:t>1.Install ildasm tool :  dotnet tool install -g dotnet-ildasm</a:t>
            </a:r>
            <a:endParaRPr/>
          </a:p>
          <a:p>
            <a:pPr marL="0" lvl="0" indent="0" algn="l" rtl="0">
              <a:spcBef>
                <a:spcPts val="0"/>
              </a:spcBef>
              <a:spcAft>
                <a:spcPts val="0"/>
              </a:spcAft>
              <a:buNone/>
            </a:pPr>
            <a:r>
              <a:rPr lang="en-US"/>
              <a:t>2.View IL : dotnet ildasm Create_ConsoleApp_CLI.dll -o OutpuFileILCode.il</a:t>
            </a:r>
            <a:endParaRPr/>
          </a:p>
        </p:txBody>
      </p:sp>
      <p:sp>
        <p:nvSpPr>
          <p:cNvPr id="499" name="Google Shape;499;p4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1" name="Google Shape;511;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2" name="Google Shape;512;p4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3" name="Google Shape;523;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4" name="Google Shape;524;p4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2" name="Google Shape;542;p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3" name="Google Shape;543;p4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2" name="Google Shape;552;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3" name="Google Shape;553;p4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562" name="Google Shape;562;p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50"/>
          <p:cNvSpPr txBox="1">
            <a:spLocks noGrp="1"/>
          </p:cNvSpPr>
          <p:nvPr>
            <p:ph type="ctrTitle"/>
          </p:nvPr>
        </p:nvSpPr>
        <p:spPr>
          <a:xfrm>
            <a:off x="1524000" y="1988598"/>
            <a:ext cx="9144000" cy="1521364"/>
          </a:xfrm>
          <a:prstGeom prst="rect">
            <a:avLst/>
          </a:prstGeom>
          <a:solidFill>
            <a:schemeClr val="accent2"/>
          </a:solid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50"/>
          <p:cNvSpPr txBox="1">
            <a:spLocks noGrp="1"/>
          </p:cNvSpPr>
          <p:nvPr>
            <p:ph type="subTitle" idx="1"/>
          </p:nvPr>
        </p:nvSpPr>
        <p:spPr>
          <a:xfrm>
            <a:off x="1524000" y="3602038"/>
            <a:ext cx="9144000" cy="1227414"/>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50"/>
          <p:cNvSpPr txBox="1"/>
          <p:nvPr/>
        </p:nvSpPr>
        <p:spPr>
          <a:xfrm>
            <a:off x="0" y="6461294"/>
            <a:ext cx="12192000" cy="403934"/>
          </a:xfrm>
          <a:prstGeom prst="rect">
            <a:avLst/>
          </a:prstGeom>
          <a:solidFill>
            <a:schemeClr val="accent2"/>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19" name="Google Shape;19;p50" descr="NET Exceptions - System.Data.ObjectNotFoundException"/>
          <p:cNvPicPr preferRelativeResize="0"/>
          <p:nvPr/>
        </p:nvPicPr>
        <p:blipFill rotWithShape="1">
          <a:blip r:embed="rId2">
            <a:alphaModFix/>
          </a:blip>
          <a:srcRect/>
          <a:stretch/>
        </p:blipFill>
        <p:spPr>
          <a:xfrm>
            <a:off x="10277178" y="0"/>
            <a:ext cx="1953088" cy="781235"/>
          </a:xfrm>
          <a:prstGeom prst="rect">
            <a:avLst/>
          </a:prstGeom>
          <a:noFill/>
          <a:ln>
            <a:noFill/>
          </a:ln>
        </p:spPr>
      </p:pic>
      <p:pic>
        <p:nvPicPr>
          <p:cNvPr id="20" name="Google Shape;20;p50"/>
          <p:cNvPicPr preferRelativeResize="0"/>
          <p:nvPr/>
        </p:nvPicPr>
        <p:blipFill rotWithShape="1">
          <a:blip r:embed="rId3">
            <a:alphaModFix/>
          </a:blip>
          <a:srcRect/>
          <a:stretch/>
        </p:blipFill>
        <p:spPr>
          <a:xfrm>
            <a:off x="45757" y="25370"/>
            <a:ext cx="2078984" cy="57543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51"/>
          <p:cNvSpPr txBox="1"/>
          <p:nvPr/>
        </p:nvSpPr>
        <p:spPr>
          <a:xfrm>
            <a:off x="0" y="6461294"/>
            <a:ext cx="12192000" cy="403934"/>
          </a:xfrm>
          <a:prstGeom prst="rect">
            <a:avLst/>
          </a:prstGeom>
          <a:solidFill>
            <a:schemeClr val="accent2"/>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3" name="Google Shape;23;p51"/>
          <p:cNvSpPr txBox="1">
            <a:spLocks noGrp="1"/>
          </p:cNvSpPr>
          <p:nvPr>
            <p:ph type="title"/>
          </p:nvPr>
        </p:nvSpPr>
        <p:spPr>
          <a:xfrm>
            <a:off x="838200" y="620209"/>
            <a:ext cx="10515600" cy="575433"/>
          </a:xfrm>
          <a:prstGeom prst="rect">
            <a:avLst/>
          </a:prstGeom>
          <a:solidFill>
            <a:schemeClr val="lt1"/>
          </a:solid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51"/>
          <p:cNvSpPr txBox="1">
            <a:spLocks noGrp="1"/>
          </p:cNvSpPr>
          <p:nvPr>
            <p:ph type="body" idx="1"/>
          </p:nvPr>
        </p:nvSpPr>
        <p:spPr>
          <a:xfrm>
            <a:off x="838200" y="1535811"/>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51"/>
          <p:cNvSpPr txBox="1"/>
          <p:nvPr/>
        </p:nvSpPr>
        <p:spPr>
          <a:xfrm>
            <a:off x="1" y="600803"/>
            <a:ext cx="207390" cy="973473"/>
          </a:xfrm>
          <a:prstGeom prst="rect">
            <a:avLst/>
          </a:prstGeom>
          <a:solidFill>
            <a:srgbClr val="F4AF80"/>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28" name="Google Shape;28;p51" descr="NET Exceptions - System.Data.ObjectNotFoundException"/>
          <p:cNvPicPr preferRelativeResize="0"/>
          <p:nvPr/>
        </p:nvPicPr>
        <p:blipFill rotWithShape="1">
          <a:blip r:embed="rId2">
            <a:alphaModFix/>
          </a:blip>
          <a:srcRect/>
          <a:stretch/>
        </p:blipFill>
        <p:spPr>
          <a:xfrm>
            <a:off x="10277178" y="0"/>
            <a:ext cx="1953088" cy="781235"/>
          </a:xfrm>
          <a:prstGeom prst="rect">
            <a:avLst/>
          </a:prstGeom>
          <a:noFill/>
          <a:ln>
            <a:noFill/>
          </a:ln>
        </p:spPr>
      </p:pic>
      <p:sp>
        <p:nvSpPr>
          <p:cNvPr id="26" name="Google Shape;26;p51"/>
          <p:cNvSpPr txBox="1">
            <a:spLocks noGrp="1"/>
          </p:cNvSpPr>
          <p:nvPr>
            <p:ph type="sldNum" idx="12"/>
          </p:nvPr>
        </p:nvSpPr>
        <p:spPr>
          <a:xfrm>
            <a:off x="8686060" y="6480700"/>
            <a:ext cx="3505940" cy="39500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a:solidFill>
                  <a:schemeClr val="dk1"/>
                </a:solidFill>
                <a:latin typeface="Arial"/>
                <a:ea typeface="Arial"/>
                <a:cs typeface="Arial"/>
                <a:sym typeface="Arial"/>
              </a:defRPr>
            </a:lvl1pPr>
            <a:lvl2pPr marL="0" lvl="1" indent="0" algn="r">
              <a:spcBef>
                <a:spcPts val="0"/>
              </a:spcBef>
              <a:buNone/>
              <a:defRPr sz="1200">
                <a:solidFill>
                  <a:schemeClr val="dk1"/>
                </a:solidFill>
                <a:latin typeface="Arial"/>
                <a:ea typeface="Arial"/>
                <a:cs typeface="Arial"/>
                <a:sym typeface="Arial"/>
              </a:defRPr>
            </a:lvl2pPr>
            <a:lvl3pPr marL="0" lvl="2" indent="0" algn="r">
              <a:spcBef>
                <a:spcPts val="0"/>
              </a:spcBef>
              <a:buNone/>
              <a:defRPr sz="1200">
                <a:solidFill>
                  <a:schemeClr val="dk1"/>
                </a:solidFill>
                <a:latin typeface="Arial"/>
                <a:ea typeface="Arial"/>
                <a:cs typeface="Arial"/>
                <a:sym typeface="Arial"/>
              </a:defRPr>
            </a:lvl3pPr>
            <a:lvl4pPr marL="0" lvl="3" indent="0" algn="r">
              <a:spcBef>
                <a:spcPts val="0"/>
              </a:spcBef>
              <a:buNone/>
              <a:defRPr sz="1200">
                <a:solidFill>
                  <a:schemeClr val="dk1"/>
                </a:solidFill>
                <a:latin typeface="Arial"/>
                <a:ea typeface="Arial"/>
                <a:cs typeface="Arial"/>
                <a:sym typeface="Arial"/>
              </a:defRPr>
            </a:lvl4pPr>
            <a:lvl5pPr marL="0" lvl="4" indent="0" algn="r">
              <a:spcBef>
                <a:spcPts val="0"/>
              </a:spcBef>
              <a:buNone/>
              <a:defRPr sz="1200">
                <a:solidFill>
                  <a:schemeClr val="dk1"/>
                </a:solidFill>
                <a:latin typeface="Arial"/>
                <a:ea typeface="Arial"/>
                <a:cs typeface="Arial"/>
                <a:sym typeface="Arial"/>
              </a:defRPr>
            </a:lvl5pPr>
            <a:lvl6pPr marL="0" lvl="5" indent="0" algn="r">
              <a:spcBef>
                <a:spcPts val="0"/>
              </a:spcBef>
              <a:buNone/>
              <a:defRPr sz="1200">
                <a:solidFill>
                  <a:schemeClr val="dk1"/>
                </a:solidFill>
                <a:latin typeface="Arial"/>
                <a:ea typeface="Arial"/>
                <a:cs typeface="Arial"/>
                <a:sym typeface="Arial"/>
              </a:defRPr>
            </a:lvl6pPr>
            <a:lvl7pPr marL="0" lvl="6" indent="0" algn="r">
              <a:spcBef>
                <a:spcPts val="0"/>
              </a:spcBef>
              <a:buNone/>
              <a:defRPr sz="1200">
                <a:solidFill>
                  <a:schemeClr val="dk1"/>
                </a:solidFill>
                <a:latin typeface="Arial"/>
                <a:ea typeface="Arial"/>
                <a:cs typeface="Arial"/>
                <a:sym typeface="Arial"/>
              </a:defRPr>
            </a:lvl7pPr>
            <a:lvl8pPr marL="0" lvl="7" indent="0" algn="r">
              <a:spcBef>
                <a:spcPts val="0"/>
              </a:spcBef>
              <a:buNone/>
              <a:defRPr sz="1200">
                <a:solidFill>
                  <a:schemeClr val="dk1"/>
                </a:solidFill>
                <a:latin typeface="Arial"/>
                <a:ea typeface="Arial"/>
                <a:cs typeface="Arial"/>
                <a:sym typeface="Arial"/>
              </a:defRPr>
            </a:lvl8pPr>
            <a:lvl9pPr marL="0" lvl="8" indent="0" algn="r">
              <a:spcBef>
                <a:spcPts val="0"/>
              </a:spcBef>
              <a:buNone/>
              <a:defRPr sz="1200">
                <a:solidFill>
                  <a:schemeClr val="dk1"/>
                </a:solidFill>
                <a:latin typeface="Arial"/>
                <a:ea typeface="Arial"/>
                <a:cs typeface="Arial"/>
                <a:sym typeface="Arial"/>
              </a:defRPr>
            </a:lvl9pPr>
          </a:lstStyle>
          <a:p>
            <a:fld id="{00000000-1234-1234-1234-123412341234}" type="slidenum">
              <a:rPr lang="en-US" smtClean="0"/>
              <a:pPr/>
              <a:t>‹#›</a:t>
            </a:fld>
            <a:endParaRPr lang="en-US"/>
          </a:p>
        </p:txBody>
      </p:sp>
      <p:pic>
        <p:nvPicPr>
          <p:cNvPr id="29" name="Google Shape;29;p51"/>
          <p:cNvPicPr preferRelativeResize="0"/>
          <p:nvPr/>
        </p:nvPicPr>
        <p:blipFill rotWithShape="1">
          <a:blip r:embed="rId3">
            <a:alphaModFix/>
          </a:blip>
          <a:srcRect/>
          <a:stretch/>
        </p:blipFill>
        <p:spPr>
          <a:xfrm>
            <a:off x="45757" y="25370"/>
            <a:ext cx="2078984" cy="575433"/>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fld id="{BD6063C1-DB9D-46AF-BB3C-17D4B8AE2A10}" type="datetime1">
              <a:rPr lang="en-US" smtClean="0"/>
              <a:t>9/8/2025</a:t>
            </a:fld>
            <a:endParaRPr/>
          </a:p>
        </p:txBody>
      </p:sp>
      <p:sp>
        <p:nvSpPr>
          <p:cNvPr id="13" name="Google Shape;13;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docs.microsoft.com/en-us/dotnet/csharp/language-reference/"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dotnet.microsoft.com/en-us/download/dotnet"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docs.microsoft.com/en-us/dotnet/core/tools/dotnet/"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docs.microsoft.com/en-us/nuget/quickstart/install-and-use-a-package-in-visual-studio" TargetMode="External"/><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hyperlink" Target="https://docs.microsoft.com/en-us/nuget/quickstart/install-and-use-a-package-using-the-dotnet-cli" TargetMode="External"/><Relationship Id="rId4" Type="http://schemas.openxmlformats.org/officeDocument/2006/relationships/hyperlink" Target="https://docs.microsoft.com/en-us/nuget/quickstart/install-and-use-a-package-in-visual-studio-mac" TargetMode="Externa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
          <p:cNvSpPr txBox="1">
            <a:spLocks noGrp="1"/>
          </p:cNvSpPr>
          <p:nvPr>
            <p:ph type="ctrTitle"/>
          </p:nvPr>
        </p:nvSpPr>
        <p:spPr>
          <a:xfrm>
            <a:off x="1524000" y="2241458"/>
            <a:ext cx="9202270" cy="1774360"/>
          </a:xfrm>
          <a:prstGeom prst="rect">
            <a:avLst/>
          </a:prstGeom>
          <a:gradFill>
            <a:gsLst>
              <a:gs pos="0">
                <a:srgbClr val="F6F9FC"/>
              </a:gs>
              <a:gs pos="74000">
                <a:srgbClr val="B3D1EC"/>
              </a:gs>
              <a:gs pos="83000">
                <a:srgbClr val="B3D1EC"/>
              </a:gs>
              <a:gs pos="100000">
                <a:srgbClr val="CCE0F2"/>
              </a:gs>
            </a:gsLst>
            <a:lin ang="5400000" scaled="0"/>
          </a:grad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Arial"/>
              <a:buNone/>
            </a:pPr>
            <a:r>
              <a:rPr lang="en-US" sz="4400" b="1" dirty="0">
                <a:latin typeface="Arial"/>
                <a:ea typeface="Arial"/>
                <a:cs typeface="Arial"/>
                <a:sym typeface="Arial"/>
              </a:rPr>
              <a:t> Introduction to .NET Core Platform and Visual Studio.NET</a:t>
            </a:r>
            <a:endParaRPr sz="4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
        <p:nvSpPr>
          <p:cNvPr id="98" name="Google Shape;98;p2"/>
          <p:cNvSpPr txBox="1">
            <a:spLocks noGrp="1"/>
          </p:cNvSpPr>
          <p:nvPr>
            <p:ph type="body" idx="1"/>
          </p:nvPr>
        </p:nvSpPr>
        <p:spPr>
          <a:xfrm>
            <a:off x="762740" y="1597572"/>
            <a:ext cx="11092929" cy="4883128"/>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rgbClr val="973735"/>
              </a:buClr>
              <a:buSzPts val="1400"/>
              <a:buFont typeface="Noto Sans Symbols"/>
              <a:buChar char="◆"/>
            </a:pPr>
            <a:r>
              <a:rPr lang="en-US" dirty="0"/>
              <a:t>Overview .NET Framework Architecture</a:t>
            </a:r>
            <a:endParaRPr dirty="0"/>
          </a:p>
          <a:p>
            <a:pPr marL="342900" lvl="0" indent="-342900" algn="l" rtl="0">
              <a:lnSpc>
                <a:spcPct val="100000"/>
              </a:lnSpc>
              <a:spcBef>
                <a:spcPts val="1000"/>
              </a:spcBef>
              <a:spcAft>
                <a:spcPts val="0"/>
              </a:spcAft>
              <a:buClr>
                <a:srgbClr val="973735"/>
              </a:buClr>
              <a:buSzPts val="1400"/>
              <a:buFont typeface="Noto Sans Symbols"/>
              <a:buChar char="◆"/>
            </a:pPr>
            <a:r>
              <a:rPr lang="en-US" dirty="0"/>
              <a:t>Overview .NET Core and .NET</a:t>
            </a:r>
            <a:endParaRPr dirty="0"/>
          </a:p>
          <a:p>
            <a:pPr marL="342900" lvl="0" indent="-342900" algn="l" rtl="0">
              <a:lnSpc>
                <a:spcPct val="100000"/>
              </a:lnSpc>
              <a:spcBef>
                <a:spcPts val="1000"/>
              </a:spcBef>
              <a:spcAft>
                <a:spcPts val="0"/>
              </a:spcAft>
              <a:buClr>
                <a:srgbClr val="973735"/>
              </a:buClr>
              <a:buSzPts val="1400"/>
              <a:buFont typeface="Noto Sans Symbols"/>
              <a:buChar char="◆"/>
            </a:pPr>
            <a:r>
              <a:rPr lang="en-US" dirty="0"/>
              <a:t>Introduction to Cross-platform application with .NET</a:t>
            </a:r>
            <a:endParaRPr dirty="0"/>
          </a:p>
          <a:p>
            <a:pPr marL="342900" lvl="0" indent="-342900" algn="l" rtl="0">
              <a:lnSpc>
                <a:spcPct val="100000"/>
              </a:lnSpc>
              <a:spcBef>
                <a:spcPts val="1000"/>
              </a:spcBef>
              <a:spcAft>
                <a:spcPts val="0"/>
              </a:spcAft>
              <a:buClr>
                <a:srgbClr val="973735"/>
              </a:buClr>
              <a:buSzPts val="1400"/>
              <a:buFont typeface="Noto Sans Symbols"/>
              <a:buChar char="◆"/>
            </a:pPr>
            <a:r>
              <a:rPr lang="en-US" dirty="0"/>
              <a:t>Explain why .NET Core and C# Language is selected as develop application?</a:t>
            </a:r>
            <a:endParaRPr dirty="0"/>
          </a:p>
          <a:p>
            <a:pPr marL="342900" lvl="0" indent="-342900" algn="l" rtl="0">
              <a:lnSpc>
                <a:spcPct val="100000"/>
              </a:lnSpc>
              <a:spcBef>
                <a:spcPts val="1000"/>
              </a:spcBef>
              <a:spcAft>
                <a:spcPts val="0"/>
              </a:spcAft>
              <a:buClr>
                <a:srgbClr val="973735"/>
              </a:buClr>
              <a:buSzPts val="1400"/>
              <a:buFont typeface="Noto Sans Symbols"/>
              <a:buChar char="◆"/>
            </a:pPr>
            <a:r>
              <a:rPr lang="en-US" dirty="0"/>
              <a:t>Explain meaning "</a:t>
            </a:r>
            <a:r>
              <a:rPr lang="en-US" dirty="0" err="1"/>
              <a:t>dotnet</a:t>
            </a:r>
            <a:r>
              <a:rPr lang="en-US" dirty="0"/>
              <a:t> CLI”</a:t>
            </a:r>
            <a:endParaRPr dirty="0"/>
          </a:p>
          <a:p>
            <a:pPr marL="342900" lvl="0" indent="-342900" algn="l" rtl="0">
              <a:lnSpc>
                <a:spcPct val="100000"/>
              </a:lnSpc>
              <a:spcBef>
                <a:spcPts val="1000"/>
              </a:spcBef>
              <a:spcAft>
                <a:spcPts val="0"/>
              </a:spcAft>
              <a:buClr>
                <a:srgbClr val="973735"/>
              </a:buClr>
              <a:buSzPts val="1400"/>
              <a:buFont typeface="Noto Sans Symbols"/>
              <a:buChar char="◆"/>
            </a:pPr>
            <a:r>
              <a:rPr lang="en-US" dirty="0"/>
              <a:t>Explain about </a:t>
            </a:r>
            <a:r>
              <a:rPr lang="en-US" dirty="0" err="1"/>
              <a:t>NuGet</a:t>
            </a:r>
            <a:r>
              <a:rPr lang="en-US" dirty="0"/>
              <a:t> package</a:t>
            </a:r>
            <a:endParaRPr dirty="0"/>
          </a:p>
          <a:p>
            <a:pPr marL="342900" lvl="0" indent="-342900" algn="l" rtl="0">
              <a:lnSpc>
                <a:spcPct val="100000"/>
              </a:lnSpc>
              <a:spcBef>
                <a:spcPts val="1000"/>
              </a:spcBef>
              <a:spcAft>
                <a:spcPts val="0"/>
              </a:spcAft>
              <a:buClr>
                <a:srgbClr val="973735"/>
              </a:buClr>
              <a:buSzPts val="1400"/>
              <a:buFont typeface="Noto Sans Symbols"/>
              <a:buChar char="◆"/>
            </a:pPr>
            <a:r>
              <a:rPr lang="en-US" dirty="0"/>
              <a:t>Demo create and run C# Console Application on Windows, Mac and Linux using “</a:t>
            </a:r>
            <a:r>
              <a:rPr lang="en-US" dirty="0" err="1"/>
              <a:t>dotnet</a:t>
            </a:r>
            <a:r>
              <a:rPr lang="en-US" dirty="0"/>
              <a:t> CLI”</a:t>
            </a:r>
            <a:endParaRPr dirty="0"/>
          </a:p>
          <a:p>
            <a:pPr marL="342900" lvl="0" indent="-254000" algn="l" rtl="0">
              <a:lnSpc>
                <a:spcPct val="100000"/>
              </a:lnSpc>
              <a:spcBef>
                <a:spcPts val="1000"/>
              </a:spcBef>
              <a:spcAft>
                <a:spcPts val="0"/>
              </a:spcAft>
              <a:buClr>
                <a:srgbClr val="973735"/>
              </a:buClr>
              <a:buSzPts val="1400"/>
              <a:buFont typeface="Noto Sans Symbols"/>
              <a:buNone/>
            </a:pPr>
            <a:endParaRPr dirty="0"/>
          </a:p>
        </p:txBody>
      </p:sp>
      <p:sp>
        <p:nvSpPr>
          <p:cNvPr id="100" name="Google Shape;100;p2"/>
          <p:cNvSpPr txBox="1">
            <a:spLocks noGrp="1"/>
          </p:cNvSpPr>
          <p:nvPr>
            <p:ph type="title"/>
          </p:nvPr>
        </p:nvSpPr>
        <p:spPr>
          <a:xfrm>
            <a:off x="622540" y="742367"/>
            <a:ext cx="10806720" cy="748017"/>
          </a:xfrm>
          <a:prstGeom prst="rect">
            <a:avLst/>
          </a:prstGeom>
          <a:solidFill>
            <a:schemeClr val="lt1"/>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Arial"/>
              <a:buNone/>
            </a:pPr>
            <a:r>
              <a:rPr lang="en-US" sz="4000" b="1"/>
              <a:t>Objectives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3"/>
          <p:cNvSpPr txBox="1">
            <a:spLocks noGrp="1"/>
          </p:cNvSpPr>
          <p:nvPr>
            <p:ph type="ctrTitle"/>
          </p:nvPr>
        </p:nvSpPr>
        <p:spPr>
          <a:xfrm>
            <a:off x="1524000" y="2241458"/>
            <a:ext cx="9202270" cy="1774360"/>
          </a:xfrm>
          <a:prstGeom prst="rect">
            <a:avLst/>
          </a:prstGeom>
          <a:gradFill>
            <a:gsLst>
              <a:gs pos="0">
                <a:srgbClr val="F6F9FC"/>
              </a:gs>
              <a:gs pos="74000">
                <a:srgbClr val="B3D1EC"/>
              </a:gs>
              <a:gs pos="83000">
                <a:srgbClr val="B3D1EC"/>
              </a:gs>
              <a:gs pos="100000">
                <a:srgbClr val="CCE0F2"/>
              </a:gs>
            </a:gsLst>
            <a:lin ang="5400000" scaled="0"/>
          </a:grad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Arial"/>
              <a:buNone/>
            </a:pPr>
            <a:r>
              <a:rPr lang="en-US" sz="4400" b="1" dirty="0">
                <a:solidFill>
                  <a:schemeClr val="accent2"/>
                </a:solidFill>
                <a:latin typeface="Arial"/>
                <a:ea typeface="Arial"/>
                <a:cs typeface="Arial"/>
                <a:sym typeface="Arial"/>
              </a:rPr>
              <a:t>.NET </a:t>
            </a:r>
            <a:r>
              <a:rPr lang="en-US" sz="4400" b="1">
                <a:solidFill>
                  <a:schemeClr val="accent2"/>
                </a:solidFill>
                <a:latin typeface="Arial"/>
                <a:ea typeface="Arial"/>
                <a:cs typeface="Arial"/>
                <a:sym typeface="Arial"/>
              </a:rPr>
              <a:t>Framework and .NET</a:t>
            </a:r>
            <a:endParaRPr sz="4400" dirty="0">
              <a:solidFill>
                <a:schemeClr val="accent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4"/>
          <p:cNvSpPr txBox="1">
            <a:spLocks noGrp="1"/>
          </p:cNvSpPr>
          <p:nvPr>
            <p:ph type="title"/>
          </p:nvPr>
        </p:nvSpPr>
        <p:spPr>
          <a:xfrm>
            <a:off x="275516" y="687426"/>
            <a:ext cx="11391551" cy="575433"/>
          </a:xfrm>
          <a:prstGeom prst="rect">
            <a:avLst/>
          </a:prstGeom>
          <a:solidFill>
            <a:schemeClr val="lt1"/>
          </a:solid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Arial"/>
              <a:buNone/>
            </a:pPr>
            <a:r>
              <a:rPr lang="en-US" b="1" dirty="0"/>
              <a:t>The History of .NET Framework and .NET Core</a:t>
            </a:r>
            <a:endParaRPr dirty="0"/>
          </a:p>
        </p:txBody>
      </p:sp>
      <p:sp>
        <p:nvSpPr>
          <p:cNvPr id="113" name="Google Shape;113;p4"/>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
        <p:nvSpPr>
          <p:cNvPr id="114" name="Google Shape;114;p4"/>
          <p:cNvSpPr txBox="1"/>
          <p:nvPr/>
        </p:nvSpPr>
        <p:spPr>
          <a:xfrm>
            <a:off x="275517" y="1378475"/>
            <a:ext cx="4456282" cy="4493497"/>
          </a:xfrm>
          <a:prstGeom prst="rect">
            <a:avLst/>
          </a:prstGeom>
          <a:noFill/>
          <a:ln>
            <a:noFill/>
          </a:ln>
        </p:spPr>
        <p:txBody>
          <a:bodyPr spcFirstLastPara="1" wrap="square" lIns="91425" tIns="45700" rIns="91425" bIns="45700" anchor="t" anchorCtr="0">
            <a:spAutoFit/>
          </a:bodyPr>
          <a:lstStyle/>
          <a:p>
            <a:pPr marL="342900" lvl="0" indent="-342900" algn="just">
              <a:buClr>
                <a:srgbClr val="973735"/>
              </a:buClr>
              <a:buSzPts val="1300"/>
              <a:buFont typeface="Noto Sans Symbols"/>
              <a:buChar char="◆"/>
            </a:pPr>
            <a:r>
              <a:rPr lang="en-US" sz="2200" b="1" i="1" dirty="0">
                <a:solidFill>
                  <a:srgbClr val="FF0000"/>
                </a:solidFill>
              </a:rPr>
              <a:t>.NET Framework: </a:t>
            </a:r>
            <a:r>
              <a:rPr lang="en-US" sz="2200" dirty="0">
                <a:solidFill>
                  <a:srgbClr val="212121"/>
                </a:solidFill>
              </a:rPr>
              <a:t>Introduced in 2002, .NET Framework was Microsoft's primary platform for building and running Windows applications. It provided a comprehensive framework for developing various types of applications including desktop, web, and server applications. .NET Framework was tightly coupled with Windows and tied to the Windows operating system.</a:t>
            </a:r>
          </a:p>
        </p:txBody>
      </p:sp>
      <p:pic>
        <p:nvPicPr>
          <p:cNvPr id="1026" name="Picture 2" descr="Tải Dotnet Framework - Linh kiện laptop Thành Đạt Tech tại HC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58034" y="1816197"/>
            <a:ext cx="6230221" cy="3618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1336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4"/>
          <p:cNvSpPr txBox="1">
            <a:spLocks noGrp="1"/>
          </p:cNvSpPr>
          <p:nvPr>
            <p:ph type="title"/>
          </p:nvPr>
        </p:nvSpPr>
        <p:spPr>
          <a:xfrm>
            <a:off x="275516" y="687426"/>
            <a:ext cx="11391551" cy="575433"/>
          </a:xfrm>
          <a:prstGeom prst="rect">
            <a:avLst/>
          </a:prstGeom>
          <a:solidFill>
            <a:schemeClr val="lt1"/>
          </a:solid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Arial"/>
              <a:buNone/>
            </a:pPr>
            <a:r>
              <a:rPr lang="en-US" b="1" dirty="0"/>
              <a:t>The History of .NET Framework and .NET Core</a:t>
            </a:r>
            <a:endParaRPr dirty="0"/>
          </a:p>
        </p:txBody>
      </p:sp>
      <p:sp>
        <p:nvSpPr>
          <p:cNvPr id="113" name="Google Shape;113;p4"/>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pic>
        <p:nvPicPr>
          <p:cNvPr id="6" name="Picture 5" descr="081114_1853_CbnvNET3 (1)"/>
          <p:cNvPicPr/>
          <p:nvPr/>
        </p:nvPicPr>
        <p:blipFill>
          <a:blip r:embed="rId3">
            <a:extLst>
              <a:ext uri="{28A0092B-C50C-407E-A947-70E740481C1C}">
                <a14:useLocalDpi xmlns:a14="http://schemas.microsoft.com/office/drawing/2010/main" val="0"/>
              </a:ext>
            </a:extLst>
          </a:blip>
          <a:srcRect/>
          <a:stretch>
            <a:fillRect/>
          </a:stretch>
        </p:blipFill>
        <p:spPr bwMode="auto">
          <a:xfrm>
            <a:off x="2228296" y="1586882"/>
            <a:ext cx="7732450" cy="4378912"/>
          </a:xfrm>
          <a:prstGeom prst="rect">
            <a:avLst/>
          </a:prstGeom>
          <a:noFill/>
          <a:ln>
            <a:noFill/>
          </a:ln>
        </p:spPr>
      </p:pic>
    </p:spTree>
    <p:extLst>
      <p:ext uri="{BB962C8B-B14F-4D97-AF65-F5344CB8AC3E}">
        <p14:creationId xmlns:p14="http://schemas.microsoft.com/office/powerpoint/2010/main" val="22707550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4"/>
          <p:cNvSpPr txBox="1">
            <a:spLocks noGrp="1"/>
          </p:cNvSpPr>
          <p:nvPr>
            <p:ph type="title"/>
          </p:nvPr>
        </p:nvSpPr>
        <p:spPr>
          <a:xfrm>
            <a:off x="275516" y="687426"/>
            <a:ext cx="11391551" cy="575433"/>
          </a:xfrm>
          <a:prstGeom prst="rect">
            <a:avLst/>
          </a:prstGeom>
          <a:solidFill>
            <a:schemeClr val="lt1"/>
          </a:solid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Arial"/>
              <a:buNone/>
            </a:pPr>
            <a:r>
              <a:rPr lang="en-US" b="1" dirty="0"/>
              <a:t>The History of .NET Framework and .NET Core</a:t>
            </a:r>
            <a:endParaRPr dirty="0"/>
          </a:p>
        </p:txBody>
      </p:sp>
      <p:sp>
        <p:nvSpPr>
          <p:cNvPr id="113" name="Google Shape;113;p4"/>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
        <p:nvSpPr>
          <p:cNvPr id="114" name="Google Shape;114;p4"/>
          <p:cNvSpPr txBox="1"/>
          <p:nvPr/>
        </p:nvSpPr>
        <p:spPr>
          <a:xfrm>
            <a:off x="275516" y="1378475"/>
            <a:ext cx="11534682" cy="3477835"/>
          </a:xfrm>
          <a:prstGeom prst="rect">
            <a:avLst/>
          </a:prstGeom>
          <a:noFill/>
          <a:ln>
            <a:noFill/>
          </a:ln>
        </p:spPr>
        <p:txBody>
          <a:bodyPr spcFirstLastPara="1" wrap="square" lIns="91425" tIns="45700" rIns="91425" bIns="45700" anchor="t" anchorCtr="0">
            <a:spAutoFit/>
          </a:bodyPr>
          <a:lstStyle/>
          <a:p>
            <a:pPr marL="342900" lvl="0" indent="-342900" algn="just">
              <a:buClr>
                <a:srgbClr val="973735"/>
              </a:buClr>
              <a:buSzPts val="1300"/>
              <a:buFont typeface="Noto Sans Symbols"/>
              <a:buChar char="◆"/>
            </a:pPr>
            <a:r>
              <a:rPr lang="en-US" sz="2200" b="1" i="1" dirty="0">
                <a:solidFill>
                  <a:srgbClr val="FF0000"/>
                </a:solidFill>
              </a:rPr>
              <a:t>.NET Core Announcement: </a:t>
            </a:r>
            <a:r>
              <a:rPr lang="en-US" sz="2200" dirty="0">
                <a:solidFill>
                  <a:srgbClr val="212121"/>
                </a:solidFill>
              </a:rPr>
              <a:t>In 2014, Microsoft announced .NET Core, a modular, open-source, cross-platform version of the .NET Framework. This was a significant departure from the Windows-only focus of the .NET Framework. .NET Core was designed to be lightweight, modular, and able to run on different operating systems, including Windows, </a:t>
            </a:r>
            <a:r>
              <a:rPr lang="en-US" sz="2200" dirty="0" err="1">
                <a:solidFill>
                  <a:srgbClr val="212121"/>
                </a:solidFill>
              </a:rPr>
              <a:t>macOS</a:t>
            </a:r>
            <a:r>
              <a:rPr lang="en-US" sz="2200" dirty="0">
                <a:solidFill>
                  <a:srgbClr val="212121"/>
                </a:solidFill>
              </a:rPr>
              <a:t>, and Linux.</a:t>
            </a:r>
          </a:p>
          <a:p>
            <a:pPr marL="342900" lvl="0" indent="-342900" algn="just">
              <a:buClr>
                <a:srgbClr val="973735"/>
              </a:buClr>
              <a:buSzPts val="1300"/>
              <a:buFont typeface="Noto Sans Symbols"/>
              <a:buChar char="◆"/>
            </a:pPr>
            <a:endParaRPr lang="en-US" sz="2200" dirty="0">
              <a:solidFill>
                <a:srgbClr val="212121"/>
              </a:solidFill>
            </a:endParaRPr>
          </a:p>
          <a:p>
            <a:pPr marL="342900" lvl="0" indent="-342900" algn="just">
              <a:buClr>
                <a:srgbClr val="973735"/>
              </a:buClr>
              <a:buSzPts val="1300"/>
              <a:buFont typeface="Noto Sans Symbols"/>
              <a:buChar char="◆"/>
            </a:pPr>
            <a:r>
              <a:rPr lang="en-US" sz="2200" b="1" i="1" dirty="0">
                <a:solidFill>
                  <a:srgbClr val="FF0000"/>
                </a:solidFill>
              </a:rPr>
              <a:t>Initial Releases of .NET Core</a:t>
            </a:r>
            <a:r>
              <a:rPr lang="en-US" sz="2200" dirty="0">
                <a:solidFill>
                  <a:srgbClr val="FF0000"/>
                </a:solidFill>
              </a:rPr>
              <a:t> </a:t>
            </a:r>
            <a:r>
              <a:rPr lang="en-US" sz="2200" b="1" dirty="0">
                <a:solidFill>
                  <a:srgbClr val="FF0000"/>
                </a:solidFill>
              </a:rPr>
              <a:t>(2016): </a:t>
            </a:r>
            <a:r>
              <a:rPr lang="en-US" sz="2200" dirty="0">
                <a:solidFill>
                  <a:srgbClr val="212121"/>
                </a:solidFill>
              </a:rPr>
              <a:t>The first preview release of .NET Core was in 2016. It included a subset of the full .NET Framework functionality but with cross-platform support. Initially, it was targeted mainly for building web applications</a:t>
            </a:r>
          </a:p>
          <a:p>
            <a:pPr marL="342900" lvl="0" indent="-342900" algn="just">
              <a:buClr>
                <a:srgbClr val="973735"/>
              </a:buClr>
              <a:buSzPts val="1300"/>
              <a:buFont typeface="Noto Sans Symbols"/>
              <a:buChar char="◆"/>
            </a:pPr>
            <a:endParaRPr sz="2200" b="0" i="0" u="none" strike="noStrike" cap="none" dirty="0">
              <a:solidFill>
                <a:schemeClr val="dk1"/>
              </a:solidFil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4"/>
          <p:cNvSpPr txBox="1">
            <a:spLocks noGrp="1"/>
          </p:cNvSpPr>
          <p:nvPr>
            <p:ph type="title"/>
          </p:nvPr>
        </p:nvSpPr>
        <p:spPr>
          <a:xfrm>
            <a:off x="275516" y="687426"/>
            <a:ext cx="11391551" cy="575433"/>
          </a:xfrm>
          <a:prstGeom prst="rect">
            <a:avLst/>
          </a:prstGeom>
          <a:solidFill>
            <a:schemeClr val="lt1"/>
          </a:solid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Arial"/>
              <a:buNone/>
            </a:pPr>
            <a:r>
              <a:rPr lang="en-US" b="1" dirty="0"/>
              <a:t>The History of .NET Framework and .NET Core</a:t>
            </a:r>
            <a:endParaRPr dirty="0"/>
          </a:p>
        </p:txBody>
      </p:sp>
      <p:sp>
        <p:nvSpPr>
          <p:cNvPr id="113" name="Google Shape;113;p4"/>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
        <p:nvSpPr>
          <p:cNvPr id="114" name="Google Shape;114;p4"/>
          <p:cNvSpPr txBox="1"/>
          <p:nvPr/>
        </p:nvSpPr>
        <p:spPr>
          <a:xfrm>
            <a:off x="275515" y="1431738"/>
            <a:ext cx="11391551" cy="4154943"/>
          </a:xfrm>
          <a:prstGeom prst="rect">
            <a:avLst/>
          </a:prstGeom>
          <a:noFill/>
          <a:ln>
            <a:noFill/>
          </a:ln>
        </p:spPr>
        <p:txBody>
          <a:bodyPr spcFirstLastPara="1" wrap="square" lIns="91425" tIns="45700" rIns="91425" bIns="45700" anchor="t" anchorCtr="0">
            <a:spAutoFit/>
          </a:bodyPr>
          <a:lstStyle/>
          <a:p>
            <a:pPr marL="342900" lvl="0" indent="-342900" algn="just">
              <a:buClr>
                <a:srgbClr val="973735"/>
              </a:buClr>
              <a:buSzPts val="1300"/>
              <a:buFont typeface="Noto Sans Symbols"/>
              <a:buChar char="◆"/>
            </a:pPr>
            <a:r>
              <a:rPr lang="en-US" sz="2200" b="1" i="1" dirty="0">
                <a:solidFill>
                  <a:srgbClr val="FF0000"/>
                </a:solidFill>
              </a:rPr>
              <a:t>Next version: </a:t>
            </a:r>
            <a:r>
              <a:rPr lang="en-US" sz="2200" dirty="0">
                <a:solidFill>
                  <a:srgbClr val="212121"/>
                </a:solidFill>
              </a:rPr>
              <a:t>In the following years, subsequent versions of .NET Core were developed and gradually refined, such as .NET Core 2.0 (in 2017) and .NET Core 3.0 (in 2019). Microsoft announced that .NET Core 3.0 would be the final release under the name ".NET Core".</a:t>
            </a:r>
          </a:p>
          <a:p>
            <a:pPr marL="342900" lvl="0" indent="-342900" algn="just">
              <a:buClr>
                <a:srgbClr val="973735"/>
              </a:buClr>
              <a:buSzPts val="1300"/>
              <a:buFont typeface="Noto Sans Symbols"/>
              <a:buChar char="◆"/>
            </a:pPr>
            <a:endParaRPr lang="en-US" sz="2200" dirty="0">
              <a:solidFill>
                <a:srgbClr val="212121"/>
              </a:solidFill>
            </a:endParaRPr>
          </a:p>
          <a:p>
            <a:pPr marL="342900" lvl="0" indent="-342900" algn="just">
              <a:buClr>
                <a:srgbClr val="973735"/>
              </a:buClr>
              <a:buSzPts val="1300"/>
              <a:buFont typeface="Noto Sans Symbols"/>
              <a:buChar char="◆"/>
            </a:pPr>
            <a:r>
              <a:rPr lang="en-US" sz="2200" b="1" i="1" dirty="0">
                <a:solidFill>
                  <a:srgbClr val="FF0000"/>
                </a:solidFill>
              </a:rPr>
              <a:t>.NET Core Becomes .NET 5</a:t>
            </a:r>
            <a:r>
              <a:rPr lang="en-US" sz="2200" dirty="0">
                <a:solidFill>
                  <a:srgbClr val="FF0000"/>
                </a:solidFill>
              </a:rPr>
              <a:t> </a:t>
            </a:r>
            <a:r>
              <a:rPr lang="en-US" sz="2200" b="1" dirty="0">
                <a:solidFill>
                  <a:srgbClr val="FF0000"/>
                </a:solidFill>
              </a:rPr>
              <a:t>(2020): </a:t>
            </a:r>
            <a:r>
              <a:rPr lang="en-US" sz="2200" dirty="0">
                <a:solidFill>
                  <a:srgbClr val="212121"/>
                </a:solidFill>
              </a:rPr>
              <a:t>Microsoft announced a new versioning scheme, with the next release being ".NET 5." The decision to skip versions 4.x was to align the platform versions across .NET Framework and .NET Core. It merged the capabilities of .NET Core, .NET Framework, and </a:t>
            </a:r>
            <a:r>
              <a:rPr lang="en-US" sz="2200" dirty="0" err="1">
                <a:solidFill>
                  <a:srgbClr val="212121"/>
                </a:solidFill>
              </a:rPr>
              <a:t>Xamarin</a:t>
            </a:r>
            <a:r>
              <a:rPr lang="en-US" sz="2200" dirty="0">
                <a:solidFill>
                  <a:srgbClr val="212121"/>
                </a:solidFill>
              </a:rPr>
              <a:t> (which was used for building mobile applications) into a single platform. This consolidation aimed to simplify development and provide a consistent experience across different types of applications.</a:t>
            </a:r>
          </a:p>
          <a:p>
            <a:pPr marL="342900" lvl="0" indent="-342900" algn="just">
              <a:buClr>
                <a:srgbClr val="973735"/>
              </a:buClr>
              <a:buSzPts val="1300"/>
              <a:buFont typeface="Noto Sans Symbols"/>
              <a:buChar char="◆"/>
            </a:pPr>
            <a:endParaRPr lang="en-US" sz="2200" dirty="0">
              <a:solidFill>
                <a:srgbClr val="212121"/>
              </a:solidFill>
            </a:endParaRPr>
          </a:p>
        </p:txBody>
      </p:sp>
    </p:spTree>
    <p:extLst>
      <p:ext uri="{BB962C8B-B14F-4D97-AF65-F5344CB8AC3E}">
        <p14:creationId xmlns:p14="http://schemas.microsoft.com/office/powerpoint/2010/main" val="11133397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4"/>
          <p:cNvSpPr txBox="1">
            <a:spLocks noGrp="1"/>
          </p:cNvSpPr>
          <p:nvPr>
            <p:ph type="title"/>
          </p:nvPr>
        </p:nvSpPr>
        <p:spPr>
          <a:xfrm>
            <a:off x="275516" y="687426"/>
            <a:ext cx="11391551" cy="575433"/>
          </a:xfrm>
          <a:prstGeom prst="rect">
            <a:avLst/>
          </a:prstGeom>
          <a:solidFill>
            <a:schemeClr val="lt1"/>
          </a:solid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Arial"/>
              <a:buNone/>
            </a:pPr>
            <a:r>
              <a:rPr lang="en-US" b="1" dirty="0"/>
              <a:t>The History of .NET Framework and .NET Core</a:t>
            </a:r>
            <a:endParaRPr dirty="0"/>
          </a:p>
        </p:txBody>
      </p:sp>
      <p:sp>
        <p:nvSpPr>
          <p:cNvPr id="113" name="Google Shape;113;p4"/>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
        <p:nvSpPr>
          <p:cNvPr id="114" name="Google Shape;114;p4"/>
          <p:cNvSpPr txBox="1"/>
          <p:nvPr/>
        </p:nvSpPr>
        <p:spPr>
          <a:xfrm>
            <a:off x="275515" y="1378475"/>
            <a:ext cx="11391552" cy="5170606"/>
          </a:xfrm>
          <a:prstGeom prst="rect">
            <a:avLst/>
          </a:prstGeom>
          <a:noFill/>
          <a:ln>
            <a:noFill/>
          </a:ln>
        </p:spPr>
        <p:txBody>
          <a:bodyPr spcFirstLastPara="1" wrap="square" lIns="91425" tIns="45700" rIns="91425" bIns="45700" anchor="t" anchorCtr="0">
            <a:spAutoFit/>
          </a:bodyPr>
          <a:lstStyle/>
          <a:p>
            <a:pPr marL="342900" lvl="0" indent="-342900" algn="just">
              <a:buClr>
                <a:srgbClr val="973735"/>
              </a:buClr>
              <a:buSzPts val="1300"/>
              <a:buFont typeface="Noto Sans Symbols"/>
              <a:buChar char="◆"/>
            </a:pPr>
            <a:r>
              <a:rPr lang="en-US" sz="2200" b="1" dirty="0">
                <a:solidFill>
                  <a:srgbClr val="FF0000"/>
                </a:solidFill>
              </a:rPr>
              <a:t>.NET 6 (2021) and .NET 7 (2022)</a:t>
            </a:r>
            <a:r>
              <a:rPr lang="en-US" sz="2200" dirty="0">
                <a:solidFill>
                  <a:srgbClr val="212121"/>
                </a:solidFill>
              </a:rPr>
              <a:t>, continued the trend of enhancing performance, improving developer productivity, and expanding support for more workloads and platforms. Microsoft's roadmap includes further improvements in areas such as cloud-native development, </a:t>
            </a:r>
            <a:r>
              <a:rPr lang="en-US" sz="2200" dirty="0" err="1">
                <a:solidFill>
                  <a:srgbClr val="212121"/>
                </a:solidFill>
              </a:rPr>
              <a:t>IoT</a:t>
            </a:r>
            <a:r>
              <a:rPr lang="en-US" sz="2200" dirty="0">
                <a:solidFill>
                  <a:srgbClr val="212121"/>
                </a:solidFill>
              </a:rPr>
              <a:t>, AI, and machine learning.</a:t>
            </a:r>
          </a:p>
          <a:p>
            <a:pPr marL="342900" indent="-342900" algn="just">
              <a:buClr>
                <a:srgbClr val="973735"/>
              </a:buClr>
              <a:buSzPts val="1300"/>
              <a:buFont typeface="Noto Sans Symbols"/>
              <a:buChar char="◆"/>
            </a:pPr>
            <a:r>
              <a:rPr lang="en-US" sz="2200" b="1">
                <a:solidFill>
                  <a:srgbClr val="FF0000"/>
                </a:solidFill>
              </a:rPr>
              <a:t>.</a:t>
            </a:r>
            <a:r>
              <a:rPr lang="en-US" sz="2200" b="1" dirty="0">
                <a:solidFill>
                  <a:srgbClr val="FF0000"/>
                </a:solidFill>
              </a:rPr>
              <a:t>NET 8 (Nov 2023) </a:t>
            </a:r>
            <a:r>
              <a:rPr lang="en-US" sz="2200" dirty="0">
                <a:solidFill>
                  <a:srgbClr val="212121"/>
                </a:solidFill>
              </a:rPr>
              <a:t>allows developers to build a wide range of applications, including Windows, web, mobile, and console ones.</a:t>
            </a:r>
          </a:p>
          <a:p>
            <a:pPr marL="342900" indent="-342900">
              <a:buClr>
                <a:srgbClr val="973735"/>
              </a:buClr>
              <a:buSzPts val="1300"/>
              <a:buFont typeface="Noto Sans Symbols"/>
              <a:buChar char="◆"/>
            </a:pPr>
            <a:r>
              <a:rPr lang="en-US" sz="2200" b="1">
                <a:solidFill>
                  <a:srgbClr val="FF0000"/>
                </a:solidFill>
              </a:rPr>
              <a:t>.</a:t>
            </a:r>
            <a:r>
              <a:rPr lang="en-US" sz="2200" b="1" dirty="0">
                <a:solidFill>
                  <a:srgbClr val="FF0000"/>
                </a:solidFill>
              </a:rPr>
              <a:t>NET 9 was recently released </a:t>
            </a:r>
            <a:r>
              <a:rPr lang="en-US" sz="2200" b="1">
                <a:solidFill>
                  <a:srgbClr val="FF0000"/>
                </a:solidFill>
              </a:rPr>
              <a:t>on 11/12/2024</a:t>
            </a:r>
          </a:p>
          <a:p>
            <a:pPr marL="342900" indent="-342900" algn="just">
              <a:buClr>
                <a:srgbClr val="973735"/>
              </a:buClr>
              <a:buSzPts val="1300"/>
              <a:buFont typeface="Noto Sans Symbols"/>
              <a:buChar char="◆"/>
            </a:pPr>
            <a:r>
              <a:rPr lang="en-US" sz="2200" b="1">
                <a:solidFill>
                  <a:srgbClr val="FF0000"/>
                </a:solidFill>
              </a:rPr>
              <a:t>And the latest version is .Net 10 released on 08/2025</a:t>
            </a:r>
            <a:endParaRPr lang="en-US" sz="2200" b="1" dirty="0">
              <a:solidFill>
                <a:srgbClr val="FF0000"/>
              </a:solidFill>
            </a:endParaRPr>
          </a:p>
          <a:p>
            <a:pPr algn="just">
              <a:buClr>
                <a:srgbClr val="973735"/>
              </a:buClr>
              <a:buSzPts val="1300"/>
            </a:pPr>
            <a:endParaRPr lang="en-US" sz="2200" b="1" dirty="0">
              <a:solidFill>
                <a:srgbClr val="FF0000"/>
              </a:solidFill>
            </a:endParaRPr>
          </a:p>
          <a:p>
            <a:pPr marL="342900" indent="-342900" algn="just">
              <a:buClr>
                <a:srgbClr val="973735"/>
              </a:buClr>
              <a:buSzPts val="1300"/>
              <a:buFont typeface="Noto Sans Symbols"/>
              <a:buChar char="◆"/>
            </a:pPr>
            <a:r>
              <a:rPr lang="en-US" sz="2200" dirty="0">
                <a:solidFill>
                  <a:srgbClr val="212121"/>
                </a:solidFill>
              </a:rPr>
              <a:t>Typically, each new version of .NET introduces enhancements in performance, features, and tools to improve the development experience and support a wider range of application scenarios. .</a:t>
            </a:r>
            <a:r>
              <a:rPr lang="en-US" sz="2200">
                <a:solidFill>
                  <a:srgbClr val="212121"/>
                </a:solidFill>
              </a:rPr>
              <a:t>NET 9, .NET 10 </a:t>
            </a:r>
            <a:r>
              <a:rPr lang="en-US" sz="2200" dirty="0">
                <a:solidFill>
                  <a:srgbClr val="212121"/>
                </a:solidFill>
              </a:rPr>
              <a:t>improves code execution speed, adds support for AI toolkits, and includes several upgrades to technologies from previous versions.</a:t>
            </a:r>
          </a:p>
          <a:p>
            <a:pPr lvl="0" algn="just">
              <a:buClr>
                <a:srgbClr val="973735"/>
              </a:buClr>
              <a:buSzPts val="1300"/>
            </a:pPr>
            <a:endParaRPr sz="2200" b="0" i="0" u="none" strike="noStrike" cap="none" dirty="0">
              <a:solidFill>
                <a:schemeClr val="dk1"/>
              </a:solidFill>
              <a:sym typeface="Arial"/>
            </a:endParaRPr>
          </a:p>
        </p:txBody>
      </p:sp>
    </p:spTree>
    <p:extLst>
      <p:ext uri="{BB962C8B-B14F-4D97-AF65-F5344CB8AC3E}">
        <p14:creationId xmlns:p14="http://schemas.microsoft.com/office/powerpoint/2010/main" val="39392546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1" name="Google Shape;151;p6"/>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
        <p:nvSpPr>
          <p:cNvPr id="152" name="Google Shape;152;p6"/>
          <p:cNvSpPr txBox="1">
            <a:spLocks noGrp="1"/>
          </p:cNvSpPr>
          <p:nvPr>
            <p:ph type="title"/>
          </p:nvPr>
        </p:nvSpPr>
        <p:spPr>
          <a:xfrm>
            <a:off x="221381" y="672759"/>
            <a:ext cx="10869664" cy="575433"/>
          </a:xfrm>
          <a:prstGeom prst="rect">
            <a:avLst/>
          </a:prstGeom>
          <a:solidFill>
            <a:schemeClr val="lt1"/>
          </a:solidFill>
          <a:ln>
            <a:noFill/>
          </a:ln>
        </p:spPr>
        <p:txBody>
          <a:bodyPr spcFirstLastPara="1" wrap="square" lIns="91425" tIns="45700" rIns="91425" bIns="45700" anchor="ctr" anchorCtr="0">
            <a:normAutofit fontScale="90000"/>
          </a:bodyPr>
          <a:lstStyle/>
          <a:p>
            <a:pPr>
              <a:buSzPct val="100000"/>
            </a:pPr>
            <a:r>
              <a:rPr lang="en-US" b="1" dirty="0"/>
              <a:t>.NET Core Architecture</a:t>
            </a:r>
            <a:endParaRPr dirty="0"/>
          </a:p>
        </p:txBody>
      </p:sp>
      <p:pic>
        <p:nvPicPr>
          <p:cNvPr id="6" name="Picture 5"/>
          <p:cNvPicPr/>
          <p:nvPr/>
        </p:nvPicPr>
        <p:blipFill>
          <a:blip r:embed="rId3">
            <a:extLst>
              <a:ext uri="{28A0092B-C50C-407E-A947-70E740481C1C}">
                <a14:useLocalDpi xmlns:a14="http://schemas.microsoft.com/office/drawing/2010/main" val="0"/>
              </a:ext>
            </a:extLst>
          </a:blip>
          <a:srcRect/>
          <a:stretch>
            <a:fillRect/>
          </a:stretch>
        </p:blipFill>
        <p:spPr bwMode="auto">
          <a:xfrm>
            <a:off x="2929630" y="1538140"/>
            <a:ext cx="6964255" cy="440102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1" name="Google Shape;151;p6"/>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sp>
        <p:nvSpPr>
          <p:cNvPr id="152" name="Google Shape;152;p6"/>
          <p:cNvSpPr txBox="1">
            <a:spLocks noGrp="1"/>
          </p:cNvSpPr>
          <p:nvPr>
            <p:ph type="title"/>
          </p:nvPr>
        </p:nvSpPr>
        <p:spPr>
          <a:xfrm>
            <a:off x="221381" y="672759"/>
            <a:ext cx="10869664" cy="575433"/>
          </a:xfrm>
          <a:prstGeom prst="rect">
            <a:avLst/>
          </a:prstGeom>
          <a:solidFill>
            <a:schemeClr val="lt1"/>
          </a:solidFill>
          <a:ln>
            <a:noFill/>
          </a:ln>
        </p:spPr>
        <p:txBody>
          <a:bodyPr spcFirstLastPara="1" wrap="square" lIns="91425" tIns="45700" rIns="91425" bIns="45700" anchor="ctr" anchorCtr="0">
            <a:normAutofit fontScale="90000"/>
          </a:bodyPr>
          <a:lstStyle/>
          <a:p>
            <a:pPr>
              <a:buSzPct val="100000"/>
            </a:pPr>
            <a:r>
              <a:rPr lang="en-US" b="1" dirty="0"/>
              <a:t>.NET Core Architecture</a:t>
            </a:r>
            <a:endParaRPr dirty="0"/>
          </a:p>
        </p:txBody>
      </p:sp>
      <p:sp>
        <p:nvSpPr>
          <p:cNvPr id="153" name="Google Shape;153;p6"/>
          <p:cNvSpPr txBox="1">
            <a:spLocks noGrp="1"/>
          </p:cNvSpPr>
          <p:nvPr>
            <p:ph type="body" idx="1"/>
          </p:nvPr>
        </p:nvSpPr>
        <p:spPr>
          <a:xfrm>
            <a:off x="221381" y="1248191"/>
            <a:ext cx="11865522" cy="5094857"/>
          </a:xfrm>
          <a:prstGeom prst="rect">
            <a:avLst/>
          </a:prstGeom>
          <a:noFill/>
          <a:ln>
            <a:noFill/>
          </a:ln>
        </p:spPr>
        <p:txBody>
          <a:bodyPr spcFirstLastPara="1" wrap="square" lIns="91425" tIns="45700" rIns="91425" bIns="45700" anchor="t" anchorCtr="0">
            <a:noAutofit/>
          </a:bodyPr>
          <a:lstStyle/>
          <a:p>
            <a:pPr marL="342900" algn="just">
              <a:lnSpc>
                <a:spcPct val="100000"/>
              </a:lnSpc>
              <a:spcBef>
                <a:spcPts val="0"/>
              </a:spcBef>
              <a:buClr>
                <a:srgbClr val="973735"/>
              </a:buClr>
              <a:buSzPts val="1300"/>
              <a:buFont typeface="Noto Sans Symbols"/>
              <a:buChar char="◆"/>
            </a:pPr>
            <a:r>
              <a:rPr lang="en-US" sz="2200" b="1" dirty="0">
                <a:solidFill>
                  <a:srgbClr val="212121"/>
                </a:solidFill>
              </a:rPr>
              <a:t>ASP.NET Core: </a:t>
            </a:r>
            <a:r>
              <a:rPr lang="en-US" sz="2200" dirty="0">
                <a:solidFill>
                  <a:srgbClr val="212121"/>
                </a:solidFill>
              </a:rPr>
              <a:t>A framework for building web applications and services on .NET Core (MVC, Razor Pages, and </a:t>
            </a:r>
            <a:r>
              <a:rPr lang="en-US" sz="2200" dirty="0" err="1">
                <a:solidFill>
                  <a:srgbClr val="212121"/>
                </a:solidFill>
              </a:rPr>
              <a:t>Blazor</a:t>
            </a:r>
            <a:r>
              <a:rPr lang="en-US" sz="2200" dirty="0">
                <a:solidFill>
                  <a:srgbClr val="212121"/>
                </a:solidFill>
              </a:rPr>
              <a:t>).</a:t>
            </a:r>
          </a:p>
          <a:p>
            <a:pPr marL="342900" algn="just">
              <a:lnSpc>
                <a:spcPct val="100000"/>
              </a:lnSpc>
              <a:spcBef>
                <a:spcPts val="0"/>
              </a:spcBef>
              <a:buClr>
                <a:srgbClr val="973735"/>
              </a:buClr>
              <a:buSzPts val="1300"/>
              <a:buFont typeface="Noto Sans Symbols"/>
              <a:buChar char="◆"/>
            </a:pPr>
            <a:r>
              <a:rPr lang="en-US" sz="2200" b="1" dirty="0">
                <a:solidFill>
                  <a:srgbClr val="212121"/>
                </a:solidFill>
              </a:rPr>
              <a:t>Base Class Library (BCL): </a:t>
            </a:r>
            <a:r>
              <a:rPr lang="en-US" sz="2200" dirty="0">
                <a:solidFill>
                  <a:srgbClr val="212121"/>
                </a:solidFill>
              </a:rPr>
              <a:t>A collection of essential libraries providing basic functionalities such as file I/O, network connectivity, collections, etc.</a:t>
            </a:r>
          </a:p>
          <a:p>
            <a:pPr marL="342900" algn="just">
              <a:lnSpc>
                <a:spcPct val="100000"/>
              </a:lnSpc>
              <a:spcBef>
                <a:spcPts val="0"/>
              </a:spcBef>
              <a:buClr>
                <a:srgbClr val="973735"/>
              </a:buClr>
              <a:buSzPts val="1300"/>
              <a:buFont typeface="Noto Sans Symbols"/>
              <a:buChar char="◆"/>
            </a:pPr>
            <a:r>
              <a:rPr lang="en-US" sz="2200" b="1" dirty="0">
                <a:solidFill>
                  <a:srgbClr val="212121"/>
                </a:solidFill>
              </a:rPr>
              <a:t>.NET CLI (Command Line Interface):</a:t>
            </a:r>
            <a:r>
              <a:rPr lang="en-US" sz="2200" dirty="0">
                <a:solidFill>
                  <a:srgbClr val="212121"/>
                </a:solidFill>
              </a:rPr>
              <a:t> a command-line tool provided by Microsoft for developing, building, and managing .NET Core projects and applications. It performs common tasks such as creating new projects, adding </a:t>
            </a:r>
            <a:r>
              <a:rPr lang="en-US" sz="2200" dirty="0" err="1">
                <a:solidFill>
                  <a:srgbClr val="212121"/>
                </a:solidFill>
              </a:rPr>
              <a:t>NuGet</a:t>
            </a:r>
            <a:r>
              <a:rPr lang="en-US" sz="2200" dirty="0">
                <a:solidFill>
                  <a:srgbClr val="212121"/>
                </a:solidFill>
              </a:rPr>
              <a:t> packages, building and running applications, and managing dependencies.</a:t>
            </a:r>
          </a:p>
          <a:p>
            <a:pPr marL="342900" algn="just">
              <a:lnSpc>
                <a:spcPct val="100000"/>
              </a:lnSpc>
              <a:spcBef>
                <a:spcPts val="0"/>
              </a:spcBef>
              <a:buClr>
                <a:srgbClr val="973735"/>
              </a:buClr>
              <a:buSzPts val="1300"/>
              <a:buFont typeface="Noto Sans Symbols"/>
              <a:buChar char="◆"/>
            </a:pPr>
            <a:r>
              <a:rPr lang="en-US" sz="2200" b="1" dirty="0">
                <a:solidFill>
                  <a:srgbClr val="212121"/>
                </a:solidFill>
              </a:rPr>
              <a:t>.NET Native Runtime: </a:t>
            </a:r>
            <a:r>
              <a:rPr lang="en-US" sz="2200" dirty="0">
                <a:solidFill>
                  <a:srgbClr val="212121"/>
                </a:solidFill>
              </a:rPr>
              <a:t>A performance-optimized technology that reduces resource consumption for .NET applications by using ahead-of-time compilation to compile source code into machine code directly.</a:t>
            </a:r>
          </a:p>
          <a:p>
            <a:pPr marL="342900" algn="just">
              <a:lnSpc>
                <a:spcPct val="100000"/>
              </a:lnSpc>
              <a:spcBef>
                <a:spcPts val="0"/>
              </a:spcBef>
              <a:buClr>
                <a:srgbClr val="973735"/>
              </a:buClr>
              <a:buSzPts val="1300"/>
              <a:buFont typeface="Noto Sans Symbols"/>
              <a:buChar char="◆"/>
            </a:pPr>
            <a:r>
              <a:rPr lang="en-US" sz="2200" b="1" dirty="0">
                <a:solidFill>
                  <a:srgbClr val="212121"/>
                </a:solidFill>
              </a:rPr>
              <a:t>Core CLR: </a:t>
            </a:r>
            <a:r>
              <a:rPr lang="en-US" sz="2200" dirty="0">
                <a:solidFill>
                  <a:srgbClr val="212121"/>
                </a:solidFill>
              </a:rPr>
              <a:t>Provides a flexible, high-performance, cross-platform execution environment for developing and deploying .NET Core applications, similar to the Common Language Runtime (CLR) of the .NET Framework. It includes technologies such as Just-in-time (JIT) compiler and Garbage Collector (GC) memory management technology.</a:t>
            </a:r>
          </a:p>
        </p:txBody>
      </p:sp>
    </p:spTree>
    <p:extLst>
      <p:ext uri="{BB962C8B-B14F-4D97-AF65-F5344CB8AC3E}">
        <p14:creationId xmlns:p14="http://schemas.microsoft.com/office/powerpoint/2010/main" val="13330012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7" name="Google Shape;177;p8"/>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pic>
        <p:nvPicPr>
          <p:cNvPr id="179" name="Google Shape;179;p8"/>
          <p:cNvPicPr preferRelativeResize="0"/>
          <p:nvPr/>
        </p:nvPicPr>
        <p:blipFill rotWithShape="1">
          <a:blip r:embed="rId3">
            <a:alphaModFix/>
          </a:blip>
          <a:srcRect/>
          <a:stretch/>
        </p:blipFill>
        <p:spPr>
          <a:xfrm>
            <a:off x="1382393" y="1511165"/>
            <a:ext cx="9057373" cy="4441542"/>
          </a:xfrm>
          <a:prstGeom prst="rect">
            <a:avLst/>
          </a:prstGeom>
          <a:noFill/>
          <a:ln>
            <a:noFill/>
          </a:ln>
        </p:spPr>
      </p:pic>
      <p:sp>
        <p:nvSpPr>
          <p:cNvPr id="180" name="Google Shape;180;p8"/>
          <p:cNvSpPr txBox="1"/>
          <p:nvPr/>
        </p:nvSpPr>
        <p:spPr>
          <a:xfrm>
            <a:off x="333703" y="716660"/>
            <a:ext cx="10889354" cy="794505"/>
          </a:xfrm>
          <a:prstGeom prst="rect">
            <a:avLst/>
          </a:prstGeom>
          <a:solidFill>
            <a:schemeClr val="lt1"/>
          </a:solidFill>
          <a:ln>
            <a:noFill/>
          </a:ln>
        </p:spPr>
        <p:txBody>
          <a:bodyPr spcFirstLastPara="1" wrap="square" lIns="91425" tIns="45700" rIns="91425" bIns="45700" anchor="ctr" anchorCtr="0">
            <a:normAutofit fontScale="97500"/>
          </a:bodyPr>
          <a:lstStyle/>
          <a:p>
            <a:pPr marL="0" marR="0" lvl="0" indent="0" algn="l" rtl="0">
              <a:lnSpc>
                <a:spcPct val="90000"/>
              </a:lnSpc>
              <a:spcBef>
                <a:spcPts val="0"/>
              </a:spcBef>
              <a:spcAft>
                <a:spcPts val="0"/>
              </a:spcAft>
              <a:buClr>
                <a:schemeClr val="dk1"/>
              </a:buClr>
              <a:buSzPct val="100000"/>
              <a:buFont typeface="Arial"/>
              <a:buNone/>
            </a:pPr>
            <a:r>
              <a:rPr lang="en-US" sz="4000" b="1" dirty="0">
                <a:solidFill>
                  <a:schemeClr val="dk1"/>
                </a:solidFill>
                <a:sym typeface="Arial"/>
              </a:rPr>
              <a:t>Common Language Runtime (CLR)</a:t>
            </a:r>
            <a:endParaRPr sz="4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1" name="Google Shape;151;p6"/>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
        <p:nvSpPr>
          <p:cNvPr id="152" name="Google Shape;152;p6"/>
          <p:cNvSpPr txBox="1">
            <a:spLocks noGrp="1"/>
          </p:cNvSpPr>
          <p:nvPr>
            <p:ph type="title"/>
          </p:nvPr>
        </p:nvSpPr>
        <p:spPr>
          <a:xfrm>
            <a:off x="221381" y="672759"/>
            <a:ext cx="10869664" cy="575433"/>
          </a:xfrm>
          <a:prstGeom prst="rect">
            <a:avLst/>
          </a:prstGeom>
          <a:solidFill>
            <a:schemeClr val="lt1"/>
          </a:solidFill>
          <a:ln>
            <a:noFill/>
          </a:ln>
        </p:spPr>
        <p:txBody>
          <a:bodyPr spcFirstLastPara="1" wrap="square" lIns="91425" tIns="45700" rIns="91425" bIns="45700" anchor="ctr" anchorCtr="0">
            <a:normAutofit fontScale="90000"/>
          </a:bodyPr>
          <a:lstStyle/>
          <a:p>
            <a:pPr>
              <a:buSzPct val="100000"/>
            </a:pPr>
            <a:r>
              <a:rPr lang="en-US" b="1" dirty="0"/>
              <a:t>.NET 8</a:t>
            </a:r>
            <a:endParaRPr dirty="0"/>
          </a:p>
        </p:txBody>
      </p:sp>
      <p:sp>
        <p:nvSpPr>
          <p:cNvPr id="153" name="Google Shape;153;p6"/>
          <p:cNvSpPr txBox="1">
            <a:spLocks noGrp="1"/>
          </p:cNvSpPr>
          <p:nvPr>
            <p:ph type="body" idx="1"/>
          </p:nvPr>
        </p:nvSpPr>
        <p:spPr>
          <a:xfrm>
            <a:off x="221381" y="1248191"/>
            <a:ext cx="11865522" cy="5094857"/>
          </a:xfrm>
          <a:prstGeom prst="rect">
            <a:avLst/>
          </a:prstGeom>
          <a:noFill/>
          <a:ln>
            <a:noFill/>
          </a:ln>
        </p:spPr>
        <p:txBody>
          <a:bodyPr spcFirstLastPara="1" wrap="square" lIns="91425" tIns="45700" rIns="91425" bIns="45700" anchor="t" anchorCtr="0">
            <a:noAutofit/>
          </a:bodyPr>
          <a:lstStyle/>
          <a:p>
            <a:pPr marL="342900" algn="just">
              <a:lnSpc>
                <a:spcPct val="100000"/>
              </a:lnSpc>
              <a:spcBef>
                <a:spcPts val="0"/>
              </a:spcBef>
              <a:buClr>
                <a:srgbClr val="973735"/>
              </a:buClr>
              <a:buSzPts val="1300"/>
              <a:buFont typeface="Noto Sans Symbols"/>
              <a:buChar char="◆"/>
            </a:pPr>
            <a:r>
              <a:rPr lang="en-US" sz="2600" dirty="0">
                <a:solidFill>
                  <a:srgbClr val="212121"/>
                </a:solidFill>
              </a:rPr>
              <a:t> </a:t>
            </a:r>
          </a:p>
        </p:txBody>
      </p:sp>
      <p:pic>
        <p:nvPicPr>
          <p:cNvPr id="4" name="Picture 3"/>
          <p:cNvPicPr>
            <a:picLocks noChangeAspect="1"/>
          </p:cNvPicPr>
          <p:nvPr/>
        </p:nvPicPr>
        <p:blipFill>
          <a:blip r:embed="rId3"/>
          <a:stretch>
            <a:fillRect/>
          </a:stretch>
        </p:blipFill>
        <p:spPr>
          <a:xfrm>
            <a:off x="253390" y="1463375"/>
            <a:ext cx="4280949" cy="2935371"/>
          </a:xfrm>
          <a:prstGeom prst="rect">
            <a:avLst/>
          </a:prstGeom>
        </p:spPr>
      </p:pic>
      <p:pic>
        <p:nvPicPr>
          <p:cNvPr id="5" name="Picture 4"/>
          <p:cNvPicPr>
            <a:picLocks noChangeAspect="1"/>
          </p:cNvPicPr>
          <p:nvPr/>
        </p:nvPicPr>
        <p:blipFill>
          <a:blip r:embed="rId4"/>
          <a:stretch>
            <a:fillRect/>
          </a:stretch>
        </p:blipFill>
        <p:spPr>
          <a:xfrm>
            <a:off x="5837246" y="867757"/>
            <a:ext cx="5402634" cy="1958816"/>
          </a:xfrm>
          <a:prstGeom prst="rect">
            <a:avLst/>
          </a:prstGeom>
        </p:spPr>
      </p:pic>
      <p:pic>
        <p:nvPicPr>
          <p:cNvPr id="6" name="Picture 5"/>
          <p:cNvPicPr>
            <a:picLocks noChangeAspect="1"/>
          </p:cNvPicPr>
          <p:nvPr/>
        </p:nvPicPr>
        <p:blipFill>
          <a:blip r:embed="rId5"/>
          <a:stretch>
            <a:fillRect/>
          </a:stretch>
        </p:blipFill>
        <p:spPr>
          <a:xfrm>
            <a:off x="5073053" y="3381113"/>
            <a:ext cx="7013850" cy="2407394"/>
          </a:xfrm>
          <a:prstGeom prst="rect">
            <a:avLst/>
          </a:prstGeom>
        </p:spPr>
      </p:pic>
    </p:spTree>
    <p:extLst>
      <p:ext uri="{BB962C8B-B14F-4D97-AF65-F5344CB8AC3E}">
        <p14:creationId xmlns:p14="http://schemas.microsoft.com/office/powerpoint/2010/main" val="17450105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4"/>
          <p:cNvSpPr txBox="1">
            <a:spLocks noGrp="1"/>
          </p:cNvSpPr>
          <p:nvPr>
            <p:ph type="title"/>
          </p:nvPr>
        </p:nvSpPr>
        <p:spPr>
          <a:xfrm>
            <a:off x="275516" y="687426"/>
            <a:ext cx="11916484" cy="575433"/>
          </a:xfrm>
          <a:prstGeom prst="rect">
            <a:avLst/>
          </a:prstGeom>
          <a:solidFill>
            <a:schemeClr val="lt1"/>
          </a:solidFill>
          <a:ln>
            <a:noFill/>
          </a:ln>
        </p:spPr>
        <p:txBody>
          <a:bodyPr spcFirstLastPara="1" wrap="square" lIns="91425" tIns="45700" rIns="91425" bIns="45700" anchor="ctr" anchorCtr="0">
            <a:normAutofit fontScale="90000"/>
          </a:bodyPr>
          <a:lstStyle/>
          <a:p>
            <a:r>
              <a:rPr lang="en-US" b="1" dirty="0"/>
              <a:t>.NET 8: Enhanced Performance and Productivity</a:t>
            </a:r>
          </a:p>
        </p:txBody>
      </p:sp>
      <p:sp>
        <p:nvSpPr>
          <p:cNvPr id="113" name="Google Shape;113;p4"/>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sp>
        <p:nvSpPr>
          <p:cNvPr id="114" name="Google Shape;114;p4"/>
          <p:cNvSpPr txBox="1"/>
          <p:nvPr/>
        </p:nvSpPr>
        <p:spPr>
          <a:xfrm>
            <a:off x="275515" y="1378475"/>
            <a:ext cx="11391552" cy="4893607"/>
          </a:xfrm>
          <a:prstGeom prst="rect">
            <a:avLst/>
          </a:prstGeom>
          <a:noFill/>
          <a:ln>
            <a:noFill/>
          </a:ln>
        </p:spPr>
        <p:txBody>
          <a:bodyPr spcFirstLastPara="1" wrap="square" lIns="91425" tIns="45700" rIns="91425" bIns="45700" anchor="t" anchorCtr="0">
            <a:spAutoFit/>
          </a:bodyPr>
          <a:lstStyle/>
          <a:p>
            <a:pPr marL="342900" indent="-342900" algn="just">
              <a:buClr>
                <a:srgbClr val="973735"/>
              </a:buClr>
              <a:buSzPts val="1300"/>
              <a:buFont typeface="Noto Sans Symbols"/>
              <a:buChar char="◆"/>
            </a:pPr>
            <a:r>
              <a:rPr lang="en-US" sz="2600" b="1" dirty="0">
                <a:solidFill>
                  <a:srgbClr val="212121"/>
                </a:solidFill>
              </a:rPr>
              <a:t>Native AOT Compilation: </a:t>
            </a:r>
            <a:r>
              <a:rPr lang="en-US" sz="2600" dirty="0">
                <a:solidFill>
                  <a:srgbClr val="212121"/>
                </a:solidFill>
              </a:rPr>
              <a:t>Introduce Native AOT as a new deployment option for creating self-contained applications with faster startup times and smaller memory footprints. </a:t>
            </a:r>
          </a:p>
          <a:p>
            <a:pPr marL="342900" indent="-342900" algn="just">
              <a:buClr>
                <a:srgbClr val="973735"/>
              </a:buClr>
              <a:buSzPts val="1300"/>
              <a:buFont typeface="Noto Sans Symbols"/>
              <a:buChar char="◆"/>
            </a:pPr>
            <a:r>
              <a:rPr lang="en-US" sz="2600" b="1" dirty="0">
                <a:solidFill>
                  <a:srgbClr val="212121"/>
                </a:solidFill>
              </a:rPr>
              <a:t>Container Improvements: </a:t>
            </a:r>
            <a:r>
              <a:rPr lang="en-US" sz="2600" dirty="0">
                <a:solidFill>
                  <a:srgbClr val="212121"/>
                </a:solidFill>
              </a:rPr>
              <a:t>Discuss enhancements for containerized applications, such as improved image size and startup time optimizations. </a:t>
            </a:r>
          </a:p>
          <a:p>
            <a:pPr marL="342900" indent="-342900" algn="just">
              <a:buClr>
                <a:srgbClr val="973735"/>
              </a:buClr>
              <a:buSzPts val="1300"/>
              <a:buFont typeface="Noto Sans Symbols"/>
              <a:buChar char="◆"/>
            </a:pPr>
            <a:r>
              <a:rPr lang="en-US" sz="2600" b="1" dirty="0">
                <a:solidFill>
                  <a:srgbClr val="212121"/>
                </a:solidFill>
              </a:rPr>
              <a:t>Performance Enhancements: </a:t>
            </a:r>
            <a:r>
              <a:rPr lang="en-US" sz="2600" dirty="0">
                <a:solidFill>
                  <a:srgbClr val="212121"/>
                </a:solidFill>
              </a:rPr>
              <a:t>Briefly mention various performance improvements across the framework, including optimizations in core libraries and runtime.</a:t>
            </a:r>
          </a:p>
          <a:p>
            <a:pPr marL="342900" indent="-342900" algn="just">
              <a:buClr>
                <a:srgbClr val="973735"/>
              </a:buClr>
              <a:buSzPts val="1300"/>
              <a:buFont typeface="Noto Sans Symbols"/>
              <a:buChar char="◆"/>
            </a:pPr>
            <a:r>
              <a:rPr lang="en-US" sz="2600" b="1" dirty="0">
                <a:solidFill>
                  <a:srgbClr val="212121"/>
                </a:solidFill>
              </a:rPr>
              <a:t>Observability and Diagnostics: </a:t>
            </a:r>
            <a:r>
              <a:rPr lang="en-US" sz="2600" dirty="0">
                <a:solidFill>
                  <a:srgbClr val="212121"/>
                </a:solidFill>
              </a:rPr>
              <a:t>Introduce new tools and APIs for monitoring and diagnosing .NET applications, allowing for better insights into application behavior and troubleshooting.</a:t>
            </a:r>
          </a:p>
          <a:p>
            <a:pPr marL="342900" indent="-342900" algn="just">
              <a:buClr>
                <a:srgbClr val="973735"/>
              </a:buClr>
              <a:buSzPts val="1300"/>
              <a:buFont typeface="Noto Sans Symbols"/>
              <a:buChar char="◆"/>
            </a:pPr>
            <a:endParaRPr lang="en-US" sz="2600" dirty="0">
              <a:solidFill>
                <a:srgbClr val="212121"/>
              </a:solidFill>
            </a:endParaRPr>
          </a:p>
        </p:txBody>
      </p:sp>
    </p:spTree>
    <p:extLst>
      <p:ext uri="{BB962C8B-B14F-4D97-AF65-F5344CB8AC3E}">
        <p14:creationId xmlns:p14="http://schemas.microsoft.com/office/powerpoint/2010/main" val="22554051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4"/>
          <p:cNvSpPr txBox="1">
            <a:spLocks noGrp="1"/>
          </p:cNvSpPr>
          <p:nvPr>
            <p:ph type="title"/>
          </p:nvPr>
        </p:nvSpPr>
        <p:spPr>
          <a:xfrm>
            <a:off x="275516" y="687426"/>
            <a:ext cx="11916484" cy="575433"/>
          </a:xfrm>
          <a:prstGeom prst="rect">
            <a:avLst/>
          </a:prstGeom>
          <a:solidFill>
            <a:schemeClr val="lt1"/>
          </a:solidFill>
          <a:ln>
            <a:noFill/>
          </a:ln>
        </p:spPr>
        <p:txBody>
          <a:bodyPr spcFirstLastPara="1" wrap="square" lIns="91425" tIns="45700" rIns="91425" bIns="45700" anchor="ctr" anchorCtr="0">
            <a:normAutofit fontScale="90000"/>
          </a:bodyPr>
          <a:lstStyle/>
          <a:p>
            <a:r>
              <a:rPr lang="en-US" b="1" dirty="0"/>
              <a:t>.NET 8: Modern Language Features and APIs</a:t>
            </a:r>
          </a:p>
        </p:txBody>
      </p:sp>
      <p:sp>
        <p:nvSpPr>
          <p:cNvPr id="113" name="Google Shape;113;p4"/>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
        <p:nvSpPr>
          <p:cNvPr id="114" name="Google Shape;114;p4"/>
          <p:cNvSpPr txBox="1"/>
          <p:nvPr/>
        </p:nvSpPr>
        <p:spPr>
          <a:xfrm>
            <a:off x="275515" y="1378475"/>
            <a:ext cx="11391552" cy="4893607"/>
          </a:xfrm>
          <a:prstGeom prst="rect">
            <a:avLst/>
          </a:prstGeom>
          <a:noFill/>
          <a:ln>
            <a:noFill/>
          </a:ln>
        </p:spPr>
        <p:txBody>
          <a:bodyPr spcFirstLastPara="1" wrap="square" lIns="91425" tIns="45700" rIns="91425" bIns="45700" anchor="t" anchorCtr="0">
            <a:spAutoFit/>
          </a:bodyPr>
          <a:lstStyle/>
          <a:p>
            <a:pPr marL="342900" indent="-342900" algn="just">
              <a:buClr>
                <a:srgbClr val="973735"/>
              </a:buClr>
              <a:buSzPts val="1300"/>
              <a:buFont typeface="Noto Sans Symbols"/>
              <a:buChar char="◆"/>
            </a:pPr>
            <a:r>
              <a:rPr lang="en-US" sz="2600" b="1" dirty="0">
                <a:solidFill>
                  <a:srgbClr val="212121"/>
                </a:solidFill>
              </a:rPr>
              <a:t>C# 12 Enhancements: </a:t>
            </a:r>
            <a:r>
              <a:rPr lang="en-US" sz="2600" dirty="0">
                <a:solidFill>
                  <a:srgbClr val="212121"/>
                </a:solidFill>
              </a:rPr>
              <a:t>Briefly showcase new language features introduced in C# 12, such as primary constructors for non-record types, aliasing any type, and improved interop capabilities.</a:t>
            </a:r>
          </a:p>
          <a:p>
            <a:pPr marL="342900" indent="-342900" algn="just">
              <a:buClr>
                <a:srgbClr val="973735"/>
              </a:buClr>
              <a:buSzPts val="1300"/>
              <a:buFont typeface="Noto Sans Symbols"/>
              <a:buChar char="◆"/>
            </a:pPr>
            <a:r>
              <a:rPr lang="en-US" sz="2600" b="1" dirty="0">
                <a:solidFill>
                  <a:srgbClr val="212121"/>
                </a:solidFill>
              </a:rPr>
              <a:t>.NET Libraries Updates: </a:t>
            </a:r>
            <a:r>
              <a:rPr lang="en-US" sz="2600" dirty="0">
                <a:solidFill>
                  <a:srgbClr val="212121"/>
                </a:solidFill>
              </a:rPr>
              <a:t>Highlight updates to key .NET libraries.</a:t>
            </a:r>
          </a:p>
          <a:p>
            <a:pPr marL="342900" indent="-342900" algn="just">
              <a:buClr>
                <a:srgbClr val="973735"/>
              </a:buClr>
              <a:buSzPts val="1300"/>
              <a:buFont typeface="Noto Sans Symbols"/>
              <a:buChar char="◆"/>
            </a:pPr>
            <a:r>
              <a:rPr lang="en-US" sz="2600" b="1" dirty="0" err="1">
                <a:solidFill>
                  <a:srgbClr val="212121"/>
                </a:solidFill>
              </a:rPr>
              <a:t>Blazor</a:t>
            </a:r>
            <a:r>
              <a:rPr lang="en-US" sz="2600" b="1" dirty="0">
                <a:solidFill>
                  <a:srgbClr val="212121"/>
                </a:solidFill>
              </a:rPr>
              <a:t> Unification: </a:t>
            </a:r>
            <a:r>
              <a:rPr lang="en-US" sz="2600" dirty="0">
                <a:solidFill>
                  <a:srgbClr val="212121"/>
                </a:solidFill>
              </a:rPr>
              <a:t>Introduce the new unified </a:t>
            </a:r>
            <a:r>
              <a:rPr lang="en-US" sz="2600" dirty="0" err="1">
                <a:solidFill>
                  <a:srgbClr val="212121"/>
                </a:solidFill>
              </a:rPr>
              <a:t>Blazor</a:t>
            </a:r>
            <a:r>
              <a:rPr lang="en-US" sz="2600" dirty="0">
                <a:solidFill>
                  <a:srgbClr val="212121"/>
                </a:solidFill>
              </a:rPr>
              <a:t> hosting model, allowing developers to choose between different rendering modes (server-side, </a:t>
            </a:r>
            <a:r>
              <a:rPr lang="en-US" sz="2600" dirty="0" err="1">
                <a:solidFill>
                  <a:srgbClr val="212121"/>
                </a:solidFill>
              </a:rPr>
              <a:t>WebAssembly</a:t>
            </a:r>
            <a:r>
              <a:rPr lang="en-US" sz="2600" dirty="0">
                <a:solidFill>
                  <a:srgbClr val="212121"/>
                </a:solidFill>
              </a:rPr>
              <a:t>, or hybrid) on a per-component basis, enhancing flexibility and performance.</a:t>
            </a:r>
          </a:p>
          <a:p>
            <a:pPr marL="342900" indent="-342900" algn="just">
              <a:buClr>
                <a:srgbClr val="973735"/>
              </a:buClr>
              <a:buSzPts val="1300"/>
              <a:buFont typeface="Noto Sans Symbols"/>
              <a:buChar char="◆"/>
            </a:pPr>
            <a:r>
              <a:rPr lang="en-US" sz="2600" b="1" dirty="0">
                <a:solidFill>
                  <a:srgbClr val="212121"/>
                </a:solidFill>
              </a:rPr>
              <a:t>Minimal APIs Advancements: </a:t>
            </a:r>
            <a:r>
              <a:rPr lang="en-US" sz="2600" dirty="0">
                <a:solidFill>
                  <a:srgbClr val="212121"/>
                </a:solidFill>
              </a:rPr>
              <a:t>Discuss new capabilities in Minimal APIs for building lightweight and efficient web services, including improved route tooling and support for streaming scenarios.</a:t>
            </a:r>
          </a:p>
          <a:p>
            <a:pPr marL="342900" indent="-342900" algn="just">
              <a:buClr>
                <a:srgbClr val="973735"/>
              </a:buClr>
              <a:buSzPts val="1300"/>
              <a:buFont typeface="Noto Sans Symbols"/>
              <a:buChar char="◆"/>
            </a:pPr>
            <a:endParaRPr lang="en-US" sz="2600" dirty="0">
              <a:solidFill>
                <a:srgbClr val="212121"/>
              </a:solidFill>
            </a:endParaRPr>
          </a:p>
        </p:txBody>
      </p:sp>
    </p:spTree>
    <p:extLst>
      <p:ext uri="{BB962C8B-B14F-4D97-AF65-F5344CB8AC3E}">
        <p14:creationId xmlns:p14="http://schemas.microsoft.com/office/powerpoint/2010/main" val="40799545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60" name="Google Shape;260;p17"/>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15</a:t>
            </a:fld>
            <a:endParaRPr sz="1200">
              <a:solidFill>
                <a:schemeClr val="dk1"/>
              </a:solidFill>
              <a:latin typeface="Arial"/>
              <a:ea typeface="Arial"/>
              <a:cs typeface="Arial"/>
              <a:sym typeface="Arial"/>
            </a:endParaRPr>
          </a:p>
        </p:txBody>
      </p:sp>
      <p:sp>
        <p:nvSpPr>
          <p:cNvPr id="261" name="Google Shape;261;p17"/>
          <p:cNvSpPr txBox="1">
            <a:spLocks noGrp="1"/>
          </p:cNvSpPr>
          <p:nvPr>
            <p:ph type="title"/>
          </p:nvPr>
        </p:nvSpPr>
        <p:spPr>
          <a:xfrm>
            <a:off x="430924" y="825108"/>
            <a:ext cx="8799788"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latin typeface="Arial"/>
                <a:ea typeface="Arial"/>
                <a:cs typeface="Arial"/>
                <a:sym typeface="Arial"/>
              </a:rPr>
              <a:t>Cross-Platform Application</a:t>
            </a:r>
            <a:endParaRPr sz="4000" b="1"/>
          </a:p>
        </p:txBody>
      </p:sp>
      <p:sp>
        <p:nvSpPr>
          <p:cNvPr id="262" name="Google Shape;262;p17"/>
          <p:cNvSpPr txBox="1"/>
          <p:nvPr/>
        </p:nvSpPr>
        <p:spPr>
          <a:xfrm>
            <a:off x="430924" y="1566952"/>
            <a:ext cx="11330152" cy="186204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300" b="0" i="0" dirty="0">
                <a:solidFill>
                  <a:srgbClr val="222222"/>
                </a:solidFill>
                <a:latin typeface="Arial"/>
                <a:ea typeface="Arial"/>
                <a:cs typeface="Arial"/>
                <a:sym typeface="Arial"/>
              </a:rPr>
              <a:t>“</a:t>
            </a:r>
            <a:r>
              <a:rPr lang="en-US" sz="2300" b="0" i="1" dirty="0">
                <a:solidFill>
                  <a:srgbClr val="222222"/>
                </a:solidFill>
                <a:latin typeface="Arial"/>
                <a:ea typeface="Arial"/>
                <a:cs typeface="Arial"/>
                <a:sym typeface="Arial"/>
              </a:rPr>
              <a:t>Write once, run anywhere” seems to be the mantra that finds favor with application developers nowadays. This reduces the need for developers to write a lot of redundant code. .NET, an open source offering from Microsoft, is just the tool for writing code for a cross-platform application that will work on Windows, Linux and </a:t>
            </a:r>
            <a:r>
              <a:rPr lang="en-US" sz="2300" b="0" i="1" dirty="0" err="1">
                <a:solidFill>
                  <a:srgbClr val="222222"/>
                </a:solidFill>
                <a:latin typeface="Arial"/>
                <a:ea typeface="Arial"/>
                <a:cs typeface="Arial"/>
                <a:sym typeface="Arial"/>
              </a:rPr>
              <a:t>macOS</a:t>
            </a:r>
            <a:r>
              <a:rPr lang="en-US" sz="2300" b="0" i="1" dirty="0">
                <a:solidFill>
                  <a:srgbClr val="222222"/>
                </a:solidFill>
                <a:latin typeface="Arial"/>
                <a:ea typeface="Arial"/>
                <a:cs typeface="Arial"/>
                <a:sym typeface="Arial"/>
              </a:rPr>
              <a:t> systems.</a:t>
            </a:r>
            <a:endParaRPr sz="2300" dirty="0">
              <a:solidFill>
                <a:schemeClr val="dk1"/>
              </a:solidFill>
              <a:latin typeface="Arial"/>
              <a:ea typeface="Arial"/>
              <a:cs typeface="Arial"/>
              <a:sym typeface="Arial"/>
            </a:endParaRPr>
          </a:p>
        </p:txBody>
      </p:sp>
      <p:pic>
        <p:nvPicPr>
          <p:cNvPr id="263" name="Google Shape;263;p17"/>
          <p:cNvPicPr preferRelativeResize="0"/>
          <p:nvPr/>
        </p:nvPicPr>
        <p:blipFill rotWithShape="1">
          <a:blip r:embed="rId3">
            <a:alphaModFix/>
          </a:blip>
          <a:srcRect/>
          <a:stretch/>
        </p:blipFill>
        <p:spPr>
          <a:xfrm>
            <a:off x="3876163" y="3429000"/>
            <a:ext cx="4439674" cy="283979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70" name="Google Shape;270;p18"/>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16</a:t>
            </a:fld>
            <a:endParaRPr sz="1200">
              <a:solidFill>
                <a:schemeClr val="dk1"/>
              </a:solidFill>
              <a:latin typeface="Arial"/>
              <a:ea typeface="Arial"/>
              <a:cs typeface="Arial"/>
              <a:sym typeface="Arial"/>
            </a:endParaRPr>
          </a:p>
        </p:txBody>
      </p:sp>
      <p:sp>
        <p:nvSpPr>
          <p:cNvPr id="271" name="Google Shape;271;p18"/>
          <p:cNvSpPr txBox="1">
            <a:spLocks noGrp="1"/>
          </p:cNvSpPr>
          <p:nvPr>
            <p:ph type="title"/>
          </p:nvPr>
        </p:nvSpPr>
        <p:spPr>
          <a:xfrm>
            <a:off x="396764" y="720006"/>
            <a:ext cx="11154104"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latin typeface="Arial"/>
                <a:ea typeface="Arial"/>
                <a:cs typeface="Arial"/>
                <a:sym typeface="Arial"/>
              </a:rPr>
              <a:t>Cross-Platform Application</a:t>
            </a:r>
            <a:endParaRPr sz="4000" b="1"/>
          </a:p>
        </p:txBody>
      </p:sp>
      <p:sp>
        <p:nvSpPr>
          <p:cNvPr id="272" name="Google Shape;272;p18"/>
          <p:cNvSpPr txBox="1"/>
          <p:nvPr/>
        </p:nvSpPr>
        <p:spPr>
          <a:xfrm>
            <a:off x="147145" y="1342648"/>
            <a:ext cx="11950261" cy="5150128"/>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rgbClr val="973735"/>
              </a:buClr>
              <a:buSzPts val="1300"/>
              <a:buFont typeface="Noto Sans Symbols"/>
              <a:buChar char="◆"/>
            </a:pPr>
            <a:r>
              <a:rPr lang="en-US" sz="2600">
                <a:solidFill>
                  <a:srgbClr val="111111"/>
                </a:solidFill>
                <a:latin typeface="Arial"/>
                <a:ea typeface="Arial"/>
                <a:cs typeface="Arial"/>
                <a:sym typeface="Arial"/>
              </a:rPr>
              <a:t>A platform is a computer hardware and software combination on which a program runs. A platform is a combination of both hardware resources: CPU frequency, RAM size, HDD space, GPU capacity,…and also the software platform being provided to install on such as Operating system; Third-party or extended framework(.NET or JVM,..)</a:t>
            </a:r>
            <a:endParaRPr/>
          </a:p>
          <a:p>
            <a:pPr marL="342900" marR="0" lvl="0" indent="-342900" algn="just" rtl="0">
              <a:spcBef>
                <a:spcPts val="1000"/>
              </a:spcBef>
              <a:spcAft>
                <a:spcPts val="0"/>
              </a:spcAft>
              <a:buClr>
                <a:srgbClr val="973735"/>
              </a:buClr>
              <a:buSzPts val="1300"/>
              <a:buFont typeface="Noto Sans Symbols"/>
              <a:buChar char="◆"/>
            </a:pPr>
            <a:r>
              <a:rPr lang="en-US" sz="2600">
                <a:solidFill>
                  <a:srgbClr val="111111"/>
                </a:solidFill>
                <a:latin typeface="Arial"/>
                <a:ea typeface="Arial"/>
                <a:cs typeface="Arial"/>
                <a:sym typeface="Arial"/>
              </a:rPr>
              <a:t>Cross-platform support runs on multiple platforms. In a sense, it means that a code can run on multiple frameworks, platforms, operating systems, and machine architectures.</a:t>
            </a:r>
            <a:endParaRPr/>
          </a:p>
          <a:p>
            <a:pPr marL="342900" marR="0" lvl="0" indent="-342900" algn="just" rtl="0">
              <a:spcBef>
                <a:spcPts val="1000"/>
              </a:spcBef>
              <a:spcAft>
                <a:spcPts val="0"/>
              </a:spcAft>
              <a:buClr>
                <a:srgbClr val="973735"/>
              </a:buClr>
              <a:buSzPts val="1300"/>
              <a:buFont typeface="Noto Sans Symbols"/>
              <a:buChar char="◆"/>
            </a:pPr>
            <a:r>
              <a:rPr lang="en-US" sz="2600">
                <a:solidFill>
                  <a:srgbClr val="111111"/>
                </a:solidFill>
                <a:latin typeface="Arial"/>
                <a:ea typeface="Arial"/>
                <a:cs typeface="Arial"/>
                <a:sym typeface="Arial"/>
              </a:rPr>
              <a:t>A cross-platform programming language is one that can run on multiple frameworks, operating systems, and machine architectures. Many factors cause the language or tool to be able to run on multiple machines and platforms.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10" name="Google Shape;310;p23"/>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sp>
        <p:nvSpPr>
          <p:cNvPr id="311" name="Google Shape;311;p23"/>
          <p:cNvSpPr txBox="1"/>
          <p:nvPr/>
        </p:nvSpPr>
        <p:spPr>
          <a:xfrm>
            <a:off x="298383" y="1437513"/>
            <a:ext cx="11662389" cy="4421683"/>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rgbClr val="973735"/>
              </a:buClr>
              <a:buSzPts val="1400"/>
              <a:buFont typeface="Noto Sans Symbols"/>
              <a:buChar char="◆"/>
            </a:pPr>
            <a:r>
              <a:rPr lang="en-US" sz="2600" b="0" i="0" dirty="0">
                <a:solidFill>
                  <a:srgbClr val="212121"/>
                </a:solidFill>
                <a:sym typeface="Arial"/>
              </a:rPr>
              <a:t>.NET Standard is a specification that can be used across all .NET implementations. It is used for developing library projects only. This means if we are creating a </a:t>
            </a:r>
            <a:r>
              <a:rPr lang="en-US" sz="2600" b="1" i="0" dirty="0">
                <a:solidFill>
                  <a:srgbClr val="212121"/>
                </a:solidFill>
                <a:sym typeface="Arial"/>
              </a:rPr>
              <a:t>library</a:t>
            </a:r>
            <a:r>
              <a:rPr lang="en-US" sz="2600" b="0" i="0" dirty="0">
                <a:solidFill>
                  <a:srgbClr val="212121"/>
                </a:solidFill>
                <a:sym typeface="Arial"/>
              </a:rPr>
              <a:t> in .NET Standard we can use those in .NET Framework and .NET Core. </a:t>
            </a:r>
            <a:endParaRPr sz="2600" dirty="0"/>
          </a:p>
          <a:p>
            <a:pPr marL="342900" marR="0" lvl="0" indent="-342900" algn="just" rtl="0">
              <a:lnSpc>
                <a:spcPct val="150000"/>
              </a:lnSpc>
              <a:spcBef>
                <a:spcPts val="1000"/>
              </a:spcBef>
              <a:spcAft>
                <a:spcPts val="0"/>
              </a:spcAft>
              <a:buClr>
                <a:srgbClr val="973735"/>
              </a:buClr>
              <a:buSzPts val="1400"/>
              <a:buFont typeface="Noto Sans Symbols"/>
              <a:buChar char="◆"/>
            </a:pPr>
            <a:r>
              <a:rPr lang="en-US" sz="2600" b="0" i="0" dirty="0">
                <a:solidFill>
                  <a:srgbClr val="212121"/>
                </a:solidFill>
                <a:sym typeface="Arial"/>
              </a:rPr>
              <a:t>To create uniformity means to allow usage in all the .NET implementations. .NET Standard has support for Mono platform, </a:t>
            </a:r>
            <a:r>
              <a:rPr lang="en-US" sz="2600" b="0" i="0" dirty="0" err="1">
                <a:solidFill>
                  <a:srgbClr val="212121"/>
                </a:solidFill>
                <a:sym typeface="Arial"/>
              </a:rPr>
              <a:t>Xamarin</a:t>
            </a:r>
            <a:r>
              <a:rPr lang="en-US" sz="2600" b="0" i="0" dirty="0">
                <a:solidFill>
                  <a:srgbClr val="212121"/>
                </a:solidFill>
                <a:sym typeface="Arial"/>
              </a:rPr>
              <a:t>, Universal Windows Platform, and Unity. </a:t>
            </a:r>
            <a:endParaRPr sz="2600" dirty="0">
              <a:solidFill>
                <a:schemeClr val="dk1"/>
              </a:solidFill>
              <a:sym typeface="Arial"/>
            </a:endParaRPr>
          </a:p>
        </p:txBody>
      </p:sp>
      <p:sp>
        <p:nvSpPr>
          <p:cNvPr id="312" name="Google Shape;312;p23"/>
          <p:cNvSpPr txBox="1">
            <a:spLocks noGrp="1"/>
          </p:cNvSpPr>
          <p:nvPr>
            <p:ph type="title"/>
          </p:nvPr>
        </p:nvSpPr>
        <p:spPr>
          <a:xfrm>
            <a:off x="462013" y="706634"/>
            <a:ext cx="7189518" cy="628377"/>
          </a:xfrm>
          <a:prstGeom prst="rect">
            <a:avLst/>
          </a:prstGeom>
          <a:solidFill>
            <a:schemeClr val="lt1"/>
          </a:solid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chemeClr val="dk1"/>
              </a:buClr>
              <a:buSzPts val="4000"/>
              <a:buFont typeface="Arial"/>
              <a:buNone/>
            </a:pPr>
            <a:r>
              <a:rPr lang="en-US" sz="4000" b="1" dirty="0"/>
              <a:t>What is the .NET Standard?</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9" name="Google Shape;319;p24"/>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sp>
        <p:nvSpPr>
          <p:cNvPr id="320" name="Google Shape;320;p24"/>
          <p:cNvSpPr txBox="1">
            <a:spLocks noGrp="1"/>
          </p:cNvSpPr>
          <p:nvPr>
            <p:ph type="title"/>
          </p:nvPr>
        </p:nvSpPr>
        <p:spPr>
          <a:xfrm>
            <a:off x="433137" y="706634"/>
            <a:ext cx="9488629" cy="628377"/>
          </a:xfrm>
          <a:prstGeom prst="rect">
            <a:avLst/>
          </a:prstGeom>
          <a:solidFill>
            <a:schemeClr val="lt1"/>
          </a:solid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chemeClr val="dk1"/>
              </a:buClr>
              <a:buSzPts val="4000"/>
              <a:buFont typeface="Arial"/>
              <a:buNone/>
            </a:pPr>
            <a:r>
              <a:rPr lang="en-US" sz="4000" b="1" dirty="0"/>
              <a:t>Comparisons Table</a:t>
            </a:r>
            <a:endParaRPr dirty="0"/>
          </a:p>
        </p:txBody>
      </p:sp>
      <p:pic>
        <p:nvPicPr>
          <p:cNvPr id="321" name="Google Shape;321;p24"/>
          <p:cNvPicPr preferRelativeResize="0"/>
          <p:nvPr/>
        </p:nvPicPr>
        <p:blipFill rotWithShape="1">
          <a:blip r:embed="rId3">
            <a:alphaModFix/>
          </a:blip>
          <a:srcRect/>
          <a:stretch/>
        </p:blipFill>
        <p:spPr>
          <a:xfrm>
            <a:off x="433137" y="1445702"/>
            <a:ext cx="11425187" cy="471446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9" name="Google Shape;319;p24"/>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sp>
        <p:nvSpPr>
          <p:cNvPr id="2" name="Title 1"/>
          <p:cNvSpPr>
            <a:spLocks noGrp="1"/>
          </p:cNvSpPr>
          <p:nvPr>
            <p:ph type="title"/>
          </p:nvPr>
        </p:nvSpPr>
        <p:spPr>
          <a:xfrm>
            <a:off x="847078" y="1729917"/>
            <a:ext cx="10515600" cy="575433"/>
          </a:xfrm>
        </p:spPr>
        <p:txBody>
          <a:bodyPr>
            <a:normAutofit fontScale="90000"/>
          </a:bodyPr>
          <a:lstStyle/>
          <a:p>
            <a:r>
              <a:rPr lang="en-US" dirty="0"/>
              <a:t>Continue….</a:t>
            </a:r>
          </a:p>
        </p:txBody>
      </p:sp>
    </p:spTree>
    <p:extLst>
      <p:ext uri="{BB962C8B-B14F-4D97-AF65-F5344CB8AC3E}">
        <p14:creationId xmlns:p14="http://schemas.microsoft.com/office/powerpoint/2010/main" val="19121762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8" name="Google Shape;328;p25"/>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20</a:t>
            </a:fld>
            <a:endParaRPr sz="1200">
              <a:solidFill>
                <a:schemeClr val="dk1"/>
              </a:solidFill>
              <a:latin typeface="Arial"/>
              <a:ea typeface="Arial"/>
              <a:cs typeface="Arial"/>
              <a:sym typeface="Arial"/>
            </a:endParaRPr>
          </a:p>
        </p:txBody>
      </p:sp>
      <p:sp>
        <p:nvSpPr>
          <p:cNvPr id="329" name="Google Shape;329;p25"/>
          <p:cNvSpPr txBox="1"/>
          <p:nvPr/>
        </p:nvSpPr>
        <p:spPr>
          <a:xfrm>
            <a:off x="677917" y="673248"/>
            <a:ext cx="8718331" cy="628377"/>
          </a:xfrm>
          <a:prstGeom prst="rect">
            <a:avLst/>
          </a:prstGeom>
          <a:solidFill>
            <a:schemeClr val="lt1"/>
          </a:solidFill>
          <a:ln>
            <a:noFill/>
          </a:ln>
        </p:spPr>
        <p:txBody>
          <a:bodyPr spcFirstLastPara="1" wrap="square" lIns="0" tIns="12700" rIns="0" bIns="0" anchor="ctr" anchorCtr="0">
            <a:spAutoFit/>
          </a:bodyPr>
          <a:lstStyle/>
          <a:p>
            <a:pPr marL="12700" marR="0" lvl="0" indent="0" algn="l" rtl="0">
              <a:lnSpc>
                <a:spcPct val="100000"/>
              </a:lnSpc>
              <a:spcBef>
                <a:spcPts val="0"/>
              </a:spcBef>
              <a:spcAft>
                <a:spcPts val="0"/>
              </a:spcAft>
              <a:buClr>
                <a:schemeClr val="dk1"/>
              </a:buClr>
              <a:buSzPts val="4000"/>
              <a:buFont typeface="Arial"/>
              <a:buNone/>
            </a:pPr>
            <a:r>
              <a:rPr lang="en-US" sz="4000" b="1" dirty="0">
                <a:solidFill>
                  <a:schemeClr val="dk1"/>
                </a:solidFill>
                <a:latin typeface="Arial"/>
                <a:ea typeface="Arial"/>
                <a:cs typeface="Arial"/>
                <a:sym typeface="Arial"/>
              </a:rPr>
              <a:t>New features in .NET 8</a:t>
            </a:r>
            <a:endParaRPr dirty="0"/>
          </a:p>
        </p:txBody>
      </p:sp>
      <p:sp>
        <p:nvSpPr>
          <p:cNvPr id="330" name="Google Shape;330;p25"/>
          <p:cNvSpPr txBox="1"/>
          <p:nvPr/>
        </p:nvSpPr>
        <p:spPr>
          <a:xfrm>
            <a:off x="588575" y="1555554"/>
            <a:ext cx="11183007" cy="4146969"/>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rgbClr val="973735"/>
              </a:buClr>
              <a:buSzPts val="1400"/>
              <a:buFont typeface="Noto Sans Symbols"/>
              <a:buChar char="◆"/>
            </a:pPr>
            <a:r>
              <a:rPr lang="en-US" sz="2800" dirty="0">
                <a:solidFill>
                  <a:srgbClr val="111111"/>
                </a:solidFill>
                <a:latin typeface="Arial"/>
                <a:ea typeface="Arial"/>
                <a:cs typeface="Arial"/>
                <a:sym typeface="Arial"/>
              </a:rPr>
              <a:t>Java interoperability will be available on all platforms.</a:t>
            </a:r>
            <a:endParaRPr dirty="0"/>
          </a:p>
          <a:p>
            <a:pPr marL="342900" marR="0" lvl="0" indent="-342900" algn="just" rtl="0">
              <a:lnSpc>
                <a:spcPct val="150000"/>
              </a:lnSpc>
              <a:spcBef>
                <a:spcPts val="1000"/>
              </a:spcBef>
              <a:spcAft>
                <a:spcPts val="0"/>
              </a:spcAft>
              <a:buClr>
                <a:srgbClr val="973735"/>
              </a:buClr>
              <a:buSzPts val="1400"/>
              <a:buFont typeface="Noto Sans Symbols"/>
              <a:buChar char="◆"/>
            </a:pPr>
            <a:r>
              <a:rPr lang="en-US" sz="2800" dirty="0">
                <a:solidFill>
                  <a:srgbClr val="111111"/>
                </a:solidFill>
                <a:latin typeface="Arial"/>
                <a:ea typeface="Arial"/>
                <a:cs typeface="Arial"/>
                <a:sym typeface="Arial"/>
              </a:rPr>
              <a:t>Objective-C and Swift interoperability will be supported on multiple operating systems.</a:t>
            </a:r>
            <a:endParaRPr dirty="0"/>
          </a:p>
          <a:p>
            <a:pPr marL="342900" marR="0" lvl="0" indent="-342900" algn="just" rtl="0">
              <a:lnSpc>
                <a:spcPct val="150000"/>
              </a:lnSpc>
              <a:spcBef>
                <a:spcPts val="1000"/>
              </a:spcBef>
              <a:spcAft>
                <a:spcPts val="0"/>
              </a:spcAft>
              <a:buClr>
                <a:srgbClr val="973735"/>
              </a:buClr>
              <a:buSzPts val="1400"/>
              <a:buFont typeface="Noto Sans Symbols"/>
              <a:buChar char="◆"/>
            </a:pPr>
            <a:r>
              <a:rPr lang="en-US" sz="2800" dirty="0" err="1">
                <a:solidFill>
                  <a:srgbClr val="111111"/>
                </a:solidFill>
                <a:latin typeface="Arial"/>
                <a:ea typeface="Arial"/>
                <a:cs typeface="Arial"/>
                <a:sym typeface="Arial"/>
              </a:rPr>
              <a:t>CoreFX</a:t>
            </a:r>
            <a:r>
              <a:rPr lang="en-US" sz="2800" dirty="0">
                <a:solidFill>
                  <a:srgbClr val="111111"/>
                </a:solidFill>
                <a:latin typeface="Arial"/>
                <a:ea typeface="Arial"/>
                <a:cs typeface="Arial"/>
                <a:sym typeface="Arial"/>
              </a:rPr>
              <a:t> will be extended to support static compilation of .NET (ahead-of-time – AOT), smaller footprints and support for more operating systems.</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26"/>
          <p:cNvSpPr txBox="1">
            <a:spLocks noGrp="1"/>
          </p:cNvSpPr>
          <p:nvPr>
            <p:ph type="title"/>
          </p:nvPr>
        </p:nvSpPr>
        <p:spPr>
          <a:xfrm>
            <a:off x="490889" y="739787"/>
            <a:ext cx="8195171" cy="628377"/>
          </a:xfrm>
          <a:prstGeom prst="rect">
            <a:avLst/>
          </a:prstGeom>
          <a:solidFill>
            <a:schemeClr val="lt1"/>
          </a:solid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chemeClr val="dk1"/>
              </a:buClr>
              <a:buSzPts val="4000"/>
              <a:buFont typeface="Arial"/>
              <a:buNone/>
            </a:pPr>
            <a:r>
              <a:rPr lang="en-US" sz="4000" b="1" dirty="0"/>
              <a:t>Benefits of using .NET</a:t>
            </a:r>
            <a:endParaRPr dirty="0"/>
          </a:p>
        </p:txBody>
      </p:sp>
      <p:sp>
        <p:nvSpPr>
          <p:cNvPr id="337" name="Google Shape;337;p26"/>
          <p:cNvSpPr txBox="1"/>
          <p:nvPr/>
        </p:nvSpPr>
        <p:spPr>
          <a:xfrm>
            <a:off x="490889" y="1368164"/>
            <a:ext cx="11588816" cy="5213592"/>
          </a:xfrm>
          <a:prstGeom prst="rect">
            <a:avLst/>
          </a:prstGeom>
          <a:noFill/>
          <a:ln>
            <a:noFill/>
          </a:ln>
        </p:spPr>
        <p:txBody>
          <a:bodyPr spcFirstLastPara="1" wrap="square" lIns="0" tIns="12050" rIns="0" bIns="0" anchor="t" anchorCtr="0">
            <a:spAutoFit/>
          </a:bodyPr>
          <a:lstStyle/>
          <a:p>
            <a:pPr marL="342900" marR="0" lvl="0" indent="-342900" algn="just" rtl="0">
              <a:lnSpc>
                <a:spcPct val="130000"/>
              </a:lnSpc>
              <a:spcAft>
                <a:spcPts val="0"/>
              </a:spcAft>
              <a:buClr>
                <a:srgbClr val="973735"/>
              </a:buClr>
              <a:buSzPts val="1400"/>
              <a:buFont typeface="Noto Sans Symbols"/>
              <a:buChar char="◆"/>
            </a:pPr>
            <a:r>
              <a:rPr lang="en-US" sz="2600" b="1" dirty="0">
                <a:solidFill>
                  <a:srgbClr val="111111"/>
                </a:solidFill>
                <a:latin typeface="+mn-lt"/>
                <a:ea typeface="Quattrocento Sans"/>
                <a:cs typeface="Quattrocento Sans"/>
                <a:sym typeface="Quattrocento Sans"/>
              </a:rPr>
              <a:t>Open Source</a:t>
            </a:r>
            <a:r>
              <a:rPr lang="en-US" sz="2600" dirty="0">
                <a:solidFill>
                  <a:srgbClr val="111111"/>
                </a:solidFill>
                <a:latin typeface="+mn-lt"/>
                <a:ea typeface="Quattrocento Sans"/>
                <a:cs typeface="Quattrocento Sans"/>
                <a:sym typeface="Quattrocento Sans"/>
              </a:rPr>
              <a:t>: </a:t>
            </a:r>
            <a:r>
              <a:rPr lang="en-US" sz="2600" b="0" i="0" dirty="0">
                <a:solidFill>
                  <a:srgbClr val="333333"/>
                </a:solidFill>
                <a:latin typeface="+mn-lt"/>
                <a:ea typeface="Quattrocento Sans"/>
                <a:cs typeface="Quattrocento Sans"/>
                <a:sym typeface="Quattrocento Sans"/>
              </a:rPr>
              <a:t>Open source and community-oriented on GitHub.</a:t>
            </a:r>
            <a:endParaRPr sz="2600" dirty="0">
              <a:solidFill>
                <a:srgbClr val="111111"/>
              </a:solidFill>
              <a:latin typeface="+mn-lt"/>
              <a:ea typeface="Quattrocento Sans"/>
              <a:cs typeface="Quattrocento Sans"/>
              <a:sym typeface="Quattrocento Sans"/>
            </a:endParaRPr>
          </a:p>
          <a:p>
            <a:pPr marL="342900" marR="0" lvl="0" indent="-342900" algn="just" rtl="0">
              <a:lnSpc>
                <a:spcPct val="130000"/>
              </a:lnSpc>
              <a:spcAft>
                <a:spcPts val="0"/>
              </a:spcAft>
              <a:buClr>
                <a:srgbClr val="973735"/>
              </a:buClr>
              <a:buSzPts val="1400"/>
              <a:buFont typeface="Noto Sans Symbols"/>
              <a:buChar char="◆"/>
            </a:pPr>
            <a:r>
              <a:rPr lang="en-US" sz="2600" b="1" dirty="0">
                <a:solidFill>
                  <a:srgbClr val="111111"/>
                </a:solidFill>
                <a:latin typeface="+mn-lt"/>
                <a:ea typeface="Quattrocento Sans"/>
                <a:cs typeface="Quattrocento Sans"/>
                <a:sym typeface="Quattrocento Sans"/>
              </a:rPr>
              <a:t>Cross-Platform</a:t>
            </a:r>
            <a:r>
              <a:rPr lang="en-US" sz="2600" dirty="0">
                <a:solidFill>
                  <a:srgbClr val="111111"/>
                </a:solidFill>
                <a:latin typeface="+mn-lt"/>
                <a:ea typeface="Quattrocento Sans"/>
                <a:cs typeface="Quattrocento Sans"/>
                <a:sym typeface="Quattrocento Sans"/>
              </a:rPr>
              <a:t>: .NET Core can run on Windows, Linux, and </a:t>
            </a:r>
            <a:r>
              <a:rPr lang="en-US" sz="2600" dirty="0" err="1">
                <a:solidFill>
                  <a:srgbClr val="111111"/>
                </a:solidFill>
                <a:latin typeface="+mn-lt"/>
                <a:ea typeface="Quattrocento Sans"/>
                <a:cs typeface="Quattrocento Sans"/>
                <a:sym typeface="Quattrocento Sans"/>
              </a:rPr>
              <a:t>macOS</a:t>
            </a:r>
            <a:endParaRPr sz="2600" dirty="0">
              <a:latin typeface="+mn-lt"/>
            </a:endParaRPr>
          </a:p>
          <a:p>
            <a:pPr marL="342900" marR="0" lvl="0" indent="-342900" algn="just" rtl="0">
              <a:lnSpc>
                <a:spcPct val="130000"/>
              </a:lnSpc>
              <a:spcAft>
                <a:spcPts val="0"/>
              </a:spcAft>
              <a:buClr>
                <a:srgbClr val="973735"/>
              </a:buClr>
              <a:buSzPts val="1400"/>
              <a:buFont typeface="Noto Sans Symbols"/>
              <a:buChar char="◆"/>
            </a:pPr>
            <a:r>
              <a:rPr lang="en-US" sz="2600" b="1" dirty="0">
                <a:solidFill>
                  <a:srgbClr val="111111"/>
                </a:solidFill>
                <a:latin typeface="+mn-lt"/>
                <a:ea typeface="Quattrocento Sans"/>
                <a:cs typeface="Quattrocento Sans"/>
                <a:sym typeface="Quattrocento Sans"/>
              </a:rPr>
              <a:t>Command-line tools</a:t>
            </a:r>
            <a:r>
              <a:rPr lang="en-US" sz="2600" dirty="0">
                <a:solidFill>
                  <a:srgbClr val="111111"/>
                </a:solidFill>
                <a:latin typeface="+mn-lt"/>
                <a:ea typeface="Quattrocento Sans"/>
                <a:cs typeface="Quattrocento Sans"/>
                <a:sym typeface="Quattrocento Sans"/>
              </a:rPr>
              <a:t>: C</a:t>
            </a:r>
            <a:r>
              <a:rPr lang="en-US" sz="2600" dirty="0">
                <a:solidFill>
                  <a:schemeClr val="dk1"/>
                </a:solidFill>
                <a:latin typeface="+mn-lt"/>
                <a:sym typeface="Arial"/>
              </a:rPr>
              <a:t>reate, build, and run projects from the command line</a:t>
            </a:r>
            <a:endParaRPr sz="2600" dirty="0">
              <a:latin typeface="+mn-lt"/>
            </a:endParaRPr>
          </a:p>
          <a:p>
            <a:pPr marL="342900" marR="0" lvl="0" indent="-342900" algn="just" rtl="0">
              <a:lnSpc>
                <a:spcPct val="130000"/>
              </a:lnSpc>
              <a:spcAft>
                <a:spcPts val="0"/>
              </a:spcAft>
              <a:buClr>
                <a:srgbClr val="973735"/>
              </a:buClr>
              <a:buSzPts val="1400"/>
              <a:buFont typeface="Noto Sans Symbols"/>
              <a:buChar char="◆"/>
            </a:pPr>
            <a:r>
              <a:rPr lang="en-US" sz="2600" b="1" dirty="0">
                <a:solidFill>
                  <a:srgbClr val="111111"/>
                </a:solidFill>
                <a:latin typeface="+mn-lt"/>
                <a:ea typeface="Quattrocento Sans"/>
                <a:cs typeface="Quattrocento Sans"/>
                <a:sym typeface="Quattrocento Sans"/>
              </a:rPr>
              <a:t>Modular: </a:t>
            </a:r>
            <a:r>
              <a:rPr lang="en-US" sz="2600" dirty="0">
                <a:solidFill>
                  <a:schemeClr val="dk1"/>
                </a:solidFill>
                <a:latin typeface="+mn-lt"/>
                <a:sym typeface="Arial"/>
              </a:rPr>
              <a:t>Ships as </a:t>
            </a:r>
            <a:r>
              <a:rPr lang="en-US" sz="2600" dirty="0" err="1">
                <a:solidFill>
                  <a:schemeClr val="dk1"/>
                </a:solidFill>
                <a:latin typeface="+mn-lt"/>
                <a:sym typeface="Arial"/>
              </a:rPr>
              <a:t>NuGet</a:t>
            </a:r>
            <a:r>
              <a:rPr lang="en-US" sz="2600" dirty="0">
                <a:solidFill>
                  <a:schemeClr val="dk1"/>
                </a:solidFill>
                <a:latin typeface="+mn-lt"/>
                <a:sym typeface="Arial"/>
              </a:rPr>
              <a:t> packages</a:t>
            </a:r>
          </a:p>
          <a:p>
            <a:pPr marL="342900" lvl="0" indent="-342900" algn="just">
              <a:lnSpc>
                <a:spcPct val="130000"/>
              </a:lnSpc>
              <a:buClr>
                <a:srgbClr val="973735"/>
              </a:buClr>
              <a:buSzPts val="1600"/>
              <a:buFont typeface="Noto Sans Symbols"/>
              <a:buChar char="◆"/>
            </a:pPr>
            <a:r>
              <a:rPr lang="en-US" sz="2600" b="1" dirty="0">
                <a:solidFill>
                  <a:srgbClr val="111111"/>
                </a:solidFill>
                <a:latin typeface="+mn-lt"/>
              </a:rPr>
              <a:t>Host Agnostic:</a:t>
            </a:r>
            <a:r>
              <a:rPr lang="en-US" sz="2600" dirty="0">
                <a:solidFill>
                  <a:srgbClr val="111111"/>
                </a:solidFill>
                <a:latin typeface="+mn-lt"/>
              </a:rPr>
              <a:t> </a:t>
            </a:r>
            <a:endParaRPr lang="en-US" sz="2600" dirty="0">
              <a:latin typeface="+mn-lt"/>
            </a:endParaRPr>
          </a:p>
          <a:p>
            <a:pPr marL="747713" lvl="0" indent="-457199" algn="just">
              <a:lnSpc>
                <a:spcPct val="130000"/>
              </a:lnSpc>
              <a:buClr>
                <a:srgbClr val="973735"/>
              </a:buClr>
              <a:buSzPts val="1960"/>
              <a:buFont typeface="Noto Sans Symbols"/>
              <a:buChar char="▪"/>
            </a:pPr>
            <a:r>
              <a:rPr lang="en-US" sz="2600" dirty="0">
                <a:solidFill>
                  <a:srgbClr val="111111"/>
                </a:solidFill>
                <a:latin typeface="+mn-lt"/>
              </a:rPr>
              <a:t>.NET Core on the server side is not dependent on IIS and, with two lightweight servers: Kestrel and </a:t>
            </a:r>
            <a:r>
              <a:rPr lang="en-US" sz="2600" dirty="0" err="1">
                <a:solidFill>
                  <a:srgbClr val="111111"/>
                </a:solidFill>
                <a:latin typeface="+mn-lt"/>
              </a:rPr>
              <a:t>WebListener</a:t>
            </a:r>
            <a:endParaRPr lang="en-US" sz="2600" dirty="0">
              <a:solidFill>
                <a:srgbClr val="111111"/>
              </a:solidFill>
              <a:latin typeface="+mn-lt"/>
            </a:endParaRPr>
          </a:p>
          <a:p>
            <a:pPr marL="747713" lvl="0" indent="-457199" algn="just">
              <a:lnSpc>
                <a:spcPct val="130000"/>
              </a:lnSpc>
              <a:buClr>
                <a:srgbClr val="973735"/>
              </a:buClr>
              <a:buSzPts val="1960"/>
              <a:buFont typeface="Noto Sans Symbols"/>
              <a:buChar char="▪"/>
            </a:pPr>
            <a:r>
              <a:rPr lang="en-US" sz="2600" dirty="0">
                <a:solidFill>
                  <a:srgbClr val="111111"/>
                </a:solidFill>
                <a:latin typeface="+mn-lt"/>
              </a:rPr>
              <a:t>It can be self-hosted as a Console application and can be also gelled with mature servers such as IIS, Apache, and others through a reverse proxy option</a:t>
            </a:r>
            <a:endParaRPr lang="en-US" sz="2600" dirty="0">
              <a:latin typeface="+mn-lt"/>
            </a:endParaRPr>
          </a:p>
        </p:txBody>
      </p:sp>
      <p:sp>
        <p:nvSpPr>
          <p:cNvPr id="339" name="Google Shape;339;p26"/>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21</a:t>
            </a:fld>
            <a:endParaRPr sz="1200">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28"/>
          <p:cNvSpPr txBox="1">
            <a:spLocks noGrp="1"/>
          </p:cNvSpPr>
          <p:nvPr>
            <p:ph type="title"/>
          </p:nvPr>
        </p:nvSpPr>
        <p:spPr>
          <a:xfrm>
            <a:off x="382490" y="676720"/>
            <a:ext cx="9160899" cy="628377"/>
          </a:xfrm>
          <a:prstGeom prst="rect">
            <a:avLst/>
          </a:prstGeom>
          <a:solidFill>
            <a:schemeClr val="lt1"/>
          </a:solid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chemeClr val="dk1"/>
              </a:buClr>
              <a:buSzPts val="4000"/>
              <a:buFont typeface="Arial"/>
              <a:buNone/>
            </a:pPr>
            <a:r>
              <a:rPr lang="en-US" sz="4000" b="1" dirty="0"/>
              <a:t>Benefits of using .NET</a:t>
            </a:r>
            <a:endParaRPr dirty="0"/>
          </a:p>
        </p:txBody>
      </p:sp>
      <p:sp>
        <p:nvSpPr>
          <p:cNvPr id="355" name="Google Shape;355;p28"/>
          <p:cNvSpPr txBox="1"/>
          <p:nvPr/>
        </p:nvSpPr>
        <p:spPr>
          <a:xfrm>
            <a:off x="327259" y="1566813"/>
            <a:ext cx="11496879" cy="4726279"/>
          </a:xfrm>
          <a:prstGeom prst="rect">
            <a:avLst/>
          </a:prstGeom>
          <a:noFill/>
          <a:ln>
            <a:noFill/>
          </a:ln>
        </p:spPr>
        <p:txBody>
          <a:bodyPr spcFirstLastPara="1" wrap="square" lIns="0" tIns="12050" rIns="0" bIns="0" anchor="t" anchorCtr="0">
            <a:spAutoFit/>
          </a:bodyPr>
          <a:lstStyle/>
          <a:p>
            <a:pPr marL="342900" marR="0" lvl="0" indent="-342900" algn="just" rtl="0">
              <a:lnSpc>
                <a:spcPct val="150000"/>
              </a:lnSpc>
              <a:spcBef>
                <a:spcPts val="0"/>
              </a:spcBef>
              <a:spcAft>
                <a:spcPts val="0"/>
              </a:spcAft>
              <a:buClr>
                <a:srgbClr val="973735"/>
              </a:buClr>
              <a:buSzPts val="1300"/>
              <a:buFont typeface="Noto Sans Symbols"/>
              <a:buChar char="◆"/>
            </a:pPr>
            <a:r>
              <a:rPr lang="en-US" sz="2600" dirty="0">
                <a:solidFill>
                  <a:srgbClr val="111111"/>
                </a:solidFill>
                <a:latin typeface="Arial"/>
                <a:ea typeface="Arial"/>
                <a:cs typeface="Arial"/>
                <a:sym typeface="Arial"/>
              </a:rPr>
              <a:t>Support for leveraging platform-specific capabilities, such as </a:t>
            </a:r>
            <a:r>
              <a:rPr lang="en-US" sz="2600" b="1" dirty="0">
                <a:solidFill>
                  <a:srgbClr val="111111"/>
                </a:solidFill>
                <a:latin typeface="Arial"/>
                <a:ea typeface="Arial"/>
                <a:cs typeface="Arial"/>
                <a:sym typeface="Arial"/>
              </a:rPr>
              <a:t>Windows Forms </a:t>
            </a:r>
            <a:r>
              <a:rPr lang="en-US" sz="2600" dirty="0">
                <a:solidFill>
                  <a:srgbClr val="111111"/>
                </a:solidFill>
                <a:latin typeface="Arial"/>
                <a:ea typeface="Arial"/>
                <a:cs typeface="Arial"/>
                <a:sym typeface="Arial"/>
              </a:rPr>
              <a:t>and </a:t>
            </a:r>
            <a:r>
              <a:rPr lang="en-US" sz="2600" b="1" dirty="0">
                <a:solidFill>
                  <a:srgbClr val="111111"/>
                </a:solidFill>
                <a:latin typeface="Arial"/>
                <a:ea typeface="Arial"/>
                <a:cs typeface="Arial"/>
                <a:sym typeface="Arial"/>
              </a:rPr>
              <a:t>WPF(Windows Presentation Foundation)</a:t>
            </a:r>
            <a:r>
              <a:rPr lang="en-US" sz="2600" dirty="0">
                <a:solidFill>
                  <a:srgbClr val="111111"/>
                </a:solidFill>
                <a:latin typeface="Arial"/>
                <a:ea typeface="Arial"/>
                <a:cs typeface="Arial"/>
                <a:sym typeface="Arial"/>
              </a:rPr>
              <a:t> on Windows and the native bindings to each native platform from </a:t>
            </a:r>
            <a:r>
              <a:rPr lang="en-US" sz="2600" b="1" dirty="0" err="1">
                <a:solidFill>
                  <a:srgbClr val="111111"/>
                </a:solidFill>
                <a:latin typeface="Arial"/>
                <a:ea typeface="Arial"/>
                <a:cs typeface="Arial"/>
                <a:sym typeface="Arial"/>
              </a:rPr>
              <a:t>Xamarin</a:t>
            </a:r>
            <a:r>
              <a:rPr lang="en-US" sz="2600" dirty="0">
                <a:solidFill>
                  <a:srgbClr val="111111"/>
                </a:solidFill>
                <a:latin typeface="Arial"/>
                <a:ea typeface="Arial"/>
                <a:cs typeface="Arial"/>
                <a:sym typeface="Arial"/>
              </a:rPr>
              <a:t>.</a:t>
            </a:r>
            <a:endParaRPr dirty="0"/>
          </a:p>
          <a:p>
            <a:pPr marL="342900" marR="0" lvl="0" indent="-342900" algn="just" rtl="0">
              <a:lnSpc>
                <a:spcPct val="150000"/>
              </a:lnSpc>
              <a:spcBef>
                <a:spcPts val="1000"/>
              </a:spcBef>
              <a:spcAft>
                <a:spcPts val="0"/>
              </a:spcAft>
              <a:buClr>
                <a:srgbClr val="973735"/>
              </a:buClr>
              <a:buSzPts val="1300"/>
              <a:buFont typeface="Noto Sans Symbols"/>
              <a:buChar char="◆"/>
            </a:pPr>
            <a:r>
              <a:rPr lang="en-US" sz="2600" dirty="0">
                <a:solidFill>
                  <a:srgbClr val="111111"/>
                </a:solidFill>
                <a:latin typeface="Arial"/>
                <a:ea typeface="Arial"/>
                <a:cs typeface="Arial"/>
                <a:sym typeface="Arial"/>
              </a:rPr>
              <a:t>High performance.</a:t>
            </a:r>
            <a:endParaRPr dirty="0"/>
          </a:p>
          <a:p>
            <a:pPr marL="342900" marR="0" lvl="0" indent="-342900" algn="just" rtl="0">
              <a:lnSpc>
                <a:spcPct val="150000"/>
              </a:lnSpc>
              <a:spcBef>
                <a:spcPts val="1000"/>
              </a:spcBef>
              <a:spcAft>
                <a:spcPts val="0"/>
              </a:spcAft>
              <a:buClr>
                <a:srgbClr val="973735"/>
              </a:buClr>
              <a:buSzPts val="1300"/>
              <a:buFont typeface="Noto Sans Symbols"/>
              <a:buChar char="◆"/>
            </a:pPr>
            <a:r>
              <a:rPr lang="en-US" sz="2600" dirty="0">
                <a:solidFill>
                  <a:srgbClr val="111111"/>
                </a:solidFill>
                <a:latin typeface="Arial"/>
                <a:ea typeface="Arial"/>
                <a:cs typeface="Arial"/>
                <a:sym typeface="Arial"/>
              </a:rPr>
              <a:t>Side-by-side installation.</a:t>
            </a:r>
            <a:endParaRPr dirty="0"/>
          </a:p>
          <a:p>
            <a:pPr marL="342900" marR="0" lvl="0" indent="-342900" algn="just" rtl="0">
              <a:lnSpc>
                <a:spcPct val="150000"/>
              </a:lnSpc>
              <a:spcBef>
                <a:spcPts val="1000"/>
              </a:spcBef>
              <a:spcAft>
                <a:spcPts val="0"/>
              </a:spcAft>
              <a:buClr>
                <a:srgbClr val="973735"/>
              </a:buClr>
              <a:buSzPts val="1300"/>
              <a:buFont typeface="Noto Sans Symbols"/>
              <a:buChar char="◆"/>
            </a:pPr>
            <a:r>
              <a:rPr lang="en-US" sz="2600" dirty="0">
                <a:solidFill>
                  <a:srgbClr val="111111"/>
                </a:solidFill>
                <a:latin typeface="Arial"/>
                <a:ea typeface="Arial"/>
                <a:cs typeface="Arial"/>
                <a:sym typeface="Arial"/>
              </a:rPr>
              <a:t>Small project files (SDK-style).</a:t>
            </a:r>
            <a:endParaRPr dirty="0"/>
          </a:p>
          <a:p>
            <a:pPr marL="342900" marR="0" lvl="0" indent="-342900" algn="just" rtl="0">
              <a:lnSpc>
                <a:spcPct val="150000"/>
              </a:lnSpc>
              <a:spcBef>
                <a:spcPts val="1000"/>
              </a:spcBef>
              <a:spcAft>
                <a:spcPts val="0"/>
              </a:spcAft>
              <a:buClr>
                <a:srgbClr val="973735"/>
              </a:buClr>
              <a:buSzPts val="1300"/>
              <a:buFont typeface="Noto Sans Symbols"/>
              <a:buChar char="◆"/>
            </a:pPr>
            <a:r>
              <a:rPr lang="en-US" sz="2600" dirty="0">
                <a:solidFill>
                  <a:srgbClr val="111111"/>
                </a:solidFill>
                <a:latin typeface="Arial"/>
                <a:ea typeface="Arial"/>
                <a:cs typeface="Arial"/>
                <a:sym typeface="Arial"/>
              </a:rPr>
              <a:t>Visual Studio, Visual Studio for Mac, and Visual Studio Code integration.</a:t>
            </a:r>
            <a:endParaRPr dirty="0"/>
          </a:p>
        </p:txBody>
      </p:sp>
      <p:sp>
        <p:nvSpPr>
          <p:cNvPr id="357" name="Google Shape;357;p28"/>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22</a:t>
            </a:fld>
            <a:endParaRPr sz="1200">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30"/>
          <p:cNvSpPr txBox="1">
            <a:spLocks noGrp="1"/>
          </p:cNvSpPr>
          <p:nvPr>
            <p:ph type="title"/>
          </p:nvPr>
        </p:nvSpPr>
        <p:spPr>
          <a:xfrm>
            <a:off x="241736" y="855817"/>
            <a:ext cx="11373509" cy="512341"/>
          </a:xfrm>
          <a:prstGeom prst="rect">
            <a:avLst/>
          </a:prstGeom>
          <a:solidFill>
            <a:schemeClr val="lt1"/>
          </a:solidFill>
          <a:ln>
            <a:noFill/>
          </a:ln>
        </p:spPr>
        <p:txBody>
          <a:bodyPr spcFirstLastPara="1" wrap="square" lIns="91425" tIns="45700" rIns="91425" bIns="45700" anchor="ctr" anchorCtr="0">
            <a:noAutofit/>
          </a:bodyPr>
          <a:lstStyle/>
          <a:p>
            <a:pPr marL="0" lvl="0" indent="0" algn="just" rtl="0">
              <a:lnSpc>
                <a:spcPct val="90000"/>
              </a:lnSpc>
              <a:spcBef>
                <a:spcPts val="0"/>
              </a:spcBef>
              <a:spcAft>
                <a:spcPts val="0"/>
              </a:spcAft>
              <a:buClr>
                <a:schemeClr val="dk1"/>
              </a:buClr>
              <a:buSzPts val="4000"/>
              <a:buFont typeface="Arial"/>
              <a:buNone/>
            </a:pPr>
            <a:r>
              <a:rPr lang="en-US" sz="4000" b="1" dirty="0"/>
              <a:t>Why C# is selected as develop application?</a:t>
            </a:r>
            <a:endParaRPr dirty="0"/>
          </a:p>
        </p:txBody>
      </p:sp>
      <p:sp>
        <p:nvSpPr>
          <p:cNvPr id="373" name="Google Shape;373;p30"/>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sp>
        <p:nvSpPr>
          <p:cNvPr id="374" name="Google Shape;374;p30"/>
          <p:cNvSpPr txBox="1"/>
          <p:nvPr/>
        </p:nvSpPr>
        <p:spPr>
          <a:xfrm>
            <a:off x="241736" y="1504711"/>
            <a:ext cx="11708528" cy="4647426"/>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rgbClr val="973735"/>
              </a:buClr>
              <a:buSzPts val="1300"/>
              <a:buFont typeface="Noto Sans Symbols"/>
              <a:buChar char="◆"/>
            </a:pPr>
            <a:r>
              <a:rPr lang="en-US" sz="2600" b="0" i="0" dirty="0">
                <a:solidFill>
                  <a:srgbClr val="000000"/>
                </a:solidFill>
                <a:latin typeface="Arial"/>
                <a:ea typeface="Arial"/>
                <a:cs typeface="Arial"/>
                <a:sym typeface="Arial"/>
              </a:rPr>
              <a:t>C# was developed by Anders Hejlsberg and his team during the development of .NET</a:t>
            </a:r>
            <a:endParaRPr sz="2600" dirty="0">
              <a:solidFill>
                <a:schemeClr val="dk1"/>
              </a:solidFill>
              <a:latin typeface="Arial"/>
              <a:ea typeface="Arial"/>
              <a:cs typeface="Arial"/>
              <a:sym typeface="Arial"/>
            </a:endParaRPr>
          </a:p>
          <a:p>
            <a:pPr marL="342900" marR="0" lvl="0" indent="-342900" algn="just" rtl="0">
              <a:spcBef>
                <a:spcPts val="1800"/>
              </a:spcBef>
              <a:spcAft>
                <a:spcPts val="0"/>
              </a:spcAft>
              <a:buClr>
                <a:srgbClr val="973735"/>
              </a:buClr>
              <a:buSzPts val="1300"/>
              <a:buFont typeface="Noto Sans Symbols"/>
              <a:buChar char="◆"/>
            </a:pPr>
            <a:r>
              <a:rPr lang="en-US" sz="2600" dirty="0">
                <a:solidFill>
                  <a:schemeClr val="dk1"/>
                </a:solidFill>
                <a:latin typeface="Arial"/>
                <a:ea typeface="Arial"/>
                <a:cs typeface="Arial"/>
                <a:sym typeface="Arial"/>
              </a:rPr>
              <a:t>C# is a modern, object-oriented, and type-safe programming language. C# enables developers to build many types of secure and robust applications that run in the .NET ecosystem. C# has its roots in the C family of languages and will be immediately familiar to C, C++, Java, and JavaScript programmers</a:t>
            </a:r>
            <a:endParaRPr dirty="0"/>
          </a:p>
          <a:p>
            <a:pPr marL="342900" marR="0" lvl="0" indent="-342900" algn="just" rtl="0">
              <a:spcBef>
                <a:spcPts val="1800"/>
              </a:spcBef>
              <a:spcAft>
                <a:spcPts val="0"/>
              </a:spcAft>
              <a:buClr>
                <a:srgbClr val="973735"/>
              </a:buClr>
              <a:buSzPts val="1300"/>
              <a:buFont typeface="Noto Sans Symbols"/>
              <a:buChar char="◆"/>
            </a:pPr>
            <a:r>
              <a:rPr lang="en-US" sz="2600" dirty="0">
                <a:solidFill>
                  <a:schemeClr val="dk1"/>
                </a:solidFill>
                <a:latin typeface="Arial"/>
                <a:ea typeface="Arial"/>
                <a:cs typeface="Arial"/>
                <a:sym typeface="Arial"/>
              </a:rPr>
              <a:t>C# is designed for Common Language Infrastructure (CLI), which consists of the executable code and runtime environment that allows use of various high-level languages on different computer platforms and architectures</a:t>
            </a: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31"/>
          <p:cNvSpPr txBox="1">
            <a:spLocks noGrp="1"/>
          </p:cNvSpPr>
          <p:nvPr>
            <p:ph type="title"/>
          </p:nvPr>
        </p:nvSpPr>
        <p:spPr>
          <a:xfrm>
            <a:off x="390770" y="741148"/>
            <a:ext cx="11038490" cy="512341"/>
          </a:xfrm>
          <a:prstGeom prst="rect">
            <a:avLst/>
          </a:prstGeom>
          <a:solidFill>
            <a:schemeClr val="lt1"/>
          </a:solidFill>
          <a:ln>
            <a:noFill/>
          </a:ln>
        </p:spPr>
        <p:txBody>
          <a:bodyPr spcFirstLastPara="1" wrap="square" lIns="91425" tIns="45700" rIns="91425" bIns="45700" anchor="ctr" anchorCtr="0">
            <a:noAutofit/>
          </a:bodyPr>
          <a:lstStyle/>
          <a:p>
            <a:pPr marL="0" lvl="0" indent="0" algn="just" rtl="0">
              <a:lnSpc>
                <a:spcPct val="90000"/>
              </a:lnSpc>
              <a:spcBef>
                <a:spcPts val="0"/>
              </a:spcBef>
              <a:spcAft>
                <a:spcPts val="0"/>
              </a:spcAft>
              <a:buClr>
                <a:schemeClr val="dk1"/>
              </a:buClr>
              <a:buSzPts val="4000"/>
              <a:buFont typeface="Arial"/>
              <a:buNone/>
            </a:pPr>
            <a:r>
              <a:rPr lang="en-US" sz="4000" b="1"/>
              <a:t>Why C# is selected as develop application?</a:t>
            </a:r>
            <a:endParaRPr/>
          </a:p>
        </p:txBody>
      </p:sp>
      <p:sp>
        <p:nvSpPr>
          <p:cNvPr id="381" name="Google Shape;381;p31"/>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sp>
        <p:nvSpPr>
          <p:cNvPr id="382" name="Google Shape;382;p31"/>
          <p:cNvSpPr txBox="1"/>
          <p:nvPr/>
        </p:nvSpPr>
        <p:spPr>
          <a:xfrm>
            <a:off x="315308" y="1591992"/>
            <a:ext cx="11708528" cy="5260414"/>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rgbClr val="973735"/>
              </a:buClr>
              <a:buSzPts val="1400"/>
              <a:buFont typeface="Noto Sans Symbols"/>
              <a:buChar char="◆"/>
            </a:pPr>
            <a:r>
              <a:rPr lang="en-US" sz="2800">
                <a:solidFill>
                  <a:srgbClr val="000000"/>
                </a:solidFill>
                <a:latin typeface="Arial"/>
                <a:ea typeface="Arial"/>
                <a:cs typeface="Arial"/>
                <a:sym typeface="Arial"/>
              </a:rPr>
              <a:t>The following reasons make C# a widely used professional language</a:t>
            </a:r>
            <a:endParaRPr/>
          </a:p>
          <a:p>
            <a:pPr marL="747713" marR="0" lvl="0" indent="-347663" algn="just" rtl="0">
              <a:spcBef>
                <a:spcPts val="1000"/>
              </a:spcBef>
              <a:spcAft>
                <a:spcPts val="0"/>
              </a:spcAft>
              <a:buClr>
                <a:srgbClr val="973735"/>
              </a:buClr>
              <a:buSzPts val="1610"/>
              <a:buFont typeface="Noto Sans Symbols"/>
              <a:buChar char="▪"/>
            </a:pPr>
            <a:r>
              <a:rPr lang="en-US" sz="2300">
                <a:solidFill>
                  <a:srgbClr val="111111"/>
                </a:solidFill>
                <a:latin typeface="Arial"/>
                <a:ea typeface="Arial"/>
                <a:cs typeface="Arial"/>
                <a:sym typeface="Arial"/>
              </a:rPr>
              <a:t>It is a modern, general-purpose programming language</a:t>
            </a:r>
            <a:endParaRPr/>
          </a:p>
          <a:p>
            <a:pPr marL="747713" marR="0" lvl="0" indent="-347663" algn="just" rtl="0">
              <a:spcBef>
                <a:spcPts val="400"/>
              </a:spcBef>
              <a:spcAft>
                <a:spcPts val="0"/>
              </a:spcAft>
              <a:buClr>
                <a:srgbClr val="973735"/>
              </a:buClr>
              <a:buSzPts val="1610"/>
              <a:buFont typeface="Noto Sans Symbols"/>
              <a:buChar char="▪"/>
            </a:pPr>
            <a:r>
              <a:rPr lang="en-US" sz="2300">
                <a:solidFill>
                  <a:srgbClr val="111111"/>
                </a:solidFill>
                <a:latin typeface="Arial"/>
                <a:ea typeface="Arial"/>
                <a:cs typeface="Arial"/>
                <a:sym typeface="Arial"/>
              </a:rPr>
              <a:t>It is object oriented.</a:t>
            </a:r>
            <a:endParaRPr/>
          </a:p>
          <a:p>
            <a:pPr marL="747713" marR="0" lvl="0" indent="-347663" algn="just" rtl="0">
              <a:spcBef>
                <a:spcPts val="400"/>
              </a:spcBef>
              <a:spcAft>
                <a:spcPts val="0"/>
              </a:spcAft>
              <a:buClr>
                <a:srgbClr val="973735"/>
              </a:buClr>
              <a:buSzPts val="1610"/>
              <a:buFont typeface="Noto Sans Symbols"/>
              <a:buChar char="▪"/>
            </a:pPr>
            <a:r>
              <a:rPr lang="en-US" sz="2300">
                <a:solidFill>
                  <a:srgbClr val="111111"/>
                </a:solidFill>
                <a:latin typeface="Arial"/>
                <a:ea typeface="Arial"/>
                <a:cs typeface="Arial"/>
                <a:sym typeface="Arial"/>
              </a:rPr>
              <a:t>It is component oriented.</a:t>
            </a:r>
            <a:endParaRPr/>
          </a:p>
          <a:p>
            <a:pPr marL="747713" marR="0" lvl="0" indent="-347663" algn="just" rtl="0">
              <a:spcBef>
                <a:spcPts val="400"/>
              </a:spcBef>
              <a:spcAft>
                <a:spcPts val="0"/>
              </a:spcAft>
              <a:buClr>
                <a:srgbClr val="973735"/>
              </a:buClr>
              <a:buSzPts val="1610"/>
              <a:buFont typeface="Noto Sans Symbols"/>
              <a:buChar char="▪"/>
            </a:pPr>
            <a:r>
              <a:rPr lang="en-US" sz="2300">
                <a:solidFill>
                  <a:srgbClr val="111111"/>
                </a:solidFill>
                <a:latin typeface="Arial"/>
                <a:ea typeface="Arial"/>
                <a:cs typeface="Arial"/>
                <a:sym typeface="Arial"/>
              </a:rPr>
              <a:t>It is easy to learn.</a:t>
            </a:r>
            <a:endParaRPr/>
          </a:p>
          <a:p>
            <a:pPr marL="747713" marR="0" lvl="0" indent="-347663" algn="just" rtl="0">
              <a:spcBef>
                <a:spcPts val="400"/>
              </a:spcBef>
              <a:spcAft>
                <a:spcPts val="0"/>
              </a:spcAft>
              <a:buClr>
                <a:srgbClr val="973735"/>
              </a:buClr>
              <a:buSzPts val="1610"/>
              <a:buFont typeface="Noto Sans Symbols"/>
              <a:buChar char="▪"/>
            </a:pPr>
            <a:r>
              <a:rPr lang="en-US" sz="2300">
                <a:solidFill>
                  <a:srgbClr val="111111"/>
                </a:solidFill>
                <a:latin typeface="Arial"/>
                <a:ea typeface="Arial"/>
                <a:cs typeface="Arial"/>
                <a:sym typeface="Arial"/>
              </a:rPr>
              <a:t>It is a structured language.</a:t>
            </a:r>
            <a:endParaRPr/>
          </a:p>
          <a:p>
            <a:pPr marL="747713" marR="0" lvl="0" indent="-347663" algn="just" rtl="0">
              <a:spcBef>
                <a:spcPts val="400"/>
              </a:spcBef>
              <a:spcAft>
                <a:spcPts val="0"/>
              </a:spcAft>
              <a:buClr>
                <a:srgbClr val="973735"/>
              </a:buClr>
              <a:buSzPts val="1610"/>
              <a:buFont typeface="Noto Sans Symbols"/>
              <a:buChar char="▪"/>
            </a:pPr>
            <a:r>
              <a:rPr lang="en-US" sz="2300">
                <a:solidFill>
                  <a:srgbClr val="111111"/>
                </a:solidFill>
                <a:latin typeface="Arial"/>
                <a:ea typeface="Arial"/>
                <a:cs typeface="Arial"/>
                <a:sym typeface="Arial"/>
              </a:rPr>
              <a:t>It produces efficient programs.</a:t>
            </a:r>
            <a:endParaRPr/>
          </a:p>
          <a:p>
            <a:pPr marL="747713" marR="0" lvl="0" indent="-347663" algn="just" rtl="0">
              <a:spcBef>
                <a:spcPts val="400"/>
              </a:spcBef>
              <a:spcAft>
                <a:spcPts val="0"/>
              </a:spcAft>
              <a:buClr>
                <a:srgbClr val="973735"/>
              </a:buClr>
              <a:buSzPts val="1610"/>
              <a:buFont typeface="Noto Sans Symbols"/>
              <a:buChar char="▪"/>
            </a:pPr>
            <a:r>
              <a:rPr lang="en-US" sz="2300">
                <a:solidFill>
                  <a:srgbClr val="111111"/>
                </a:solidFill>
                <a:latin typeface="Arial"/>
                <a:ea typeface="Arial"/>
                <a:cs typeface="Arial"/>
                <a:sym typeface="Arial"/>
              </a:rPr>
              <a:t>It can be compiled on a variety of computer platforms.</a:t>
            </a:r>
            <a:endParaRPr/>
          </a:p>
          <a:p>
            <a:pPr marL="747713" marR="0" lvl="0" indent="-347663" algn="just" rtl="0">
              <a:spcBef>
                <a:spcPts val="400"/>
              </a:spcBef>
              <a:spcAft>
                <a:spcPts val="0"/>
              </a:spcAft>
              <a:buClr>
                <a:srgbClr val="973735"/>
              </a:buClr>
              <a:buSzPts val="1610"/>
              <a:buFont typeface="Noto Sans Symbols"/>
              <a:buChar char="▪"/>
            </a:pPr>
            <a:r>
              <a:rPr lang="en-US" sz="2300">
                <a:solidFill>
                  <a:srgbClr val="111111"/>
                </a:solidFill>
                <a:latin typeface="Arial"/>
                <a:ea typeface="Arial"/>
                <a:cs typeface="Arial"/>
                <a:sym typeface="Arial"/>
              </a:rPr>
              <a:t>It is a part of .Net</a:t>
            </a:r>
            <a:endParaRPr sz="2300">
              <a:solidFill>
                <a:srgbClr val="111111"/>
              </a:solidFill>
              <a:latin typeface="Arial"/>
              <a:ea typeface="Arial"/>
              <a:cs typeface="Arial"/>
              <a:sym typeface="Arial"/>
            </a:endParaRPr>
          </a:p>
          <a:p>
            <a:pPr marL="342900" marR="0" lvl="0" indent="-342900" algn="just" rtl="0">
              <a:spcBef>
                <a:spcPts val="500"/>
              </a:spcBef>
              <a:spcAft>
                <a:spcPts val="0"/>
              </a:spcAft>
              <a:buClr>
                <a:srgbClr val="973735"/>
              </a:buClr>
              <a:buSzPts val="1300"/>
              <a:buFont typeface="Noto Sans Symbols"/>
              <a:buChar char="◆"/>
            </a:pPr>
            <a:r>
              <a:rPr lang="en-US" sz="2600">
                <a:solidFill>
                  <a:schemeClr val="dk1"/>
                </a:solidFill>
                <a:latin typeface="Arial"/>
                <a:ea typeface="Arial"/>
                <a:cs typeface="Arial"/>
                <a:sym typeface="Arial"/>
              </a:rPr>
              <a:t>More C# features : </a:t>
            </a:r>
            <a:endParaRPr/>
          </a:p>
          <a:p>
            <a:pPr marL="0" marR="0" lvl="0" indent="0" algn="just" rtl="0">
              <a:spcBef>
                <a:spcPts val="600"/>
              </a:spcBef>
              <a:spcAft>
                <a:spcPts val="0"/>
              </a:spcAft>
              <a:buNone/>
            </a:pPr>
            <a:r>
              <a:rPr lang="en-US" sz="2600">
                <a:solidFill>
                  <a:schemeClr val="dk1"/>
                </a:solidFill>
                <a:latin typeface="Arial"/>
                <a:ea typeface="Arial"/>
                <a:cs typeface="Arial"/>
                <a:sym typeface="Arial"/>
              </a:rPr>
              <a:t>    </a:t>
            </a:r>
            <a:r>
              <a:rPr lang="en-US" sz="2600" u="sng">
                <a:solidFill>
                  <a:schemeClr val="dk1"/>
                </a:solidFill>
                <a:latin typeface="Arial"/>
                <a:ea typeface="Arial"/>
                <a:cs typeface="Arial"/>
                <a:sym typeface="Arial"/>
                <a:hlinkClick r:id="rId3">
                  <a:extLst>
                    <a:ext uri="{A12FA001-AC4F-418D-AE19-62706E023703}">
                      <ahyp:hlinkClr xmlns:ahyp="http://schemas.microsoft.com/office/drawing/2018/hyperlinkcolor" val="tx"/>
                    </a:ext>
                  </a:extLst>
                </a:hlinkClick>
              </a:rPr>
              <a:t>https://docs.microsoft.com/en-us/dotnet/csharp/language-reference/</a:t>
            </a:r>
            <a:endParaRPr sz="2600">
              <a:solidFill>
                <a:schemeClr val="dk1"/>
              </a:solidFill>
              <a:latin typeface="Arial"/>
              <a:ea typeface="Arial"/>
              <a:cs typeface="Arial"/>
              <a:sym typeface="Arial"/>
            </a:endParaRPr>
          </a:p>
          <a:p>
            <a:pPr marL="0" marR="0" lvl="0" indent="0" algn="just" rtl="0">
              <a:spcBef>
                <a:spcPts val="600"/>
              </a:spcBef>
              <a:spcAft>
                <a:spcPts val="0"/>
              </a:spcAft>
              <a:buNone/>
            </a:pPr>
            <a:endParaRPr sz="2600">
              <a:solidFill>
                <a:schemeClr val="dk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32"/>
          <p:cNvSpPr txBox="1">
            <a:spLocks noGrp="1"/>
          </p:cNvSpPr>
          <p:nvPr>
            <p:ph type="title"/>
          </p:nvPr>
        </p:nvSpPr>
        <p:spPr>
          <a:xfrm>
            <a:off x="428298" y="769084"/>
            <a:ext cx="1051560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Introduction to dotnet CLI</a:t>
            </a:r>
            <a:endParaRPr/>
          </a:p>
        </p:txBody>
      </p:sp>
      <p:sp>
        <p:nvSpPr>
          <p:cNvPr id="388" name="Google Shape;388;p32"/>
          <p:cNvSpPr txBox="1">
            <a:spLocks noGrp="1"/>
          </p:cNvSpPr>
          <p:nvPr>
            <p:ph type="body" idx="1"/>
          </p:nvPr>
        </p:nvSpPr>
        <p:spPr>
          <a:xfrm>
            <a:off x="428298" y="1536522"/>
            <a:ext cx="11374819" cy="4816152"/>
          </a:xfrm>
          <a:prstGeom prst="rect">
            <a:avLst/>
          </a:prstGeom>
          <a:noFill/>
          <a:ln>
            <a:noFill/>
          </a:ln>
        </p:spPr>
        <p:txBody>
          <a:bodyPr spcFirstLastPara="1" wrap="square" lIns="91425" tIns="45700" rIns="91425" bIns="45700" anchor="t" anchorCtr="0">
            <a:noAutofit/>
          </a:bodyPr>
          <a:lstStyle/>
          <a:p>
            <a:pPr marL="342900" lvl="0" algn="just">
              <a:spcBef>
                <a:spcPts val="0"/>
              </a:spcBef>
              <a:buClr>
                <a:srgbClr val="973735"/>
              </a:buClr>
              <a:buSzPts val="1300"/>
              <a:buFont typeface="Noto Sans Symbols"/>
              <a:buChar char="◆"/>
            </a:pPr>
            <a:r>
              <a:rPr lang="en-US" sz="2600" dirty="0"/>
              <a:t>Download: </a:t>
            </a:r>
            <a:r>
              <a:rPr lang="en-US" sz="2600" dirty="0">
                <a:hlinkClick r:id="rId3"/>
              </a:rPr>
              <a:t>https://dotnet.microsoft.com/en-us/download/dotnet</a:t>
            </a:r>
            <a:r>
              <a:rPr lang="en-US" sz="2600" dirty="0"/>
              <a:t>   </a:t>
            </a:r>
          </a:p>
          <a:p>
            <a:pPr marL="342900" lvl="0" algn="just">
              <a:spcBef>
                <a:spcPts val="0"/>
              </a:spcBef>
              <a:buClr>
                <a:srgbClr val="973735"/>
              </a:buClr>
              <a:buSzPts val="1300"/>
              <a:buFont typeface="Noto Sans Symbols"/>
              <a:buChar char="◆"/>
            </a:pPr>
            <a:endParaRPr lang="en-US" sz="2600" dirty="0"/>
          </a:p>
          <a:p>
            <a:pPr marL="342900" lvl="0" algn="just">
              <a:spcBef>
                <a:spcPts val="0"/>
              </a:spcBef>
              <a:buClr>
                <a:srgbClr val="973735"/>
              </a:buClr>
              <a:buSzPts val="1300"/>
              <a:buFont typeface="Noto Sans Symbols"/>
              <a:buChar char="◆"/>
            </a:pPr>
            <a:r>
              <a:rPr lang="en-US" sz="2600" dirty="0"/>
              <a:t>Check SDK versions </a:t>
            </a:r>
          </a:p>
          <a:p>
            <a:pPr marL="0" lvl="0" indent="0" algn="just">
              <a:spcBef>
                <a:spcPts val="0"/>
              </a:spcBef>
              <a:buClr>
                <a:srgbClr val="973735"/>
              </a:buClr>
              <a:buSzPts val="1300"/>
              <a:buNone/>
            </a:pPr>
            <a:r>
              <a:rPr lang="en-US" sz="2600" dirty="0"/>
              <a:t>	</a:t>
            </a:r>
            <a:r>
              <a:rPr lang="en-US" sz="2600" dirty="0" err="1"/>
              <a:t>dotnet</a:t>
            </a:r>
            <a:r>
              <a:rPr lang="en-US" sz="2600" dirty="0"/>
              <a:t> --list-</a:t>
            </a:r>
            <a:r>
              <a:rPr lang="en-US" sz="2600" dirty="0" err="1"/>
              <a:t>sdks</a:t>
            </a:r>
            <a:endParaRPr lang="en-US" sz="2600" dirty="0"/>
          </a:p>
          <a:p>
            <a:pPr marL="342900" lvl="0" algn="just">
              <a:spcBef>
                <a:spcPts val="0"/>
              </a:spcBef>
              <a:buClr>
                <a:srgbClr val="973735"/>
              </a:buClr>
              <a:buSzPts val="1300"/>
              <a:buFont typeface="Noto Sans Symbols"/>
              <a:buChar char="◆"/>
            </a:pPr>
            <a:endParaRPr lang="en-US" sz="2600" dirty="0"/>
          </a:p>
          <a:p>
            <a:pPr marL="342900" lvl="0" algn="just">
              <a:spcBef>
                <a:spcPts val="0"/>
              </a:spcBef>
              <a:buClr>
                <a:srgbClr val="973735"/>
              </a:buClr>
              <a:buSzPts val="1300"/>
              <a:buFont typeface="Noto Sans Symbols"/>
              <a:buChar char="◆"/>
            </a:pPr>
            <a:r>
              <a:rPr lang="en-US" sz="2600" dirty="0"/>
              <a:t>Check runtime versions</a:t>
            </a:r>
          </a:p>
          <a:p>
            <a:pPr marL="0" lvl="0" indent="0" algn="just">
              <a:spcBef>
                <a:spcPts val="0"/>
              </a:spcBef>
              <a:buClr>
                <a:srgbClr val="973735"/>
              </a:buClr>
              <a:buSzPts val="1300"/>
              <a:buNone/>
            </a:pPr>
            <a:r>
              <a:rPr lang="en-US" sz="2600" dirty="0"/>
              <a:t>	</a:t>
            </a:r>
            <a:r>
              <a:rPr lang="en-US" sz="2600" dirty="0" err="1"/>
              <a:t>dotnet</a:t>
            </a:r>
            <a:r>
              <a:rPr lang="en-US" sz="2600" dirty="0"/>
              <a:t> --list-runtimes</a:t>
            </a:r>
          </a:p>
          <a:p>
            <a:pPr marL="342900" lvl="0" algn="just">
              <a:spcBef>
                <a:spcPts val="0"/>
              </a:spcBef>
              <a:buClr>
                <a:srgbClr val="973735"/>
              </a:buClr>
              <a:buSzPts val="1300"/>
              <a:buFont typeface="Noto Sans Symbols"/>
              <a:buChar char="◆"/>
            </a:pPr>
            <a:endParaRPr lang="en-US" sz="2600" dirty="0"/>
          </a:p>
          <a:p>
            <a:pPr marL="342900" lvl="0" algn="just">
              <a:spcBef>
                <a:spcPts val="0"/>
              </a:spcBef>
              <a:buClr>
                <a:srgbClr val="973735"/>
              </a:buClr>
              <a:buSzPts val="1300"/>
              <a:buFont typeface="Noto Sans Symbols"/>
              <a:buChar char="◆"/>
            </a:pPr>
            <a:r>
              <a:rPr lang="en-US" sz="2600" dirty="0"/>
              <a:t>The </a:t>
            </a:r>
            <a:r>
              <a:rPr lang="en-US" sz="2600" dirty="0" err="1"/>
              <a:t>global.json</a:t>
            </a:r>
            <a:r>
              <a:rPr lang="en-US" sz="2600" dirty="0"/>
              <a:t> file allows you to define which .NET SDK version is used when you run .NET CLI commands. </a:t>
            </a:r>
          </a:p>
          <a:p>
            <a:pPr marL="0" lvl="0" indent="0" algn="just">
              <a:spcBef>
                <a:spcPts val="0"/>
              </a:spcBef>
              <a:buClr>
                <a:srgbClr val="973735"/>
              </a:buClr>
              <a:buSzPts val="1300"/>
              <a:buNone/>
            </a:pPr>
            <a:r>
              <a:rPr lang="en-US" sz="2600" dirty="0"/>
              <a:t>	</a:t>
            </a:r>
            <a:r>
              <a:rPr lang="en-US" sz="2600" dirty="0" err="1"/>
              <a:t>dotnet</a:t>
            </a:r>
            <a:r>
              <a:rPr lang="en-US" sz="2600" dirty="0"/>
              <a:t> new </a:t>
            </a:r>
            <a:r>
              <a:rPr lang="en-US" sz="2600" dirty="0" err="1"/>
              <a:t>globaljson</a:t>
            </a:r>
            <a:endParaRPr lang="en-US" sz="2600" dirty="0"/>
          </a:p>
          <a:p>
            <a:pPr marL="342900" lvl="0" algn="just">
              <a:spcBef>
                <a:spcPts val="0"/>
              </a:spcBef>
              <a:buClr>
                <a:srgbClr val="973735"/>
              </a:buClr>
              <a:buSzPts val="1300"/>
              <a:buFont typeface="Noto Sans Symbols"/>
              <a:buChar char="◆"/>
            </a:pPr>
            <a:endParaRPr lang="en-US" sz="2600" dirty="0"/>
          </a:p>
          <a:p>
            <a:pPr marL="342900" lvl="0" algn="just">
              <a:spcBef>
                <a:spcPts val="0"/>
              </a:spcBef>
              <a:buClr>
                <a:srgbClr val="973735"/>
              </a:buClr>
              <a:buSzPts val="1300"/>
              <a:buFont typeface="Noto Sans Symbols"/>
              <a:buChar char="◆"/>
            </a:pPr>
            <a:endParaRPr sz="2600" dirty="0"/>
          </a:p>
          <a:p>
            <a:pPr marL="0" lvl="0" indent="0" algn="l" rtl="0">
              <a:lnSpc>
                <a:spcPct val="90000"/>
              </a:lnSpc>
              <a:spcBef>
                <a:spcPts val="1300"/>
              </a:spcBef>
              <a:spcAft>
                <a:spcPts val="0"/>
              </a:spcAft>
              <a:buClr>
                <a:srgbClr val="973735"/>
              </a:buClr>
              <a:buSzPts val="1300"/>
              <a:buNone/>
            </a:pPr>
            <a:endParaRPr sz="2600" dirty="0"/>
          </a:p>
          <a:p>
            <a:pPr marL="0" lvl="0" indent="0" algn="just" rtl="0">
              <a:lnSpc>
                <a:spcPct val="90000"/>
              </a:lnSpc>
              <a:spcBef>
                <a:spcPts val="1800"/>
              </a:spcBef>
              <a:spcAft>
                <a:spcPts val="0"/>
              </a:spcAft>
              <a:buClr>
                <a:srgbClr val="973735"/>
              </a:buClr>
              <a:buSzPts val="1300"/>
              <a:buNone/>
            </a:pPr>
            <a:endParaRPr sz="2600" dirty="0"/>
          </a:p>
        </p:txBody>
      </p:sp>
      <p:sp>
        <p:nvSpPr>
          <p:cNvPr id="390" name="Google Shape;390;p32"/>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32"/>
          <p:cNvSpPr txBox="1">
            <a:spLocks noGrp="1"/>
          </p:cNvSpPr>
          <p:nvPr>
            <p:ph type="title"/>
          </p:nvPr>
        </p:nvSpPr>
        <p:spPr>
          <a:xfrm>
            <a:off x="428298" y="769084"/>
            <a:ext cx="1051560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Introduction to dotnet CLI</a:t>
            </a:r>
            <a:endParaRPr/>
          </a:p>
        </p:txBody>
      </p:sp>
      <p:sp>
        <p:nvSpPr>
          <p:cNvPr id="388" name="Google Shape;388;p32"/>
          <p:cNvSpPr txBox="1">
            <a:spLocks noGrp="1"/>
          </p:cNvSpPr>
          <p:nvPr>
            <p:ph type="body" idx="1"/>
          </p:nvPr>
        </p:nvSpPr>
        <p:spPr>
          <a:xfrm>
            <a:off x="428298" y="1536522"/>
            <a:ext cx="11374819" cy="1892478"/>
          </a:xfrm>
          <a:prstGeom prst="rect">
            <a:avLst/>
          </a:prstGeom>
          <a:noFill/>
          <a:ln>
            <a:noFill/>
          </a:ln>
        </p:spPr>
        <p:txBody>
          <a:bodyPr spcFirstLastPara="1" wrap="square" lIns="91425" tIns="45700" rIns="91425" bIns="45700" anchor="t" anchorCtr="0">
            <a:noAutofit/>
          </a:bodyPr>
          <a:lstStyle/>
          <a:p>
            <a:pPr marL="342900" lvl="0" indent="-342900" algn="just" rtl="0">
              <a:lnSpc>
                <a:spcPct val="90000"/>
              </a:lnSpc>
              <a:spcBef>
                <a:spcPts val="0"/>
              </a:spcBef>
              <a:spcAft>
                <a:spcPts val="0"/>
              </a:spcAft>
              <a:buClr>
                <a:srgbClr val="973735"/>
              </a:buClr>
              <a:buSzPts val="1300"/>
              <a:buFont typeface="Noto Sans Symbols"/>
              <a:buChar char="◆"/>
            </a:pPr>
            <a:r>
              <a:rPr lang="en-US" sz="2600"/>
              <a:t>The .NET command-line interface(CLI) is a cross-platform for developing, building, running, and publishing .NET applications.</a:t>
            </a:r>
            <a:endParaRPr/>
          </a:p>
          <a:p>
            <a:pPr marL="342900" lvl="0" indent="-342900" algn="l" rtl="0">
              <a:lnSpc>
                <a:spcPct val="90000"/>
              </a:lnSpc>
              <a:spcBef>
                <a:spcPts val="1100"/>
              </a:spcBef>
              <a:spcAft>
                <a:spcPts val="0"/>
              </a:spcAft>
              <a:buClr>
                <a:srgbClr val="973735"/>
              </a:buClr>
              <a:buSzPts val="1300"/>
              <a:buFont typeface="Noto Sans Symbols"/>
              <a:buChar char="◆"/>
            </a:pPr>
            <a:r>
              <a:rPr lang="en-US" sz="2600"/>
              <a:t>More dotnet CLI :</a:t>
            </a:r>
            <a:endParaRPr/>
          </a:p>
          <a:p>
            <a:pPr marL="0" lvl="0" indent="0" algn="l" rtl="0">
              <a:lnSpc>
                <a:spcPct val="90000"/>
              </a:lnSpc>
              <a:spcBef>
                <a:spcPts val="600"/>
              </a:spcBef>
              <a:spcAft>
                <a:spcPts val="0"/>
              </a:spcAft>
              <a:buClr>
                <a:srgbClr val="973735"/>
              </a:buClr>
              <a:buSzPts val="1300"/>
              <a:buNone/>
            </a:pPr>
            <a:r>
              <a:rPr lang="en-US" sz="2600"/>
              <a:t>    </a:t>
            </a:r>
            <a:r>
              <a:rPr lang="en-US" sz="2600" u="sng">
                <a:solidFill>
                  <a:schemeClr val="hlink"/>
                </a:solidFill>
                <a:hlinkClick r:id="rId3"/>
              </a:rPr>
              <a:t>https://docs.microsoft.com/en-us/dotnet/core/tools/dotnet/</a:t>
            </a:r>
            <a:endParaRPr sz="2600"/>
          </a:p>
          <a:p>
            <a:pPr marL="0" lvl="0" indent="0" algn="l" rtl="0">
              <a:lnSpc>
                <a:spcPct val="90000"/>
              </a:lnSpc>
              <a:spcBef>
                <a:spcPts val="1300"/>
              </a:spcBef>
              <a:spcAft>
                <a:spcPts val="0"/>
              </a:spcAft>
              <a:buClr>
                <a:srgbClr val="973735"/>
              </a:buClr>
              <a:buSzPts val="1300"/>
              <a:buNone/>
            </a:pPr>
            <a:endParaRPr sz="2600"/>
          </a:p>
          <a:p>
            <a:pPr marL="0" lvl="0" indent="0" algn="just" rtl="0">
              <a:lnSpc>
                <a:spcPct val="90000"/>
              </a:lnSpc>
              <a:spcBef>
                <a:spcPts val="1800"/>
              </a:spcBef>
              <a:spcAft>
                <a:spcPts val="0"/>
              </a:spcAft>
              <a:buClr>
                <a:srgbClr val="973735"/>
              </a:buClr>
              <a:buSzPts val="1300"/>
              <a:buNone/>
            </a:pPr>
            <a:endParaRPr sz="2600"/>
          </a:p>
        </p:txBody>
      </p:sp>
      <p:sp>
        <p:nvSpPr>
          <p:cNvPr id="390" name="Google Shape;390;p32"/>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pic>
        <p:nvPicPr>
          <p:cNvPr id="391" name="Google Shape;391;p32"/>
          <p:cNvPicPr preferRelativeResize="0"/>
          <p:nvPr/>
        </p:nvPicPr>
        <p:blipFill rotWithShape="1">
          <a:blip r:embed="rId4">
            <a:alphaModFix/>
          </a:blip>
          <a:srcRect/>
          <a:stretch/>
        </p:blipFill>
        <p:spPr>
          <a:xfrm>
            <a:off x="838200" y="3429000"/>
            <a:ext cx="10612743" cy="2896953"/>
          </a:xfrm>
          <a:prstGeom prst="rect">
            <a:avLst/>
          </a:prstGeom>
          <a:noFill/>
          <a:ln>
            <a:noFill/>
          </a:ln>
        </p:spPr>
      </p:pic>
    </p:spTree>
    <p:extLst>
      <p:ext uri="{BB962C8B-B14F-4D97-AF65-F5344CB8AC3E}">
        <p14:creationId xmlns:p14="http://schemas.microsoft.com/office/powerpoint/2010/main" val="10369825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33"/>
          <p:cNvSpPr txBox="1">
            <a:spLocks noGrp="1"/>
          </p:cNvSpPr>
          <p:nvPr>
            <p:ph type="title"/>
          </p:nvPr>
        </p:nvSpPr>
        <p:spPr>
          <a:xfrm>
            <a:off x="428298" y="641918"/>
            <a:ext cx="1051560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Introduction to dotnet CLI</a:t>
            </a:r>
            <a:endParaRPr/>
          </a:p>
        </p:txBody>
      </p:sp>
      <p:sp>
        <p:nvSpPr>
          <p:cNvPr id="398" name="Google Shape;398;p33"/>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pic>
        <p:nvPicPr>
          <p:cNvPr id="399" name="Google Shape;399;p33"/>
          <p:cNvPicPr preferRelativeResize="0"/>
          <p:nvPr/>
        </p:nvPicPr>
        <p:blipFill rotWithShape="1">
          <a:blip r:embed="rId3">
            <a:alphaModFix/>
          </a:blip>
          <a:srcRect/>
          <a:stretch/>
        </p:blipFill>
        <p:spPr>
          <a:xfrm>
            <a:off x="1075319" y="1492361"/>
            <a:ext cx="10065647" cy="490949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5" name="Google Shape;405;p34"/>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a:p>
        </p:txBody>
      </p:sp>
      <p:pic>
        <p:nvPicPr>
          <p:cNvPr id="406" name="Google Shape;406;p34"/>
          <p:cNvPicPr preferRelativeResize="0"/>
          <p:nvPr/>
        </p:nvPicPr>
        <p:blipFill rotWithShape="1">
          <a:blip r:embed="rId3">
            <a:alphaModFix/>
          </a:blip>
          <a:srcRect/>
          <a:stretch/>
        </p:blipFill>
        <p:spPr>
          <a:xfrm>
            <a:off x="6148550" y="1980024"/>
            <a:ext cx="5977464" cy="3085961"/>
          </a:xfrm>
          <a:prstGeom prst="rect">
            <a:avLst/>
          </a:prstGeom>
          <a:noFill/>
          <a:ln>
            <a:noFill/>
          </a:ln>
        </p:spPr>
      </p:pic>
      <p:pic>
        <p:nvPicPr>
          <p:cNvPr id="407" name="Google Shape;407;p34"/>
          <p:cNvPicPr preferRelativeResize="0"/>
          <p:nvPr/>
        </p:nvPicPr>
        <p:blipFill rotWithShape="1">
          <a:blip r:embed="rId4">
            <a:alphaModFix/>
          </a:blip>
          <a:srcRect/>
          <a:stretch/>
        </p:blipFill>
        <p:spPr>
          <a:xfrm>
            <a:off x="140600" y="1980024"/>
            <a:ext cx="5944890" cy="3085961"/>
          </a:xfrm>
          <a:prstGeom prst="rect">
            <a:avLst/>
          </a:prstGeom>
          <a:noFill/>
          <a:ln>
            <a:noFill/>
          </a:ln>
        </p:spPr>
      </p:pic>
      <p:sp>
        <p:nvSpPr>
          <p:cNvPr id="408" name="Google Shape;408;p34"/>
          <p:cNvSpPr txBox="1">
            <a:spLocks noGrp="1"/>
          </p:cNvSpPr>
          <p:nvPr>
            <p:ph type="title"/>
          </p:nvPr>
        </p:nvSpPr>
        <p:spPr>
          <a:xfrm>
            <a:off x="449319" y="697233"/>
            <a:ext cx="1051560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Introduction to dotnet CLI</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35"/>
          <p:cNvSpPr txBox="1">
            <a:spLocks noGrp="1"/>
          </p:cNvSpPr>
          <p:nvPr>
            <p:ph type="ctrTitle"/>
          </p:nvPr>
        </p:nvSpPr>
        <p:spPr>
          <a:xfrm>
            <a:off x="1524000" y="2241458"/>
            <a:ext cx="9202270" cy="1774360"/>
          </a:xfrm>
          <a:prstGeom prst="rect">
            <a:avLst/>
          </a:prstGeom>
          <a:gradFill>
            <a:gsLst>
              <a:gs pos="0">
                <a:srgbClr val="F6F9FC"/>
              </a:gs>
              <a:gs pos="74000">
                <a:srgbClr val="B3D1EC"/>
              </a:gs>
              <a:gs pos="83000">
                <a:srgbClr val="B3D1EC"/>
              </a:gs>
              <a:gs pos="100000">
                <a:srgbClr val="CCE0F2"/>
              </a:gs>
            </a:gsLst>
            <a:lin ang="5400000" scaled="0"/>
          </a:grad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Arial"/>
              <a:buNone/>
            </a:pPr>
            <a:r>
              <a:rPr lang="en-US" sz="4000" b="1">
                <a:latin typeface="Arial"/>
                <a:ea typeface="Arial"/>
                <a:cs typeface="Arial"/>
                <a:sym typeface="Arial"/>
              </a:rPr>
              <a:t> </a:t>
            </a:r>
            <a:r>
              <a:rPr lang="en-US" sz="4400" b="1">
                <a:solidFill>
                  <a:schemeClr val="accent2"/>
                </a:solidFill>
                <a:latin typeface="Arial"/>
                <a:ea typeface="Arial"/>
                <a:cs typeface="Arial"/>
                <a:sym typeface="Arial"/>
              </a:rPr>
              <a:t>Demo Create a C# Console App using dotnet CLI</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9" name="Google Shape;419;p36"/>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30</a:t>
            </a:fld>
            <a:endParaRPr/>
          </a:p>
        </p:txBody>
      </p:sp>
      <p:sp>
        <p:nvSpPr>
          <p:cNvPr id="420" name="Google Shape;420;p36"/>
          <p:cNvSpPr/>
          <p:nvPr/>
        </p:nvSpPr>
        <p:spPr>
          <a:xfrm>
            <a:off x="6073070" y="3100936"/>
            <a:ext cx="2044741" cy="288924"/>
          </a:xfrm>
          <a:prstGeom prst="rect">
            <a:avLst/>
          </a:prstGeom>
          <a:noFill/>
          <a:ln w="1905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21" name="Google Shape;421;p36"/>
          <p:cNvSpPr txBox="1">
            <a:spLocks noGrp="1"/>
          </p:cNvSpPr>
          <p:nvPr>
            <p:ph type="title"/>
          </p:nvPr>
        </p:nvSpPr>
        <p:spPr>
          <a:xfrm>
            <a:off x="323195" y="649663"/>
            <a:ext cx="4774322"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On Windows OS</a:t>
            </a:r>
            <a:endParaRPr sz="4000" b="1"/>
          </a:p>
        </p:txBody>
      </p:sp>
      <p:sp>
        <p:nvSpPr>
          <p:cNvPr id="422" name="Google Shape;422;p36"/>
          <p:cNvSpPr txBox="1"/>
          <p:nvPr/>
        </p:nvSpPr>
        <p:spPr>
          <a:xfrm>
            <a:off x="323195" y="1321638"/>
            <a:ext cx="11757988" cy="492402"/>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rgbClr val="973735"/>
              </a:buClr>
              <a:buSzPts val="1300"/>
              <a:buFont typeface="Noto Sans Symbols"/>
              <a:buChar char="◆"/>
            </a:pPr>
            <a:r>
              <a:rPr lang="en-US" sz="2600" dirty="0">
                <a:solidFill>
                  <a:schemeClr val="dk1"/>
                </a:solidFill>
                <a:latin typeface="Arial"/>
                <a:ea typeface="Arial"/>
                <a:cs typeface="Arial"/>
                <a:sym typeface="Arial"/>
              </a:rPr>
              <a:t>Install package</a:t>
            </a:r>
            <a:r>
              <a:rPr lang="en-US" sz="2600">
                <a:solidFill>
                  <a:schemeClr val="dk1"/>
                </a:solidFill>
                <a:latin typeface="Arial"/>
                <a:ea typeface="Arial"/>
                <a:cs typeface="Arial"/>
                <a:sym typeface="Arial"/>
              </a:rPr>
              <a:t>: </a:t>
            </a:r>
            <a:r>
              <a:rPr lang="en-US" sz="2600" b="1">
                <a:solidFill>
                  <a:schemeClr val="dk1"/>
                </a:solidFill>
                <a:latin typeface="Arial"/>
                <a:ea typeface="Arial"/>
                <a:cs typeface="Arial"/>
                <a:sym typeface="Arial"/>
              </a:rPr>
              <a:t>dotnet-sdk-xxx.exe </a:t>
            </a:r>
            <a:r>
              <a:rPr lang="en-US" sz="2600" dirty="0">
                <a:solidFill>
                  <a:schemeClr val="dk1"/>
                </a:solidFill>
                <a:latin typeface="Arial"/>
                <a:ea typeface="Arial"/>
                <a:cs typeface="Arial"/>
                <a:sym typeface="Arial"/>
              </a:rPr>
              <a:t>and open Command Prompt dialog</a:t>
            </a:r>
            <a:r>
              <a:rPr lang="en-US" sz="2600" b="1" dirty="0">
                <a:solidFill>
                  <a:schemeClr val="dk1"/>
                </a:solidFill>
                <a:latin typeface="Arial"/>
                <a:ea typeface="Arial"/>
                <a:cs typeface="Arial"/>
                <a:sym typeface="Arial"/>
              </a:rPr>
              <a:t> </a:t>
            </a:r>
            <a:endParaRPr dirty="0"/>
          </a:p>
        </p:txBody>
      </p:sp>
      <p:sp>
        <p:nvSpPr>
          <p:cNvPr id="423" name="Google Shape;423;p36"/>
          <p:cNvSpPr txBox="1"/>
          <p:nvPr/>
        </p:nvSpPr>
        <p:spPr>
          <a:xfrm flipH="1">
            <a:off x="323195" y="2248489"/>
            <a:ext cx="11179899" cy="5900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973735"/>
              </a:buClr>
              <a:buSzPts val="1300"/>
              <a:buFont typeface="Arial"/>
              <a:buNone/>
            </a:pPr>
            <a:r>
              <a:rPr lang="en-US" sz="2600">
                <a:solidFill>
                  <a:schemeClr val="dk1"/>
                </a:solidFill>
                <a:latin typeface="Arial"/>
                <a:ea typeface="Arial"/>
                <a:cs typeface="Arial"/>
                <a:sym typeface="Arial"/>
              </a:rPr>
              <a:t>1. Create Console App named </a:t>
            </a:r>
            <a:r>
              <a:rPr lang="en-US" sz="2600" b="1" i="1">
                <a:solidFill>
                  <a:schemeClr val="dk1"/>
                </a:solidFill>
                <a:latin typeface="Arial"/>
                <a:ea typeface="Arial"/>
                <a:cs typeface="Arial"/>
                <a:sym typeface="Arial"/>
              </a:rPr>
              <a:t>HelloWorldApp </a:t>
            </a:r>
            <a:r>
              <a:rPr lang="en-US" sz="2600">
                <a:solidFill>
                  <a:schemeClr val="dk1"/>
                </a:solidFill>
                <a:latin typeface="Arial"/>
                <a:ea typeface="Arial"/>
                <a:cs typeface="Arial"/>
                <a:sym typeface="Arial"/>
              </a:rPr>
              <a:t>with C# language</a:t>
            </a:r>
            <a:endParaRPr/>
          </a:p>
          <a:p>
            <a:pPr marL="0" marR="0" lvl="0" indent="0" algn="just" rtl="0">
              <a:lnSpc>
                <a:spcPct val="90000"/>
              </a:lnSpc>
              <a:spcBef>
                <a:spcPts val="1800"/>
              </a:spcBef>
              <a:spcAft>
                <a:spcPts val="0"/>
              </a:spcAft>
              <a:buClr>
                <a:srgbClr val="973735"/>
              </a:buClr>
              <a:buSzPts val="1300"/>
              <a:buFont typeface="Arial"/>
              <a:buNone/>
            </a:pPr>
            <a:endParaRPr sz="2600">
              <a:solidFill>
                <a:schemeClr val="dk1"/>
              </a:solidFill>
              <a:latin typeface="Arial"/>
              <a:ea typeface="Arial"/>
              <a:cs typeface="Arial"/>
              <a:sym typeface="Arial"/>
            </a:endParaRPr>
          </a:p>
          <a:p>
            <a:pPr marL="0" marR="0" lvl="0" indent="0" algn="just" rtl="0">
              <a:lnSpc>
                <a:spcPct val="90000"/>
              </a:lnSpc>
              <a:spcBef>
                <a:spcPts val="1800"/>
              </a:spcBef>
              <a:spcAft>
                <a:spcPts val="0"/>
              </a:spcAft>
              <a:buClr>
                <a:srgbClr val="973735"/>
              </a:buClr>
              <a:buSzPts val="1300"/>
              <a:buFont typeface="Arial"/>
              <a:buNone/>
            </a:pPr>
            <a:r>
              <a:rPr lang="en-US" sz="2600">
                <a:solidFill>
                  <a:schemeClr val="dk1"/>
                </a:solidFill>
                <a:latin typeface="Arial"/>
                <a:ea typeface="Arial"/>
                <a:cs typeface="Arial"/>
                <a:sym typeface="Arial"/>
              </a:rPr>
              <a:t>								</a:t>
            </a:r>
            <a:endParaRPr/>
          </a:p>
          <a:p>
            <a:pPr marL="0" marR="0" lvl="0" indent="0" algn="just" rtl="0">
              <a:lnSpc>
                <a:spcPct val="90000"/>
              </a:lnSpc>
              <a:spcBef>
                <a:spcPts val="1800"/>
              </a:spcBef>
              <a:spcAft>
                <a:spcPts val="0"/>
              </a:spcAft>
              <a:buClr>
                <a:srgbClr val="973735"/>
              </a:buClr>
              <a:buSzPts val="1300"/>
              <a:buFont typeface="Arial"/>
              <a:buNone/>
            </a:pPr>
            <a:r>
              <a:rPr lang="en-US" sz="2600">
                <a:solidFill>
                  <a:schemeClr val="dk1"/>
                </a:solidFill>
                <a:latin typeface="Arial"/>
                <a:ea typeface="Arial"/>
                <a:cs typeface="Arial"/>
                <a:sym typeface="Arial"/>
              </a:rPr>
              <a:t>  </a:t>
            </a:r>
            <a:endParaRPr/>
          </a:p>
        </p:txBody>
      </p:sp>
      <p:grpSp>
        <p:nvGrpSpPr>
          <p:cNvPr id="424" name="Google Shape;424;p36"/>
          <p:cNvGrpSpPr/>
          <p:nvPr/>
        </p:nvGrpSpPr>
        <p:grpSpPr>
          <a:xfrm>
            <a:off x="422301" y="3057850"/>
            <a:ext cx="8263759" cy="2531548"/>
            <a:chOff x="838200" y="2707649"/>
            <a:chExt cx="8263759" cy="2531548"/>
          </a:xfrm>
        </p:grpSpPr>
        <p:pic>
          <p:nvPicPr>
            <p:cNvPr id="425" name="Google Shape;425;p36"/>
            <p:cNvPicPr preferRelativeResize="0"/>
            <p:nvPr/>
          </p:nvPicPr>
          <p:blipFill rotWithShape="1">
            <a:blip r:embed="rId3">
              <a:alphaModFix/>
            </a:blip>
            <a:srcRect/>
            <a:stretch/>
          </p:blipFill>
          <p:spPr>
            <a:xfrm>
              <a:off x="838200" y="2707649"/>
              <a:ext cx="8263759" cy="2531548"/>
            </a:xfrm>
            <a:prstGeom prst="rect">
              <a:avLst/>
            </a:prstGeom>
            <a:noFill/>
            <a:ln>
              <a:noFill/>
            </a:ln>
          </p:spPr>
        </p:pic>
        <p:sp>
          <p:nvSpPr>
            <p:cNvPr id="426" name="Google Shape;426;p36"/>
            <p:cNvSpPr/>
            <p:nvPr/>
          </p:nvSpPr>
          <p:spPr>
            <a:xfrm>
              <a:off x="1857226" y="3250467"/>
              <a:ext cx="5542057" cy="288924"/>
            </a:xfrm>
            <a:prstGeom prst="rect">
              <a:avLst/>
            </a:prstGeom>
            <a:noFill/>
            <a:ln w="1905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427" name="Google Shape;427;p36"/>
          <p:cNvPicPr preferRelativeResize="0"/>
          <p:nvPr/>
        </p:nvPicPr>
        <p:blipFill rotWithShape="1">
          <a:blip r:embed="rId4">
            <a:alphaModFix/>
          </a:blip>
          <a:srcRect/>
          <a:stretch/>
        </p:blipFill>
        <p:spPr>
          <a:xfrm>
            <a:off x="8948130" y="3153243"/>
            <a:ext cx="3243870" cy="207885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37"/>
          <p:cNvSpPr txBox="1">
            <a:spLocks noGrp="1"/>
          </p:cNvSpPr>
          <p:nvPr>
            <p:ph type="body" idx="1"/>
          </p:nvPr>
        </p:nvSpPr>
        <p:spPr>
          <a:xfrm flipH="1">
            <a:off x="211391" y="671525"/>
            <a:ext cx="6740018" cy="575433"/>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rgbClr val="973735"/>
              </a:buClr>
              <a:buSzPts val="1300"/>
              <a:buNone/>
            </a:pPr>
            <a:r>
              <a:rPr lang="en-US" sz="2600"/>
              <a:t>2. Build </a:t>
            </a:r>
            <a:r>
              <a:rPr lang="en-US" sz="2600" b="1" i="1"/>
              <a:t>HelloWorldApp </a:t>
            </a:r>
            <a:r>
              <a:rPr lang="en-US" sz="2600"/>
              <a:t>application</a:t>
            </a:r>
            <a:endParaRPr/>
          </a:p>
          <a:p>
            <a:pPr marL="0" lvl="0" indent="0" algn="just" rtl="0">
              <a:lnSpc>
                <a:spcPct val="90000"/>
              </a:lnSpc>
              <a:spcBef>
                <a:spcPts val="1800"/>
              </a:spcBef>
              <a:spcAft>
                <a:spcPts val="0"/>
              </a:spcAft>
              <a:buClr>
                <a:srgbClr val="973735"/>
              </a:buClr>
              <a:buSzPts val="1300"/>
              <a:buNone/>
            </a:pPr>
            <a:endParaRPr sz="2600"/>
          </a:p>
          <a:p>
            <a:pPr marL="0" lvl="0" indent="0" algn="just" rtl="0">
              <a:lnSpc>
                <a:spcPct val="90000"/>
              </a:lnSpc>
              <a:spcBef>
                <a:spcPts val="1800"/>
              </a:spcBef>
              <a:spcAft>
                <a:spcPts val="0"/>
              </a:spcAft>
              <a:buClr>
                <a:srgbClr val="973735"/>
              </a:buClr>
              <a:buSzPts val="1300"/>
              <a:buNone/>
            </a:pPr>
            <a:endParaRPr sz="2600"/>
          </a:p>
          <a:p>
            <a:pPr marL="0" lvl="0" indent="0" algn="just" rtl="0">
              <a:lnSpc>
                <a:spcPct val="90000"/>
              </a:lnSpc>
              <a:spcBef>
                <a:spcPts val="1800"/>
              </a:spcBef>
              <a:spcAft>
                <a:spcPts val="0"/>
              </a:spcAft>
              <a:buClr>
                <a:srgbClr val="973735"/>
              </a:buClr>
              <a:buSzPts val="1300"/>
              <a:buNone/>
            </a:pPr>
            <a:r>
              <a:rPr lang="en-US" sz="2600"/>
              <a:t>  </a:t>
            </a:r>
            <a:endParaRPr/>
          </a:p>
        </p:txBody>
      </p:sp>
      <p:sp>
        <p:nvSpPr>
          <p:cNvPr id="434" name="Google Shape;434;p37"/>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31</a:t>
            </a:fld>
            <a:endParaRPr/>
          </a:p>
        </p:txBody>
      </p:sp>
      <p:sp>
        <p:nvSpPr>
          <p:cNvPr id="435" name="Google Shape;435;p37"/>
          <p:cNvSpPr txBox="1"/>
          <p:nvPr/>
        </p:nvSpPr>
        <p:spPr>
          <a:xfrm flipH="1">
            <a:off x="211388" y="4636240"/>
            <a:ext cx="5695425" cy="575433"/>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973735"/>
              </a:buClr>
              <a:buSzPts val="1300"/>
              <a:buFont typeface="Arial"/>
              <a:buNone/>
            </a:pPr>
            <a:r>
              <a:rPr lang="en-US" sz="2600">
                <a:solidFill>
                  <a:schemeClr val="dk1"/>
                </a:solidFill>
                <a:latin typeface="Arial"/>
                <a:ea typeface="Arial"/>
                <a:cs typeface="Arial"/>
                <a:sym typeface="Arial"/>
              </a:rPr>
              <a:t>3. Run </a:t>
            </a:r>
            <a:r>
              <a:rPr lang="en-US" sz="2600" b="1" i="1">
                <a:solidFill>
                  <a:schemeClr val="dk1"/>
                </a:solidFill>
                <a:latin typeface="Arial"/>
                <a:ea typeface="Arial"/>
                <a:cs typeface="Arial"/>
                <a:sym typeface="Arial"/>
              </a:rPr>
              <a:t>HelloWorldApp </a:t>
            </a:r>
            <a:r>
              <a:rPr lang="en-US" sz="2600">
                <a:solidFill>
                  <a:schemeClr val="dk1"/>
                </a:solidFill>
                <a:latin typeface="Arial"/>
                <a:ea typeface="Arial"/>
                <a:cs typeface="Arial"/>
                <a:sym typeface="Arial"/>
              </a:rPr>
              <a:t>application</a:t>
            </a:r>
            <a:endParaRPr/>
          </a:p>
          <a:p>
            <a:pPr marL="0" marR="0" lvl="0" indent="0" algn="just" rtl="0">
              <a:lnSpc>
                <a:spcPct val="90000"/>
              </a:lnSpc>
              <a:spcBef>
                <a:spcPts val="1800"/>
              </a:spcBef>
              <a:spcAft>
                <a:spcPts val="0"/>
              </a:spcAft>
              <a:buClr>
                <a:srgbClr val="973735"/>
              </a:buClr>
              <a:buSzPts val="1300"/>
              <a:buFont typeface="Arial"/>
              <a:buNone/>
            </a:pPr>
            <a:endParaRPr sz="2600">
              <a:solidFill>
                <a:schemeClr val="dk1"/>
              </a:solidFill>
              <a:latin typeface="Arial"/>
              <a:ea typeface="Arial"/>
              <a:cs typeface="Arial"/>
              <a:sym typeface="Arial"/>
            </a:endParaRPr>
          </a:p>
          <a:p>
            <a:pPr marL="0" marR="0" lvl="0" indent="0" algn="just" rtl="0">
              <a:lnSpc>
                <a:spcPct val="90000"/>
              </a:lnSpc>
              <a:spcBef>
                <a:spcPts val="1800"/>
              </a:spcBef>
              <a:spcAft>
                <a:spcPts val="0"/>
              </a:spcAft>
              <a:buClr>
                <a:srgbClr val="973735"/>
              </a:buClr>
              <a:buSzPts val="1300"/>
              <a:buFont typeface="Arial"/>
              <a:buNone/>
            </a:pPr>
            <a:endParaRPr sz="2600">
              <a:solidFill>
                <a:schemeClr val="dk1"/>
              </a:solidFill>
              <a:latin typeface="Arial"/>
              <a:ea typeface="Arial"/>
              <a:cs typeface="Arial"/>
              <a:sym typeface="Arial"/>
            </a:endParaRPr>
          </a:p>
          <a:p>
            <a:pPr marL="0" marR="0" lvl="0" indent="0" algn="just" rtl="0">
              <a:lnSpc>
                <a:spcPct val="90000"/>
              </a:lnSpc>
              <a:spcBef>
                <a:spcPts val="1800"/>
              </a:spcBef>
              <a:spcAft>
                <a:spcPts val="0"/>
              </a:spcAft>
              <a:buClr>
                <a:srgbClr val="973735"/>
              </a:buClr>
              <a:buSzPts val="1300"/>
              <a:buFont typeface="Arial"/>
              <a:buNone/>
            </a:pPr>
            <a:r>
              <a:rPr lang="en-US" sz="2600">
                <a:solidFill>
                  <a:schemeClr val="dk1"/>
                </a:solidFill>
                <a:latin typeface="Arial"/>
                <a:ea typeface="Arial"/>
                <a:cs typeface="Arial"/>
                <a:sym typeface="Arial"/>
              </a:rPr>
              <a:t>  </a:t>
            </a:r>
            <a:endParaRPr/>
          </a:p>
        </p:txBody>
      </p:sp>
      <p:grpSp>
        <p:nvGrpSpPr>
          <p:cNvPr id="436" name="Google Shape;436;p37"/>
          <p:cNvGrpSpPr/>
          <p:nvPr/>
        </p:nvGrpSpPr>
        <p:grpSpPr>
          <a:xfrm>
            <a:off x="370432" y="1300364"/>
            <a:ext cx="7559519" cy="3182950"/>
            <a:chOff x="703553" y="1195821"/>
            <a:chExt cx="8591449" cy="3164210"/>
          </a:xfrm>
        </p:grpSpPr>
        <p:pic>
          <p:nvPicPr>
            <p:cNvPr id="437" name="Google Shape;437;p37"/>
            <p:cNvPicPr preferRelativeResize="0"/>
            <p:nvPr/>
          </p:nvPicPr>
          <p:blipFill rotWithShape="1">
            <a:blip r:embed="rId3">
              <a:alphaModFix/>
            </a:blip>
            <a:srcRect/>
            <a:stretch/>
          </p:blipFill>
          <p:spPr>
            <a:xfrm>
              <a:off x="703553" y="1217412"/>
              <a:ext cx="8591449" cy="3142619"/>
            </a:xfrm>
            <a:prstGeom prst="rect">
              <a:avLst/>
            </a:prstGeom>
            <a:noFill/>
            <a:ln>
              <a:noFill/>
            </a:ln>
          </p:spPr>
        </p:pic>
        <p:sp>
          <p:nvSpPr>
            <p:cNvPr id="438" name="Google Shape;438;p37"/>
            <p:cNvSpPr/>
            <p:nvPr/>
          </p:nvSpPr>
          <p:spPr>
            <a:xfrm>
              <a:off x="1640985" y="1195821"/>
              <a:ext cx="3015098" cy="254608"/>
            </a:xfrm>
            <a:prstGeom prst="rect">
              <a:avLst/>
            </a:prstGeom>
            <a:noFill/>
            <a:ln w="1905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grpSp>
        <p:nvGrpSpPr>
          <p:cNvPr id="439" name="Google Shape;439;p37"/>
          <p:cNvGrpSpPr/>
          <p:nvPr/>
        </p:nvGrpSpPr>
        <p:grpSpPr>
          <a:xfrm>
            <a:off x="373662" y="5211673"/>
            <a:ext cx="4296162" cy="1209352"/>
            <a:chOff x="436803" y="5241510"/>
            <a:chExt cx="4296162" cy="1209352"/>
          </a:xfrm>
        </p:grpSpPr>
        <p:pic>
          <p:nvPicPr>
            <p:cNvPr id="440" name="Google Shape;440;p37"/>
            <p:cNvPicPr preferRelativeResize="0"/>
            <p:nvPr/>
          </p:nvPicPr>
          <p:blipFill rotWithShape="1">
            <a:blip r:embed="rId4">
              <a:alphaModFix/>
            </a:blip>
            <a:srcRect/>
            <a:stretch/>
          </p:blipFill>
          <p:spPr>
            <a:xfrm>
              <a:off x="436803" y="5241510"/>
              <a:ext cx="4296162" cy="1209352"/>
            </a:xfrm>
            <a:prstGeom prst="rect">
              <a:avLst/>
            </a:prstGeom>
            <a:noFill/>
            <a:ln>
              <a:noFill/>
            </a:ln>
          </p:spPr>
        </p:pic>
        <p:sp>
          <p:nvSpPr>
            <p:cNvPr id="441" name="Google Shape;441;p37"/>
            <p:cNvSpPr/>
            <p:nvPr/>
          </p:nvSpPr>
          <p:spPr>
            <a:xfrm>
              <a:off x="1354800" y="5789759"/>
              <a:ext cx="3301283" cy="285220"/>
            </a:xfrm>
            <a:prstGeom prst="rect">
              <a:avLst/>
            </a:prstGeom>
            <a:noFill/>
            <a:ln w="1905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grpSp>
        <p:nvGrpSpPr>
          <p:cNvPr id="442" name="Google Shape;442;p37"/>
          <p:cNvGrpSpPr/>
          <p:nvPr/>
        </p:nvGrpSpPr>
        <p:grpSpPr>
          <a:xfrm>
            <a:off x="8040414" y="1242603"/>
            <a:ext cx="4151586" cy="2617101"/>
            <a:chOff x="8040414" y="1242603"/>
            <a:chExt cx="4151586" cy="2617101"/>
          </a:xfrm>
        </p:grpSpPr>
        <p:pic>
          <p:nvPicPr>
            <p:cNvPr id="443" name="Google Shape;443;p37"/>
            <p:cNvPicPr preferRelativeResize="0"/>
            <p:nvPr/>
          </p:nvPicPr>
          <p:blipFill rotWithShape="1">
            <a:blip r:embed="rId5">
              <a:alphaModFix/>
            </a:blip>
            <a:srcRect/>
            <a:stretch/>
          </p:blipFill>
          <p:spPr>
            <a:xfrm>
              <a:off x="8040414" y="1242603"/>
              <a:ext cx="4151586" cy="2617101"/>
            </a:xfrm>
            <a:prstGeom prst="rect">
              <a:avLst/>
            </a:prstGeom>
            <a:noFill/>
            <a:ln>
              <a:noFill/>
            </a:ln>
          </p:spPr>
        </p:pic>
        <p:sp>
          <p:nvSpPr>
            <p:cNvPr id="444" name="Google Shape;444;p37"/>
            <p:cNvSpPr/>
            <p:nvPr/>
          </p:nvSpPr>
          <p:spPr>
            <a:xfrm>
              <a:off x="8040414" y="2519623"/>
              <a:ext cx="1802628" cy="479943"/>
            </a:xfrm>
            <a:prstGeom prst="rect">
              <a:avLst/>
            </a:prstGeom>
            <a:noFill/>
            <a:ln w="1905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38"/>
          <p:cNvSpPr txBox="1">
            <a:spLocks noGrp="1"/>
          </p:cNvSpPr>
          <p:nvPr>
            <p:ph type="body" idx="1"/>
          </p:nvPr>
        </p:nvSpPr>
        <p:spPr>
          <a:xfrm flipH="1">
            <a:off x="249361" y="2131470"/>
            <a:ext cx="11179899" cy="590000"/>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rgbClr val="973735"/>
              </a:buClr>
              <a:buSzPts val="1300"/>
              <a:buNone/>
            </a:pPr>
            <a:r>
              <a:rPr lang="en-US" sz="2600"/>
              <a:t>1. Create Console App named </a:t>
            </a:r>
            <a:r>
              <a:rPr lang="en-US" sz="2600" b="1" i="1"/>
              <a:t>HelloWorldApp </a:t>
            </a:r>
            <a:r>
              <a:rPr lang="en-US" sz="2600"/>
              <a:t>with C# language</a:t>
            </a:r>
            <a:endParaRPr/>
          </a:p>
          <a:p>
            <a:pPr marL="0" lvl="0" indent="0" algn="just" rtl="0">
              <a:lnSpc>
                <a:spcPct val="90000"/>
              </a:lnSpc>
              <a:spcBef>
                <a:spcPts val="1800"/>
              </a:spcBef>
              <a:spcAft>
                <a:spcPts val="0"/>
              </a:spcAft>
              <a:buClr>
                <a:srgbClr val="973735"/>
              </a:buClr>
              <a:buSzPts val="1300"/>
              <a:buNone/>
            </a:pPr>
            <a:endParaRPr sz="2600"/>
          </a:p>
          <a:p>
            <a:pPr marL="0" lvl="0" indent="0" algn="just" rtl="0">
              <a:lnSpc>
                <a:spcPct val="90000"/>
              </a:lnSpc>
              <a:spcBef>
                <a:spcPts val="1800"/>
              </a:spcBef>
              <a:spcAft>
                <a:spcPts val="0"/>
              </a:spcAft>
              <a:buClr>
                <a:srgbClr val="973735"/>
              </a:buClr>
              <a:buSzPts val="1300"/>
              <a:buNone/>
            </a:pPr>
            <a:endParaRPr sz="2600"/>
          </a:p>
          <a:p>
            <a:pPr marL="0" lvl="0" indent="0" algn="just" rtl="0">
              <a:lnSpc>
                <a:spcPct val="90000"/>
              </a:lnSpc>
              <a:spcBef>
                <a:spcPts val="1800"/>
              </a:spcBef>
              <a:spcAft>
                <a:spcPts val="0"/>
              </a:spcAft>
              <a:buClr>
                <a:srgbClr val="973735"/>
              </a:buClr>
              <a:buSzPts val="1300"/>
              <a:buNone/>
            </a:pPr>
            <a:r>
              <a:rPr lang="en-US" sz="2600"/>
              <a:t>  </a:t>
            </a:r>
            <a:endParaRPr/>
          </a:p>
        </p:txBody>
      </p:sp>
      <p:sp>
        <p:nvSpPr>
          <p:cNvPr id="451" name="Google Shape;451;p38"/>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32</a:t>
            </a:fld>
            <a:endParaRPr/>
          </a:p>
        </p:txBody>
      </p:sp>
      <p:sp>
        <p:nvSpPr>
          <p:cNvPr id="452" name="Google Shape;452;p38"/>
          <p:cNvSpPr txBox="1">
            <a:spLocks noGrp="1"/>
          </p:cNvSpPr>
          <p:nvPr>
            <p:ph type="title"/>
          </p:nvPr>
        </p:nvSpPr>
        <p:spPr>
          <a:xfrm>
            <a:off x="279238" y="706734"/>
            <a:ext cx="1051560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On macOS 10.14 "Mojave"</a:t>
            </a:r>
            <a:endParaRPr/>
          </a:p>
        </p:txBody>
      </p:sp>
      <p:sp>
        <p:nvSpPr>
          <p:cNvPr id="453" name="Google Shape;453;p38"/>
          <p:cNvSpPr txBox="1"/>
          <p:nvPr/>
        </p:nvSpPr>
        <p:spPr>
          <a:xfrm>
            <a:off x="279238" y="1399323"/>
            <a:ext cx="11757988" cy="492443"/>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rgbClr val="973735"/>
              </a:buClr>
              <a:buSzPts val="1300"/>
              <a:buFont typeface="Noto Sans Symbols"/>
              <a:buChar char="◆"/>
            </a:pPr>
            <a:r>
              <a:rPr lang="en-US" sz="2600" dirty="0">
                <a:solidFill>
                  <a:schemeClr val="dk1"/>
                </a:solidFill>
                <a:latin typeface="Arial"/>
                <a:ea typeface="Arial"/>
                <a:cs typeface="Arial"/>
                <a:sym typeface="Arial"/>
              </a:rPr>
              <a:t>Install package: </a:t>
            </a:r>
            <a:r>
              <a:rPr lang="en-US" sz="2600" b="1" dirty="0" err="1">
                <a:solidFill>
                  <a:schemeClr val="dk1"/>
                </a:solidFill>
                <a:latin typeface="Arial"/>
                <a:ea typeface="Arial"/>
                <a:cs typeface="Arial"/>
                <a:sym typeface="Arial"/>
              </a:rPr>
              <a:t>dotnet</a:t>
            </a:r>
            <a:r>
              <a:rPr lang="en-US" sz="2600" b="1" dirty="0">
                <a:solidFill>
                  <a:schemeClr val="dk1"/>
                </a:solidFill>
                <a:latin typeface="Arial"/>
                <a:ea typeface="Arial"/>
                <a:cs typeface="Arial"/>
                <a:sym typeface="Arial"/>
              </a:rPr>
              <a:t> </a:t>
            </a:r>
            <a:r>
              <a:rPr lang="en-US" sz="2600" dirty="0">
                <a:solidFill>
                  <a:schemeClr val="dk1"/>
                </a:solidFill>
                <a:latin typeface="Arial"/>
                <a:ea typeface="Arial"/>
                <a:cs typeface="Arial"/>
                <a:sym typeface="Arial"/>
              </a:rPr>
              <a:t>and open </a:t>
            </a:r>
            <a:r>
              <a:rPr lang="en-US" sz="2600" b="1" dirty="0">
                <a:solidFill>
                  <a:schemeClr val="dk1"/>
                </a:solidFill>
                <a:latin typeface="Arial"/>
                <a:ea typeface="Arial"/>
                <a:cs typeface="Arial"/>
                <a:sym typeface="Arial"/>
              </a:rPr>
              <a:t>Terminal </a:t>
            </a:r>
            <a:r>
              <a:rPr lang="en-US" sz="2600" dirty="0">
                <a:solidFill>
                  <a:schemeClr val="dk1"/>
                </a:solidFill>
                <a:latin typeface="Arial"/>
                <a:ea typeface="Arial"/>
                <a:cs typeface="Arial"/>
                <a:sym typeface="Arial"/>
              </a:rPr>
              <a:t>dialog</a:t>
            </a:r>
            <a:r>
              <a:rPr lang="en-US" sz="2600" b="1" dirty="0">
                <a:solidFill>
                  <a:schemeClr val="dk1"/>
                </a:solidFill>
                <a:latin typeface="Arial"/>
                <a:ea typeface="Arial"/>
                <a:cs typeface="Arial"/>
                <a:sym typeface="Arial"/>
              </a:rPr>
              <a:t> </a:t>
            </a:r>
            <a:endParaRPr dirty="0"/>
          </a:p>
        </p:txBody>
      </p:sp>
      <p:grpSp>
        <p:nvGrpSpPr>
          <p:cNvPr id="454" name="Google Shape;454;p38"/>
          <p:cNvGrpSpPr/>
          <p:nvPr/>
        </p:nvGrpSpPr>
        <p:grpSpPr>
          <a:xfrm>
            <a:off x="674548" y="2681905"/>
            <a:ext cx="8116612" cy="2270943"/>
            <a:chOff x="1082370" y="3429000"/>
            <a:chExt cx="10027260" cy="2509345"/>
          </a:xfrm>
        </p:grpSpPr>
        <p:pic>
          <p:nvPicPr>
            <p:cNvPr id="455" name="Google Shape;455;p38"/>
            <p:cNvPicPr preferRelativeResize="0"/>
            <p:nvPr/>
          </p:nvPicPr>
          <p:blipFill rotWithShape="1">
            <a:blip r:embed="rId3">
              <a:alphaModFix/>
            </a:blip>
            <a:srcRect/>
            <a:stretch/>
          </p:blipFill>
          <p:spPr>
            <a:xfrm>
              <a:off x="1082370" y="3429000"/>
              <a:ext cx="10027260" cy="2509345"/>
            </a:xfrm>
            <a:prstGeom prst="rect">
              <a:avLst/>
            </a:prstGeom>
            <a:noFill/>
            <a:ln>
              <a:noFill/>
            </a:ln>
          </p:spPr>
        </p:pic>
        <p:sp>
          <p:nvSpPr>
            <p:cNvPr id="456" name="Google Shape;456;p38"/>
            <p:cNvSpPr/>
            <p:nvPr/>
          </p:nvSpPr>
          <p:spPr>
            <a:xfrm>
              <a:off x="4359883" y="3625349"/>
              <a:ext cx="5446269" cy="284499"/>
            </a:xfrm>
            <a:prstGeom prst="rect">
              <a:avLst/>
            </a:prstGeom>
            <a:noFill/>
            <a:ln w="1905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457" name="Google Shape;457;p38"/>
          <p:cNvPicPr preferRelativeResize="0"/>
          <p:nvPr/>
        </p:nvPicPr>
        <p:blipFill rotWithShape="1">
          <a:blip r:embed="rId4">
            <a:alphaModFix/>
          </a:blip>
          <a:srcRect/>
          <a:stretch/>
        </p:blipFill>
        <p:spPr>
          <a:xfrm>
            <a:off x="9031894" y="2689941"/>
            <a:ext cx="3005332" cy="1834240"/>
          </a:xfrm>
          <a:prstGeom prst="rect">
            <a:avLst/>
          </a:prstGeom>
          <a:noFill/>
          <a:ln>
            <a:noFill/>
          </a:ln>
        </p:spPr>
      </p:pic>
      <p:sp>
        <p:nvSpPr>
          <p:cNvPr id="458" name="Google Shape;458;p38"/>
          <p:cNvSpPr txBox="1"/>
          <p:nvPr/>
        </p:nvSpPr>
        <p:spPr>
          <a:xfrm flipH="1">
            <a:off x="249361" y="4925875"/>
            <a:ext cx="5873729" cy="444906"/>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973735"/>
              </a:buClr>
              <a:buSzPts val="1300"/>
              <a:buFont typeface="Arial"/>
              <a:buNone/>
            </a:pPr>
            <a:r>
              <a:rPr lang="en-US" sz="2600">
                <a:solidFill>
                  <a:schemeClr val="dk1"/>
                </a:solidFill>
                <a:latin typeface="Arial"/>
                <a:ea typeface="Arial"/>
                <a:cs typeface="Arial"/>
                <a:sym typeface="Arial"/>
              </a:rPr>
              <a:t>2. Run </a:t>
            </a:r>
            <a:r>
              <a:rPr lang="en-US" sz="2600" b="1" i="1">
                <a:solidFill>
                  <a:schemeClr val="dk1"/>
                </a:solidFill>
                <a:latin typeface="Arial"/>
                <a:ea typeface="Arial"/>
                <a:cs typeface="Arial"/>
                <a:sym typeface="Arial"/>
              </a:rPr>
              <a:t>HelloWorldApp </a:t>
            </a:r>
            <a:r>
              <a:rPr lang="en-US" sz="2600">
                <a:solidFill>
                  <a:schemeClr val="dk1"/>
                </a:solidFill>
                <a:latin typeface="Arial"/>
                <a:ea typeface="Arial"/>
                <a:cs typeface="Arial"/>
                <a:sym typeface="Arial"/>
              </a:rPr>
              <a:t>application</a:t>
            </a:r>
            <a:endParaRPr/>
          </a:p>
          <a:p>
            <a:pPr marL="0" marR="0" lvl="0" indent="0" algn="just" rtl="0">
              <a:lnSpc>
                <a:spcPct val="90000"/>
              </a:lnSpc>
              <a:spcBef>
                <a:spcPts val="1800"/>
              </a:spcBef>
              <a:spcAft>
                <a:spcPts val="0"/>
              </a:spcAft>
              <a:buClr>
                <a:srgbClr val="973735"/>
              </a:buClr>
              <a:buSzPts val="1300"/>
              <a:buFont typeface="Arial"/>
              <a:buNone/>
            </a:pPr>
            <a:endParaRPr sz="2600">
              <a:solidFill>
                <a:schemeClr val="dk1"/>
              </a:solidFill>
              <a:latin typeface="Arial"/>
              <a:ea typeface="Arial"/>
              <a:cs typeface="Arial"/>
              <a:sym typeface="Arial"/>
            </a:endParaRPr>
          </a:p>
          <a:p>
            <a:pPr marL="0" marR="0" lvl="0" indent="0" algn="just" rtl="0">
              <a:lnSpc>
                <a:spcPct val="90000"/>
              </a:lnSpc>
              <a:spcBef>
                <a:spcPts val="1800"/>
              </a:spcBef>
              <a:spcAft>
                <a:spcPts val="0"/>
              </a:spcAft>
              <a:buClr>
                <a:srgbClr val="973735"/>
              </a:buClr>
              <a:buSzPts val="1300"/>
              <a:buFont typeface="Arial"/>
              <a:buNone/>
            </a:pPr>
            <a:r>
              <a:rPr lang="en-US" sz="2600">
                <a:solidFill>
                  <a:schemeClr val="dk1"/>
                </a:solidFill>
                <a:latin typeface="Arial"/>
                <a:ea typeface="Arial"/>
                <a:cs typeface="Arial"/>
                <a:sym typeface="Arial"/>
              </a:rPr>
              <a:t>  </a:t>
            </a:r>
            <a:endParaRPr/>
          </a:p>
        </p:txBody>
      </p:sp>
      <p:grpSp>
        <p:nvGrpSpPr>
          <p:cNvPr id="459" name="Google Shape;459;p38"/>
          <p:cNvGrpSpPr/>
          <p:nvPr/>
        </p:nvGrpSpPr>
        <p:grpSpPr>
          <a:xfrm>
            <a:off x="674548" y="5494221"/>
            <a:ext cx="6361441" cy="915589"/>
            <a:chOff x="674548" y="5494221"/>
            <a:chExt cx="6361441" cy="915589"/>
          </a:xfrm>
        </p:grpSpPr>
        <p:pic>
          <p:nvPicPr>
            <p:cNvPr id="460" name="Google Shape;460;p38"/>
            <p:cNvPicPr preferRelativeResize="0"/>
            <p:nvPr/>
          </p:nvPicPr>
          <p:blipFill rotWithShape="1">
            <a:blip r:embed="rId5">
              <a:alphaModFix/>
            </a:blip>
            <a:srcRect/>
            <a:stretch/>
          </p:blipFill>
          <p:spPr>
            <a:xfrm>
              <a:off x="674548" y="5494221"/>
              <a:ext cx="6361441" cy="915589"/>
            </a:xfrm>
            <a:prstGeom prst="rect">
              <a:avLst/>
            </a:prstGeom>
            <a:noFill/>
            <a:ln>
              <a:noFill/>
            </a:ln>
          </p:spPr>
        </p:pic>
        <p:sp>
          <p:nvSpPr>
            <p:cNvPr id="461" name="Google Shape;461;p38"/>
            <p:cNvSpPr/>
            <p:nvPr/>
          </p:nvSpPr>
          <p:spPr>
            <a:xfrm>
              <a:off x="3771188" y="5680365"/>
              <a:ext cx="3180721" cy="284339"/>
            </a:xfrm>
            <a:prstGeom prst="rect">
              <a:avLst/>
            </a:prstGeom>
            <a:noFill/>
            <a:ln w="1905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39"/>
          <p:cNvSpPr txBox="1">
            <a:spLocks noGrp="1"/>
          </p:cNvSpPr>
          <p:nvPr>
            <p:ph type="body" idx="1"/>
          </p:nvPr>
        </p:nvSpPr>
        <p:spPr>
          <a:xfrm flipH="1">
            <a:off x="249361" y="1797448"/>
            <a:ext cx="11179899" cy="590000"/>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rgbClr val="973735"/>
              </a:buClr>
              <a:buSzPts val="1300"/>
              <a:buNone/>
            </a:pPr>
            <a:r>
              <a:rPr lang="en-US" sz="2600"/>
              <a:t>1. Create Console App named </a:t>
            </a:r>
            <a:r>
              <a:rPr lang="en-US" sz="2600" b="1" i="1"/>
              <a:t>HelloWorldApp </a:t>
            </a:r>
            <a:r>
              <a:rPr lang="en-US" sz="2600"/>
              <a:t>with C# language</a:t>
            </a:r>
            <a:endParaRPr/>
          </a:p>
          <a:p>
            <a:pPr marL="0" lvl="0" indent="0" algn="just" rtl="0">
              <a:lnSpc>
                <a:spcPct val="90000"/>
              </a:lnSpc>
              <a:spcBef>
                <a:spcPts val="1800"/>
              </a:spcBef>
              <a:spcAft>
                <a:spcPts val="0"/>
              </a:spcAft>
              <a:buClr>
                <a:srgbClr val="973735"/>
              </a:buClr>
              <a:buSzPts val="1300"/>
              <a:buNone/>
            </a:pPr>
            <a:endParaRPr sz="2600"/>
          </a:p>
          <a:p>
            <a:pPr marL="0" lvl="0" indent="0" algn="just" rtl="0">
              <a:lnSpc>
                <a:spcPct val="90000"/>
              </a:lnSpc>
              <a:spcBef>
                <a:spcPts val="1800"/>
              </a:spcBef>
              <a:spcAft>
                <a:spcPts val="0"/>
              </a:spcAft>
              <a:buClr>
                <a:srgbClr val="973735"/>
              </a:buClr>
              <a:buSzPts val="1300"/>
              <a:buNone/>
            </a:pPr>
            <a:endParaRPr sz="2600"/>
          </a:p>
          <a:p>
            <a:pPr marL="0" lvl="0" indent="0" algn="just" rtl="0">
              <a:lnSpc>
                <a:spcPct val="90000"/>
              </a:lnSpc>
              <a:spcBef>
                <a:spcPts val="1800"/>
              </a:spcBef>
              <a:spcAft>
                <a:spcPts val="0"/>
              </a:spcAft>
              <a:buClr>
                <a:srgbClr val="973735"/>
              </a:buClr>
              <a:buSzPts val="1300"/>
              <a:buNone/>
            </a:pPr>
            <a:r>
              <a:rPr lang="en-US" sz="2600"/>
              <a:t>  </a:t>
            </a:r>
            <a:endParaRPr/>
          </a:p>
        </p:txBody>
      </p:sp>
      <p:sp>
        <p:nvSpPr>
          <p:cNvPr id="468" name="Google Shape;468;p39"/>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33</a:t>
            </a:fld>
            <a:endParaRPr/>
          </a:p>
        </p:txBody>
      </p:sp>
      <p:sp>
        <p:nvSpPr>
          <p:cNvPr id="469" name="Google Shape;469;p39"/>
          <p:cNvSpPr txBox="1"/>
          <p:nvPr/>
        </p:nvSpPr>
        <p:spPr>
          <a:xfrm>
            <a:off x="184651" y="1250933"/>
            <a:ext cx="11355707" cy="492443"/>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rgbClr val="973735"/>
              </a:buClr>
              <a:buSzPts val="1300"/>
              <a:buFont typeface="Noto Sans Symbols"/>
              <a:buChar char="◆"/>
            </a:pPr>
            <a:r>
              <a:rPr lang="en-US" sz="2600" dirty="0">
                <a:solidFill>
                  <a:schemeClr val="dk1"/>
                </a:solidFill>
                <a:latin typeface="Arial"/>
                <a:ea typeface="Arial"/>
                <a:cs typeface="Arial"/>
                <a:sym typeface="Arial"/>
              </a:rPr>
              <a:t>Install package: </a:t>
            </a:r>
            <a:r>
              <a:rPr lang="en-US" sz="2600" b="1" dirty="0" err="1">
                <a:solidFill>
                  <a:schemeClr val="dk1"/>
                </a:solidFill>
                <a:latin typeface="Arial"/>
                <a:ea typeface="Arial"/>
                <a:cs typeface="Arial"/>
                <a:sym typeface="Arial"/>
              </a:rPr>
              <a:t>dotnet</a:t>
            </a:r>
            <a:r>
              <a:rPr lang="en-US" sz="2600" b="1" dirty="0">
                <a:solidFill>
                  <a:schemeClr val="dk1"/>
                </a:solidFill>
                <a:latin typeface="Arial"/>
                <a:ea typeface="Arial"/>
                <a:cs typeface="Arial"/>
                <a:sym typeface="Arial"/>
              </a:rPr>
              <a:t> </a:t>
            </a:r>
            <a:r>
              <a:rPr lang="en-US" sz="2600" dirty="0">
                <a:solidFill>
                  <a:schemeClr val="dk1"/>
                </a:solidFill>
                <a:latin typeface="Arial"/>
                <a:ea typeface="Arial"/>
                <a:cs typeface="Arial"/>
                <a:sym typeface="Arial"/>
              </a:rPr>
              <a:t>and open </a:t>
            </a:r>
            <a:r>
              <a:rPr lang="en-US" sz="2600" b="1" dirty="0">
                <a:solidFill>
                  <a:schemeClr val="dk1"/>
                </a:solidFill>
                <a:latin typeface="Arial"/>
                <a:ea typeface="Arial"/>
                <a:cs typeface="Arial"/>
                <a:sym typeface="Arial"/>
              </a:rPr>
              <a:t>Terminal </a:t>
            </a:r>
            <a:r>
              <a:rPr lang="en-US" sz="2600" dirty="0">
                <a:solidFill>
                  <a:schemeClr val="dk1"/>
                </a:solidFill>
                <a:latin typeface="Arial"/>
                <a:ea typeface="Arial"/>
                <a:cs typeface="Arial"/>
                <a:sym typeface="Arial"/>
              </a:rPr>
              <a:t>dialog</a:t>
            </a:r>
            <a:r>
              <a:rPr lang="en-US" sz="2600" b="1" dirty="0">
                <a:solidFill>
                  <a:schemeClr val="dk1"/>
                </a:solidFill>
                <a:latin typeface="Arial"/>
                <a:ea typeface="Arial"/>
                <a:cs typeface="Arial"/>
                <a:sym typeface="Arial"/>
              </a:rPr>
              <a:t> </a:t>
            </a:r>
            <a:endParaRPr dirty="0"/>
          </a:p>
        </p:txBody>
      </p:sp>
      <p:sp>
        <p:nvSpPr>
          <p:cNvPr id="470" name="Google Shape;470;p39"/>
          <p:cNvSpPr txBox="1"/>
          <p:nvPr/>
        </p:nvSpPr>
        <p:spPr>
          <a:xfrm flipH="1">
            <a:off x="249361" y="4925875"/>
            <a:ext cx="5873729" cy="444906"/>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973735"/>
              </a:buClr>
              <a:buSzPts val="1300"/>
              <a:buFont typeface="Arial"/>
              <a:buNone/>
            </a:pPr>
            <a:r>
              <a:rPr lang="en-US" sz="2600">
                <a:solidFill>
                  <a:schemeClr val="dk1"/>
                </a:solidFill>
                <a:latin typeface="Arial"/>
                <a:ea typeface="Arial"/>
                <a:cs typeface="Arial"/>
                <a:sym typeface="Arial"/>
              </a:rPr>
              <a:t>2. Run </a:t>
            </a:r>
            <a:r>
              <a:rPr lang="en-US" sz="2600" b="1" i="1">
                <a:solidFill>
                  <a:schemeClr val="dk1"/>
                </a:solidFill>
                <a:latin typeface="Arial"/>
                <a:ea typeface="Arial"/>
                <a:cs typeface="Arial"/>
                <a:sym typeface="Arial"/>
              </a:rPr>
              <a:t>HelloWorldApp </a:t>
            </a:r>
            <a:r>
              <a:rPr lang="en-US" sz="2600">
                <a:solidFill>
                  <a:schemeClr val="dk1"/>
                </a:solidFill>
                <a:latin typeface="Arial"/>
                <a:ea typeface="Arial"/>
                <a:cs typeface="Arial"/>
                <a:sym typeface="Arial"/>
              </a:rPr>
              <a:t>application</a:t>
            </a:r>
            <a:endParaRPr/>
          </a:p>
          <a:p>
            <a:pPr marL="0" marR="0" lvl="0" indent="0" algn="just" rtl="0">
              <a:lnSpc>
                <a:spcPct val="90000"/>
              </a:lnSpc>
              <a:spcBef>
                <a:spcPts val="1800"/>
              </a:spcBef>
              <a:spcAft>
                <a:spcPts val="0"/>
              </a:spcAft>
              <a:buClr>
                <a:srgbClr val="973735"/>
              </a:buClr>
              <a:buSzPts val="1300"/>
              <a:buFont typeface="Arial"/>
              <a:buNone/>
            </a:pPr>
            <a:endParaRPr sz="2600">
              <a:solidFill>
                <a:schemeClr val="dk1"/>
              </a:solidFill>
              <a:latin typeface="Arial"/>
              <a:ea typeface="Arial"/>
              <a:cs typeface="Arial"/>
              <a:sym typeface="Arial"/>
            </a:endParaRPr>
          </a:p>
          <a:p>
            <a:pPr marL="0" marR="0" lvl="0" indent="0" algn="just" rtl="0">
              <a:lnSpc>
                <a:spcPct val="90000"/>
              </a:lnSpc>
              <a:spcBef>
                <a:spcPts val="1800"/>
              </a:spcBef>
              <a:spcAft>
                <a:spcPts val="0"/>
              </a:spcAft>
              <a:buClr>
                <a:srgbClr val="973735"/>
              </a:buClr>
              <a:buSzPts val="1300"/>
              <a:buFont typeface="Arial"/>
              <a:buNone/>
            </a:pPr>
            <a:r>
              <a:rPr lang="en-US" sz="2600">
                <a:solidFill>
                  <a:schemeClr val="dk1"/>
                </a:solidFill>
                <a:latin typeface="Arial"/>
                <a:ea typeface="Arial"/>
                <a:cs typeface="Arial"/>
                <a:sym typeface="Arial"/>
              </a:rPr>
              <a:t>  </a:t>
            </a:r>
            <a:endParaRPr/>
          </a:p>
        </p:txBody>
      </p:sp>
      <p:sp>
        <p:nvSpPr>
          <p:cNvPr id="471" name="Google Shape;471;p39"/>
          <p:cNvSpPr txBox="1">
            <a:spLocks noGrp="1"/>
          </p:cNvSpPr>
          <p:nvPr>
            <p:ph type="title"/>
          </p:nvPr>
        </p:nvSpPr>
        <p:spPr>
          <a:xfrm>
            <a:off x="274000" y="675500"/>
            <a:ext cx="1051560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On Linux(Ubuntu 14.05) OS</a:t>
            </a:r>
            <a:endParaRPr sz="4000" b="1"/>
          </a:p>
        </p:txBody>
      </p:sp>
      <p:pic>
        <p:nvPicPr>
          <p:cNvPr id="472" name="Google Shape;472;p39"/>
          <p:cNvPicPr preferRelativeResize="0"/>
          <p:nvPr/>
        </p:nvPicPr>
        <p:blipFill rotWithShape="1">
          <a:blip r:embed="rId3">
            <a:alphaModFix/>
          </a:blip>
          <a:srcRect/>
          <a:stretch/>
        </p:blipFill>
        <p:spPr>
          <a:xfrm>
            <a:off x="679114" y="5432485"/>
            <a:ext cx="8006945" cy="894743"/>
          </a:xfrm>
          <a:prstGeom prst="rect">
            <a:avLst/>
          </a:prstGeom>
          <a:noFill/>
          <a:ln>
            <a:noFill/>
          </a:ln>
        </p:spPr>
      </p:pic>
      <p:sp>
        <p:nvSpPr>
          <p:cNvPr id="473" name="Google Shape;473;p39"/>
          <p:cNvSpPr/>
          <p:nvPr/>
        </p:nvSpPr>
        <p:spPr>
          <a:xfrm>
            <a:off x="4466896" y="5453505"/>
            <a:ext cx="4067503" cy="316674"/>
          </a:xfrm>
          <a:prstGeom prst="rect">
            <a:avLst/>
          </a:prstGeom>
          <a:noFill/>
          <a:ln w="1905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474" name="Google Shape;474;p39"/>
          <p:cNvPicPr preferRelativeResize="0"/>
          <p:nvPr/>
        </p:nvPicPr>
        <p:blipFill rotWithShape="1">
          <a:blip r:embed="rId4">
            <a:alphaModFix/>
          </a:blip>
          <a:srcRect/>
          <a:stretch/>
        </p:blipFill>
        <p:spPr>
          <a:xfrm>
            <a:off x="9369903" y="2343825"/>
            <a:ext cx="2572736" cy="2625674"/>
          </a:xfrm>
          <a:prstGeom prst="rect">
            <a:avLst/>
          </a:prstGeom>
          <a:noFill/>
          <a:ln>
            <a:noFill/>
          </a:ln>
        </p:spPr>
      </p:pic>
      <p:grpSp>
        <p:nvGrpSpPr>
          <p:cNvPr id="475" name="Google Shape;475;p39"/>
          <p:cNvGrpSpPr/>
          <p:nvPr/>
        </p:nvGrpSpPr>
        <p:grpSpPr>
          <a:xfrm>
            <a:off x="679115" y="2292559"/>
            <a:ext cx="8006944" cy="2676940"/>
            <a:chOff x="679115" y="2292559"/>
            <a:chExt cx="8193646" cy="2515214"/>
          </a:xfrm>
        </p:grpSpPr>
        <p:pic>
          <p:nvPicPr>
            <p:cNvPr id="476" name="Google Shape;476;p39"/>
            <p:cNvPicPr preferRelativeResize="0"/>
            <p:nvPr/>
          </p:nvPicPr>
          <p:blipFill rotWithShape="1">
            <a:blip r:embed="rId5">
              <a:alphaModFix/>
            </a:blip>
            <a:srcRect/>
            <a:stretch/>
          </p:blipFill>
          <p:spPr>
            <a:xfrm>
              <a:off x="679115" y="2292559"/>
              <a:ext cx="8193646" cy="2515214"/>
            </a:xfrm>
            <a:prstGeom prst="rect">
              <a:avLst/>
            </a:prstGeom>
            <a:noFill/>
            <a:ln>
              <a:noFill/>
            </a:ln>
          </p:spPr>
        </p:pic>
        <p:sp>
          <p:nvSpPr>
            <p:cNvPr id="477" name="Google Shape;477;p39"/>
            <p:cNvSpPr/>
            <p:nvPr/>
          </p:nvSpPr>
          <p:spPr>
            <a:xfrm>
              <a:off x="3581399" y="2742558"/>
              <a:ext cx="3838903" cy="269604"/>
            </a:xfrm>
            <a:prstGeom prst="rect">
              <a:avLst/>
            </a:prstGeom>
            <a:noFill/>
            <a:ln w="1905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40"/>
          <p:cNvSpPr txBox="1">
            <a:spLocks noGrp="1"/>
          </p:cNvSpPr>
          <p:nvPr>
            <p:ph type="title"/>
          </p:nvPr>
        </p:nvSpPr>
        <p:spPr>
          <a:xfrm>
            <a:off x="585951" y="656944"/>
            <a:ext cx="11154104"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Compilation Process .NET Application</a:t>
            </a:r>
            <a:endParaRPr sz="4000" b="1"/>
          </a:p>
        </p:txBody>
      </p:sp>
      <p:sp>
        <p:nvSpPr>
          <p:cNvPr id="485" name="Google Shape;485;p40"/>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34</a:t>
            </a:fld>
            <a:endParaRPr/>
          </a:p>
        </p:txBody>
      </p:sp>
      <p:pic>
        <p:nvPicPr>
          <p:cNvPr id="486" name="Google Shape;486;p40"/>
          <p:cNvPicPr preferRelativeResize="0"/>
          <p:nvPr/>
        </p:nvPicPr>
        <p:blipFill rotWithShape="1">
          <a:blip r:embed="rId3">
            <a:alphaModFix/>
          </a:blip>
          <a:srcRect/>
          <a:stretch/>
        </p:blipFill>
        <p:spPr>
          <a:xfrm>
            <a:off x="1143118" y="1368747"/>
            <a:ext cx="9905763" cy="5038642"/>
          </a:xfrm>
          <a:prstGeom prst="rect">
            <a:avLst/>
          </a:prstGeom>
          <a:noFill/>
          <a:ln>
            <a:noFill/>
          </a:ln>
          <a:effectLst>
            <a:outerShdw blurRad="63500" sx="102000" sy="102000" algn="ctr" rotWithShape="0">
              <a:srgbClr val="000000">
                <a:alpha val="40000"/>
              </a:srgbClr>
            </a:outerShdw>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3" name="Google Shape;493;p41"/>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35</a:t>
            </a:fld>
            <a:endParaRPr sz="1200">
              <a:solidFill>
                <a:schemeClr val="dk1"/>
              </a:solidFill>
              <a:latin typeface="Arial"/>
              <a:ea typeface="Arial"/>
              <a:cs typeface="Arial"/>
              <a:sym typeface="Arial"/>
            </a:endParaRPr>
          </a:p>
        </p:txBody>
      </p:sp>
      <p:sp>
        <p:nvSpPr>
          <p:cNvPr id="494" name="Google Shape;494;p41"/>
          <p:cNvSpPr txBox="1"/>
          <p:nvPr/>
        </p:nvSpPr>
        <p:spPr>
          <a:xfrm>
            <a:off x="183928" y="1393097"/>
            <a:ext cx="11971283" cy="5186035"/>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rgbClr val="973735"/>
              </a:buClr>
              <a:buSzPts val="1300"/>
              <a:buFont typeface="Noto Sans Symbols"/>
              <a:buChar char="◆"/>
            </a:pPr>
            <a:r>
              <a:rPr lang="en-US" sz="2600">
                <a:solidFill>
                  <a:srgbClr val="111111"/>
                </a:solidFill>
                <a:latin typeface="Arial"/>
                <a:ea typeface="Arial"/>
                <a:cs typeface="Arial"/>
                <a:sym typeface="Arial"/>
              </a:rPr>
              <a:t>The compiler used by the dotnet CLI tool converts .NET source code(C#/VB/C++,..)  into </a:t>
            </a:r>
            <a:r>
              <a:rPr lang="en-US" sz="2600" b="1">
                <a:solidFill>
                  <a:srgbClr val="111111"/>
                </a:solidFill>
                <a:latin typeface="Arial"/>
                <a:ea typeface="Arial"/>
                <a:cs typeface="Arial"/>
                <a:sym typeface="Arial"/>
              </a:rPr>
              <a:t>Intermediate Language </a:t>
            </a:r>
            <a:r>
              <a:rPr lang="en-US" sz="2600">
                <a:solidFill>
                  <a:srgbClr val="111111"/>
                </a:solidFill>
                <a:latin typeface="Arial"/>
                <a:ea typeface="Arial"/>
                <a:cs typeface="Arial"/>
                <a:sym typeface="Arial"/>
              </a:rPr>
              <a:t>(IL) code, and stores the IL in an assembly (a </a:t>
            </a:r>
            <a:r>
              <a:rPr lang="en-US" sz="2600" b="1">
                <a:solidFill>
                  <a:srgbClr val="111111"/>
                </a:solidFill>
                <a:latin typeface="Arial"/>
                <a:ea typeface="Arial"/>
                <a:cs typeface="Arial"/>
                <a:sym typeface="Arial"/>
              </a:rPr>
              <a:t>DLL</a:t>
            </a:r>
            <a:r>
              <a:rPr lang="en-US" sz="2600">
                <a:solidFill>
                  <a:srgbClr val="111111"/>
                </a:solidFill>
                <a:latin typeface="Arial"/>
                <a:ea typeface="Arial"/>
                <a:cs typeface="Arial"/>
                <a:sym typeface="Arial"/>
              </a:rPr>
              <a:t> or </a:t>
            </a:r>
            <a:r>
              <a:rPr lang="en-US" sz="2600" b="1">
                <a:solidFill>
                  <a:srgbClr val="111111"/>
                </a:solidFill>
                <a:latin typeface="Arial"/>
                <a:ea typeface="Arial"/>
                <a:cs typeface="Arial"/>
                <a:sym typeface="Arial"/>
              </a:rPr>
              <a:t>EXE</a:t>
            </a:r>
            <a:r>
              <a:rPr lang="en-US" sz="2600">
                <a:solidFill>
                  <a:srgbClr val="111111"/>
                </a:solidFill>
                <a:latin typeface="Arial"/>
                <a:ea typeface="Arial"/>
                <a:cs typeface="Arial"/>
                <a:sym typeface="Arial"/>
              </a:rPr>
              <a:t> file).</a:t>
            </a:r>
            <a:endParaRPr/>
          </a:p>
          <a:p>
            <a:pPr marL="747713" marR="0" lvl="0" indent="-347663" algn="just" rtl="0">
              <a:spcBef>
                <a:spcPts val="1000"/>
              </a:spcBef>
              <a:spcAft>
                <a:spcPts val="0"/>
              </a:spcAft>
              <a:buClr>
                <a:srgbClr val="973735"/>
              </a:buClr>
              <a:buSzPts val="1610"/>
              <a:buFont typeface="Noto Sans Symbols"/>
              <a:buChar char="▪"/>
            </a:pPr>
            <a:r>
              <a:rPr lang="en-US" sz="2300">
                <a:solidFill>
                  <a:srgbClr val="111111"/>
                </a:solidFill>
                <a:latin typeface="Arial"/>
                <a:ea typeface="Arial"/>
                <a:cs typeface="Arial"/>
                <a:sym typeface="Arial"/>
              </a:rPr>
              <a:t>IL code statements are like assembly language instructions, but they are executed by .NET Core's virtual machine, known as the </a:t>
            </a:r>
            <a:r>
              <a:rPr lang="en-US" sz="2300" b="1">
                <a:solidFill>
                  <a:srgbClr val="111111"/>
                </a:solidFill>
                <a:latin typeface="Arial"/>
                <a:ea typeface="Arial"/>
                <a:cs typeface="Arial"/>
                <a:sym typeface="Arial"/>
              </a:rPr>
              <a:t>CoreCLR</a:t>
            </a:r>
            <a:r>
              <a:rPr lang="en-US" sz="2300">
                <a:solidFill>
                  <a:srgbClr val="111111"/>
                </a:solidFill>
                <a:latin typeface="Arial"/>
                <a:ea typeface="Arial"/>
                <a:cs typeface="Arial"/>
                <a:sym typeface="Arial"/>
              </a:rPr>
              <a:t>.</a:t>
            </a:r>
            <a:endParaRPr/>
          </a:p>
          <a:p>
            <a:pPr marL="342900" marR="0" lvl="0" indent="-342900" algn="just" rtl="0">
              <a:spcBef>
                <a:spcPts val="1000"/>
              </a:spcBef>
              <a:spcAft>
                <a:spcPts val="0"/>
              </a:spcAft>
              <a:buClr>
                <a:srgbClr val="973735"/>
              </a:buClr>
              <a:buSzPts val="1300"/>
              <a:buFont typeface="Noto Sans Symbols"/>
              <a:buChar char="◆"/>
            </a:pPr>
            <a:r>
              <a:rPr lang="en-US" sz="2600">
                <a:solidFill>
                  <a:srgbClr val="111111"/>
                </a:solidFill>
                <a:latin typeface="Arial"/>
                <a:ea typeface="Arial"/>
                <a:cs typeface="Arial"/>
                <a:sym typeface="Arial"/>
              </a:rPr>
              <a:t>At runtime, the </a:t>
            </a:r>
            <a:r>
              <a:rPr lang="en-US" sz="2600" b="1">
                <a:solidFill>
                  <a:srgbClr val="111111"/>
                </a:solidFill>
                <a:latin typeface="Arial"/>
                <a:ea typeface="Arial"/>
                <a:cs typeface="Arial"/>
                <a:sym typeface="Arial"/>
              </a:rPr>
              <a:t>CoreCLR</a:t>
            </a:r>
            <a:r>
              <a:rPr lang="en-US" sz="2600">
                <a:solidFill>
                  <a:srgbClr val="111111"/>
                </a:solidFill>
                <a:latin typeface="Arial"/>
                <a:ea typeface="Arial"/>
                <a:cs typeface="Arial"/>
                <a:sym typeface="Arial"/>
              </a:rPr>
              <a:t> loads the IL code from the assembly, JIT compiles it into native CPU instructions, and then it is executed by the CPU on your machine.</a:t>
            </a:r>
            <a:endParaRPr/>
          </a:p>
          <a:p>
            <a:pPr marL="342900" marR="0" lvl="0" indent="-342900" algn="just" rtl="0">
              <a:spcBef>
                <a:spcPts val="1000"/>
              </a:spcBef>
              <a:spcAft>
                <a:spcPts val="0"/>
              </a:spcAft>
              <a:buClr>
                <a:srgbClr val="973735"/>
              </a:buClr>
              <a:buSzPts val="1300"/>
              <a:buFont typeface="Noto Sans Symbols"/>
              <a:buChar char="◆"/>
            </a:pPr>
            <a:r>
              <a:rPr lang="en-US" sz="2600">
                <a:solidFill>
                  <a:srgbClr val="111111"/>
                </a:solidFill>
                <a:latin typeface="Arial"/>
                <a:ea typeface="Arial"/>
                <a:cs typeface="Arial"/>
                <a:sym typeface="Arial"/>
              </a:rPr>
              <a:t>The benefit of this two-step compilation process is that Microsoft can create CLRs for Linux and macOS as well as for Windows. The same IL code runs everywhere because of the second compilation process that generates code for the native operating system and CPU ...</a:t>
            </a:r>
            <a:endParaRPr/>
          </a:p>
        </p:txBody>
      </p:sp>
      <p:sp>
        <p:nvSpPr>
          <p:cNvPr id="495" name="Google Shape;495;p41"/>
          <p:cNvSpPr txBox="1">
            <a:spLocks noGrp="1"/>
          </p:cNvSpPr>
          <p:nvPr>
            <p:ph type="title"/>
          </p:nvPr>
        </p:nvSpPr>
        <p:spPr>
          <a:xfrm>
            <a:off x="417785" y="698985"/>
            <a:ext cx="11154104"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Compilation Process .NET Application</a:t>
            </a:r>
            <a:endParaRPr sz="4000" b="1"/>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2" name="Google Shape;502;p42"/>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36</a:t>
            </a:fld>
            <a:endParaRPr sz="1200">
              <a:solidFill>
                <a:schemeClr val="dk1"/>
              </a:solidFill>
              <a:latin typeface="Arial"/>
              <a:ea typeface="Arial"/>
              <a:cs typeface="Arial"/>
              <a:sym typeface="Arial"/>
            </a:endParaRPr>
          </a:p>
        </p:txBody>
      </p:sp>
      <p:sp>
        <p:nvSpPr>
          <p:cNvPr id="503" name="Google Shape;503;p42"/>
          <p:cNvSpPr txBox="1"/>
          <p:nvPr/>
        </p:nvSpPr>
        <p:spPr>
          <a:xfrm>
            <a:off x="396764" y="1455643"/>
            <a:ext cx="11553498" cy="1728044"/>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rgbClr val="973735"/>
              </a:buClr>
              <a:buSzPts val="1300"/>
              <a:buFont typeface="Noto Sans Symbols"/>
              <a:buChar char="◆"/>
            </a:pPr>
            <a:r>
              <a:rPr lang="en-US" sz="2600">
                <a:solidFill>
                  <a:srgbClr val="111111"/>
                </a:solidFill>
                <a:latin typeface="Arial"/>
                <a:ea typeface="Arial"/>
                <a:cs typeface="Arial"/>
                <a:sym typeface="Arial"/>
              </a:rPr>
              <a:t>CIL is a platform-neutral intermediate language (formerly called Microsoft Intermediate Language or MSIL) that represents the intermediate language binary instruction set defined by the CLI. It is a stack-based object-oriented assembly language that represents the code in byte-code format</a:t>
            </a:r>
            <a:endParaRPr/>
          </a:p>
        </p:txBody>
      </p:sp>
      <p:sp>
        <p:nvSpPr>
          <p:cNvPr id="504" name="Google Shape;504;p42"/>
          <p:cNvSpPr txBox="1">
            <a:spLocks noGrp="1"/>
          </p:cNvSpPr>
          <p:nvPr>
            <p:ph type="title"/>
          </p:nvPr>
        </p:nvSpPr>
        <p:spPr>
          <a:xfrm>
            <a:off x="396764" y="720006"/>
            <a:ext cx="11154104"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Common Intermediate Language (CIL)</a:t>
            </a:r>
            <a:endParaRPr/>
          </a:p>
        </p:txBody>
      </p:sp>
      <p:pic>
        <p:nvPicPr>
          <p:cNvPr id="505" name="Google Shape;505;p42"/>
          <p:cNvPicPr preferRelativeResize="0"/>
          <p:nvPr/>
        </p:nvPicPr>
        <p:blipFill rotWithShape="1">
          <a:blip r:embed="rId3">
            <a:alphaModFix/>
          </a:blip>
          <a:srcRect/>
          <a:stretch/>
        </p:blipFill>
        <p:spPr>
          <a:xfrm>
            <a:off x="327192" y="3343891"/>
            <a:ext cx="4444501" cy="2345709"/>
          </a:xfrm>
          <a:prstGeom prst="rect">
            <a:avLst/>
          </a:prstGeom>
          <a:noFill/>
          <a:ln w="9525" cap="flat" cmpd="sng">
            <a:solidFill>
              <a:schemeClr val="accent1"/>
            </a:solidFill>
            <a:prstDash val="solid"/>
            <a:round/>
            <a:headEnd type="none" w="sm" len="sm"/>
            <a:tailEnd type="none" w="sm" len="sm"/>
          </a:ln>
        </p:spPr>
      </p:pic>
      <p:pic>
        <p:nvPicPr>
          <p:cNvPr id="506" name="Google Shape;506;p42"/>
          <p:cNvPicPr preferRelativeResize="0"/>
          <p:nvPr/>
        </p:nvPicPr>
        <p:blipFill rotWithShape="1">
          <a:blip r:embed="rId4">
            <a:alphaModFix/>
          </a:blip>
          <a:srcRect/>
          <a:stretch/>
        </p:blipFill>
        <p:spPr>
          <a:xfrm>
            <a:off x="4992414" y="3343891"/>
            <a:ext cx="7105903" cy="2345708"/>
          </a:xfrm>
          <a:prstGeom prst="rect">
            <a:avLst/>
          </a:prstGeom>
          <a:noFill/>
          <a:ln w="9525" cap="flat" cmpd="sng">
            <a:solidFill>
              <a:schemeClr val="accent1"/>
            </a:solidFill>
            <a:prstDash val="solid"/>
            <a:round/>
            <a:headEnd type="none" w="sm" len="sm"/>
            <a:tailEnd type="none" w="sm" len="sm"/>
          </a:ln>
        </p:spPr>
      </p:pic>
      <p:sp>
        <p:nvSpPr>
          <p:cNvPr id="507" name="Google Shape;507;p42"/>
          <p:cNvSpPr txBox="1"/>
          <p:nvPr/>
        </p:nvSpPr>
        <p:spPr>
          <a:xfrm>
            <a:off x="1322989" y="5786306"/>
            <a:ext cx="2258411" cy="44627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300" i="1" u="sng">
                <a:solidFill>
                  <a:srgbClr val="111111"/>
                </a:solidFill>
                <a:latin typeface="Arial"/>
                <a:ea typeface="Arial"/>
                <a:cs typeface="Arial"/>
                <a:sym typeface="Arial"/>
              </a:rPr>
              <a:t>C# source code</a:t>
            </a:r>
            <a:endParaRPr/>
          </a:p>
        </p:txBody>
      </p:sp>
      <p:sp>
        <p:nvSpPr>
          <p:cNvPr id="508" name="Google Shape;508;p42"/>
          <p:cNvSpPr txBox="1"/>
          <p:nvPr/>
        </p:nvSpPr>
        <p:spPr>
          <a:xfrm>
            <a:off x="8261705" y="5786305"/>
            <a:ext cx="1681082" cy="44627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300" i="1" u="sng">
                <a:solidFill>
                  <a:srgbClr val="111111"/>
                </a:solidFill>
                <a:latin typeface="Arial"/>
                <a:ea typeface="Arial"/>
                <a:cs typeface="Arial"/>
                <a:sym typeface="Arial"/>
              </a:rPr>
              <a:t>MSIL code</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5" name="Google Shape;515;p43"/>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37</a:t>
            </a:fld>
            <a:endParaRPr sz="1200">
              <a:solidFill>
                <a:schemeClr val="dk1"/>
              </a:solidFill>
              <a:latin typeface="Arial"/>
              <a:ea typeface="Arial"/>
              <a:cs typeface="Arial"/>
              <a:sym typeface="Arial"/>
            </a:endParaRPr>
          </a:p>
        </p:txBody>
      </p:sp>
      <p:sp>
        <p:nvSpPr>
          <p:cNvPr id="516" name="Google Shape;516;p43"/>
          <p:cNvSpPr txBox="1">
            <a:spLocks noGrp="1"/>
          </p:cNvSpPr>
          <p:nvPr>
            <p:ph type="title"/>
          </p:nvPr>
        </p:nvSpPr>
        <p:spPr>
          <a:xfrm>
            <a:off x="396764" y="677966"/>
            <a:ext cx="11154104"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Introduction to Visual Studio.NET</a:t>
            </a:r>
            <a:endParaRPr/>
          </a:p>
        </p:txBody>
      </p:sp>
      <p:sp>
        <p:nvSpPr>
          <p:cNvPr id="517" name="Google Shape;517;p43"/>
          <p:cNvSpPr txBox="1"/>
          <p:nvPr/>
        </p:nvSpPr>
        <p:spPr>
          <a:xfrm>
            <a:off x="1" y="1471718"/>
            <a:ext cx="12192000" cy="2492950"/>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rgbClr val="973735"/>
              </a:buClr>
              <a:buSzPts val="1300"/>
              <a:buFont typeface="Noto Sans Symbols"/>
              <a:buChar char="◆"/>
            </a:pPr>
            <a:r>
              <a:rPr lang="en-US" sz="2600" b="0" i="0" dirty="0">
                <a:solidFill>
                  <a:srgbClr val="262524"/>
                </a:solidFill>
                <a:latin typeface="Arial"/>
                <a:ea typeface="Arial"/>
                <a:cs typeface="Arial"/>
                <a:sym typeface="Arial"/>
              </a:rPr>
              <a:t>Visual Studio is one of the most famous IDE’s has been using for the last few years. </a:t>
            </a:r>
          </a:p>
          <a:p>
            <a:pPr marL="342900" marR="0" lvl="0" indent="-342900" algn="just" rtl="0">
              <a:spcBef>
                <a:spcPts val="0"/>
              </a:spcBef>
              <a:spcAft>
                <a:spcPts val="0"/>
              </a:spcAft>
              <a:buClr>
                <a:srgbClr val="973735"/>
              </a:buClr>
              <a:buSzPts val="1300"/>
              <a:buFont typeface="Noto Sans Symbols"/>
              <a:buChar char="◆"/>
            </a:pPr>
            <a:r>
              <a:rPr lang="en-US" sz="2600" b="0" i="0" dirty="0">
                <a:solidFill>
                  <a:srgbClr val="262524"/>
                </a:solidFill>
                <a:latin typeface="Arial"/>
                <a:ea typeface="Arial"/>
                <a:cs typeface="Arial"/>
                <a:sym typeface="Arial"/>
              </a:rPr>
              <a:t>Microsoft developed it. It is used to create a computer program, web applications, and EXE files, etc. </a:t>
            </a:r>
          </a:p>
          <a:p>
            <a:pPr marL="342900" marR="0" lvl="0" indent="-342900" algn="just" rtl="0">
              <a:spcBef>
                <a:spcPts val="0"/>
              </a:spcBef>
              <a:spcAft>
                <a:spcPts val="0"/>
              </a:spcAft>
              <a:buClr>
                <a:srgbClr val="973735"/>
              </a:buClr>
              <a:buSzPts val="1300"/>
              <a:buFont typeface="Noto Sans Symbols"/>
              <a:buChar char="◆"/>
            </a:pPr>
            <a:r>
              <a:rPr lang="en-US" sz="2600" b="0" i="0" dirty="0">
                <a:solidFill>
                  <a:srgbClr val="262524"/>
                </a:solidFill>
                <a:latin typeface="Arial"/>
                <a:ea typeface="Arial"/>
                <a:cs typeface="Arial"/>
                <a:sym typeface="Arial"/>
              </a:rPr>
              <a:t>The first version of its kind was launched in 1997. </a:t>
            </a:r>
          </a:p>
          <a:p>
            <a:pPr marL="342900" marR="0" lvl="0" indent="-342900" algn="just" rtl="0">
              <a:spcBef>
                <a:spcPts val="0"/>
              </a:spcBef>
              <a:spcAft>
                <a:spcPts val="0"/>
              </a:spcAft>
              <a:buClr>
                <a:srgbClr val="973735"/>
              </a:buClr>
              <a:buSzPts val="1300"/>
              <a:buFont typeface="Noto Sans Symbols"/>
              <a:buChar char="◆"/>
            </a:pPr>
            <a:r>
              <a:rPr lang="en-US" sz="2600" b="0" i="0" dirty="0">
                <a:solidFill>
                  <a:srgbClr val="262524"/>
                </a:solidFill>
                <a:latin typeface="Arial"/>
                <a:ea typeface="Arial"/>
                <a:cs typeface="Arial"/>
                <a:sym typeface="Arial"/>
              </a:rPr>
              <a:t>And now the latest version available in the market is Visual Studio 2022.</a:t>
            </a:r>
            <a:endParaRPr sz="2600" dirty="0">
              <a:solidFill>
                <a:srgbClr val="111111"/>
              </a:solidFill>
              <a:latin typeface="Arial"/>
              <a:ea typeface="Arial"/>
              <a:cs typeface="Arial"/>
              <a:sym typeface="Arial"/>
            </a:endParaRPr>
          </a:p>
        </p:txBody>
      </p:sp>
      <p:sp>
        <p:nvSpPr>
          <p:cNvPr id="520" name="Google Shape;520;p43"/>
          <p:cNvSpPr/>
          <p:nvPr/>
        </p:nvSpPr>
        <p:spPr>
          <a:xfrm>
            <a:off x="9551276" y="923642"/>
            <a:ext cx="2401614" cy="609600"/>
          </a:xfrm>
          <a:prstGeom prst="ellipse">
            <a:avLst/>
          </a:prstGeom>
          <a:solidFill>
            <a:srgbClr val="FF000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chemeClr val="lt1"/>
                </a:solidFill>
                <a:latin typeface="Arial"/>
                <a:ea typeface="Arial"/>
                <a:cs typeface="Arial"/>
                <a:sym typeface="Arial"/>
              </a:rPr>
              <a:t>Read by yourself</a:t>
            </a:r>
            <a:endParaRPr/>
          </a:p>
        </p:txBody>
      </p:sp>
      <p:pic>
        <p:nvPicPr>
          <p:cNvPr id="2" name="Picture 1"/>
          <p:cNvPicPr>
            <a:picLocks noChangeAspect="1"/>
          </p:cNvPicPr>
          <p:nvPr/>
        </p:nvPicPr>
        <p:blipFill>
          <a:blip r:embed="rId3"/>
          <a:stretch>
            <a:fillRect/>
          </a:stretch>
        </p:blipFill>
        <p:spPr>
          <a:xfrm>
            <a:off x="3428722" y="4131026"/>
            <a:ext cx="4558344" cy="2121569"/>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7" name="Google Shape;527;p44"/>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38</a:t>
            </a:fld>
            <a:endParaRPr sz="1200">
              <a:solidFill>
                <a:schemeClr val="dk1"/>
              </a:solidFill>
              <a:latin typeface="Arial"/>
              <a:ea typeface="Arial"/>
              <a:cs typeface="Arial"/>
              <a:sym typeface="Arial"/>
            </a:endParaRPr>
          </a:p>
        </p:txBody>
      </p:sp>
      <p:sp>
        <p:nvSpPr>
          <p:cNvPr id="528" name="Google Shape;528;p44"/>
          <p:cNvSpPr txBox="1">
            <a:spLocks noGrp="1"/>
          </p:cNvSpPr>
          <p:nvPr>
            <p:ph type="title"/>
          </p:nvPr>
        </p:nvSpPr>
        <p:spPr>
          <a:xfrm>
            <a:off x="396764" y="720006"/>
            <a:ext cx="11154104"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Introduction to Visual Studio.NET</a:t>
            </a:r>
            <a:endParaRPr/>
          </a:p>
        </p:txBody>
      </p:sp>
      <p:sp>
        <p:nvSpPr>
          <p:cNvPr id="529" name="Google Shape;529;p44"/>
          <p:cNvSpPr txBox="1"/>
          <p:nvPr/>
        </p:nvSpPr>
        <p:spPr>
          <a:xfrm>
            <a:off x="325821" y="1702604"/>
            <a:ext cx="11540358" cy="4349909"/>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rgbClr val="973735"/>
              </a:buClr>
              <a:buSzPts val="1300"/>
              <a:buFont typeface="Noto Sans Symbols"/>
              <a:buChar char="◆"/>
            </a:pPr>
            <a:r>
              <a:rPr lang="en-US" sz="2600" b="1" i="0">
                <a:solidFill>
                  <a:srgbClr val="262524"/>
                </a:solidFill>
                <a:latin typeface="Arial"/>
                <a:ea typeface="Arial"/>
                <a:cs typeface="Arial"/>
                <a:sym typeface="Arial"/>
              </a:rPr>
              <a:t>New User Experienced Start Window</a:t>
            </a:r>
            <a:r>
              <a:rPr lang="en-US" sz="2600" b="0" i="0">
                <a:solidFill>
                  <a:srgbClr val="262524"/>
                </a:solidFill>
                <a:latin typeface="Arial"/>
                <a:ea typeface="Arial"/>
                <a:cs typeface="Arial"/>
                <a:sym typeface="Arial"/>
              </a:rPr>
              <a:t>: Check out the code, Open a project, Open a folder and Create a new project   </a:t>
            </a:r>
            <a:endParaRPr/>
          </a:p>
          <a:p>
            <a:pPr marL="342900" marR="0" lvl="0" indent="-342900" algn="just" rtl="0">
              <a:spcBef>
                <a:spcPts val="1000"/>
              </a:spcBef>
              <a:spcAft>
                <a:spcPts val="0"/>
              </a:spcAft>
              <a:buClr>
                <a:srgbClr val="973735"/>
              </a:buClr>
              <a:buSzPts val="1300"/>
              <a:buFont typeface="Noto Sans Symbols"/>
              <a:buChar char="◆"/>
            </a:pPr>
            <a:r>
              <a:rPr lang="en-US" sz="2600" b="1" i="0">
                <a:solidFill>
                  <a:srgbClr val="262524"/>
                </a:solidFill>
                <a:latin typeface="Arial"/>
                <a:ea typeface="Arial"/>
                <a:cs typeface="Arial"/>
                <a:sym typeface="Arial"/>
              </a:rPr>
              <a:t>Visual Studio Live Share</a:t>
            </a:r>
            <a:r>
              <a:rPr lang="en-US" sz="2600">
                <a:solidFill>
                  <a:srgbClr val="262524"/>
                </a:solidFill>
                <a:latin typeface="Arial"/>
                <a:ea typeface="Arial"/>
                <a:cs typeface="Arial"/>
                <a:sym typeface="Arial"/>
              </a:rPr>
              <a:t>: Live Share is a developer service in Visual Studio 2019. This feature directly enables to share code context and debugging process with your teammates and get live access within Visual Studio itself like Google document services.</a:t>
            </a:r>
            <a:endParaRPr/>
          </a:p>
          <a:p>
            <a:pPr marL="342900" marR="0" lvl="0" indent="-342900" algn="just" rtl="0">
              <a:spcBef>
                <a:spcPts val="1000"/>
              </a:spcBef>
              <a:spcAft>
                <a:spcPts val="0"/>
              </a:spcAft>
              <a:buClr>
                <a:srgbClr val="973735"/>
              </a:buClr>
              <a:buSzPts val="1300"/>
              <a:buFont typeface="Noto Sans Symbols"/>
              <a:buChar char="◆"/>
            </a:pPr>
            <a:r>
              <a:rPr lang="en-US" sz="2600" b="1">
                <a:solidFill>
                  <a:srgbClr val="262524"/>
                </a:solidFill>
                <a:latin typeface="Arial"/>
                <a:ea typeface="Arial"/>
                <a:cs typeface="Arial"/>
                <a:sym typeface="Arial"/>
              </a:rPr>
              <a:t>Improved Refactoring: </a:t>
            </a:r>
            <a:r>
              <a:rPr lang="en-US" sz="2600">
                <a:solidFill>
                  <a:srgbClr val="262524"/>
                </a:solidFill>
                <a:latin typeface="Arial"/>
                <a:ea typeface="Arial"/>
                <a:cs typeface="Arial"/>
                <a:sym typeface="Arial"/>
              </a:rPr>
              <a:t>Refactoring in any IDE will highly helpful for developers. In Visual Studio 2019 these refactorings will come up with new advanced features, and these are used to organize your code in a structured manner.</a:t>
            </a:r>
            <a:endParaRPr sz="2600">
              <a:solidFill>
                <a:srgbClr val="111111"/>
              </a:solidFill>
              <a:latin typeface="Arial"/>
              <a:ea typeface="Arial"/>
              <a:cs typeface="Arial"/>
              <a:sym typeface="Arial"/>
            </a:endParaRPr>
          </a:p>
        </p:txBody>
      </p:sp>
      <p:sp>
        <p:nvSpPr>
          <p:cNvPr id="530" name="Google Shape;530;p44"/>
          <p:cNvSpPr/>
          <p:nvPr/>
        </p:nvSpPr>
        <p:spPr>
          <a:xfrm>
            <a:off x="9393622" y="1007722"/>
            <a:ext cx="2401614" cy="609600"/>
          </a:xfrm>
          <a:prstGeom prst="ellipse">
            <a:avLst/>
          </a:prstGeom>
          <a:solidFill>
            <a:srgbClr val="FF000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chemeClr val="lt1"/>
                </a:solidFill>
                <a:latin typeface="Arial"/>
                <a:ea typeface="Arial"/>
                <a:cs typeface="Arial"/>
                <a:sym typeface="Arial"/>
              </a:rPr>
              <a:t>Read by yourself</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6" name="Google Shape;546;p46"/>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39</a:t>
            </a:fld>
            <a:endParaRPr sz="1200">
              <a:solidFill>
                <a:schemeClr val="dk1"/>
              </a:solidFill>
              <a:latin typeface="Arial"/>
              <a:ea typeface="Arial"/>
              <a:cs typeface="Arial"/>
              <a:sym typeface="Arial"/>
            </a:endParaRPr>
          </a:p>
        </p:txBody>
      </p:sp>
      <p:sp>
        <p:nvSpPr>
          <p:cNvPr id="547" name="Google Shape;547;p46"/>
          <p:cNvSpPr txBox="1">
            <a:spLocks noGrp="1"/>
          </p:cNvSpPr>
          <p:nvPr>
            <p:ph type="title"/>
          </p:nvPr>
        </p:nvSpPr>
        <p:spPr>
          <a:xfrm>
            <a:off x="396764" y="720006"/>
            <a:ext cx="11154104"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Introduction to Nuget packages</a:t>
            </a:r>
            <a:endParaRPr/>
          </a:p>
        </p:txBody>
      </p:sp>
      <p:sp>
        <p:nvSpPr>
          <p:cNvPr id="548" name="Google Shape;548;p46"/>
          <p:cNvSpPr txBox="1"/>
          <p:nvPr/>
        </p:nvSpPr>
        <p:spPr>
          <a:xfrm>
            <a:off x="147144" y="1453964"/>
            <a:ext cx="11950261" cy="2221121"/>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rgbClr val="973735"/>
              </a:buClr>
              <a:buSzPts val="1300"/>
              <a:buFont typeface="Noto Sans Symbols"/>
              <a:buChar char="◆"/>
            </a:pPr>
            <a:r>
              <a:rPr lang="en-US" sz="2600">
                <a:solidFill>
                  <a:srgbClr val="111111"/>
                </a:solidFill>
                <a:latin typeface="Arial"/>
                <a:ea typeface="Arial"/>
                <a:cs typeface="Arial"/>
                <a:sym typeface="Arial"/>
              </a:rPr>
              <a:t>.NET is split into a set of packages, distributed using a Microsoft supported package management technology named NuGet. Each of these packages represents a single assembly of the same name. </a:t>
            </a:r>
            <a:endParaRPr/>
          </a:p>
          <a:p>
            <a:pPr marL="568325" marR="0" lvl="0" indent="-222250" algn="just" rtl="0">
              <a:spcBef>
                <a:spcPts val="1000"/>
              </a:spcBef>
              <a:spcAft>
                <a:spcPts val="0"/>
              </a:spcAft>
              <a:buClr>
                <a:srgbClr val="973735"/>
              </a:buClr>
              <a:buSzPts val="1820"/>
              <a:buFont typeface="Noto Sans Symbols"/>
              <a:buChar char="▪"/>
            </a:pPr>
            <a:r>
              <a:rPr lang="en-US" sz="2600">
                <a:solidFill>
                  <a:srgbClr val="111111"/>
                </a:solidFill>
                <a:latin typeface="Arial"/>
                <a:ea typeface="Arial"/>
                <a:cs typeface="Arial"/>
                <a:sym typeface="Arial"/>
              </a:rPr>
              <a:t>For example, the System.Collections package contains the System.Collections.dll assembly.</a:t>
            </a:r>
            <a:endParaRPr/>
          </a:p>
        </p:txBody>
      </p:sp>
      <p:pic>
        <p:nvPicPr>
          <p:cNvPr id="549" name="Google Shape;549;p46" descr="Relationship between package creators, package hosts, and package consumers"/>
          <p:cNvPicPr preferRelativeResize="0"/>
          <p:nvPr/>
        </p:nvPicPr>
        <p:blipFill rotWithShape="1">
          <a:blip r:embed="rId3">
            <a:alphaModFix/>
          </a:blip>
          <a:srcRect/>
          <a:stretch/>
        </p:blipFill>
        <p:spPr>
          <a:xfrm>
            <a:off x="2268838" y="3675085"/>
            <a:ext cx="7788822" cy="275154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54"/>
        <p:cNvGrpSpPr/>
        <p:nvPr/>
      </p:nvGrpSpPr>
      <p:grpSpPr>
        <a:xfrm>
          <a:off x="0" y="0"/>
          <a:ext cx="0" cy="0"/>
          <a:chOff x="0" y="0"/>
          <a:chExt cx="0" cy="0"/>
        </a:xfrm>
      </p:grpSpPr>
      <p:sp>
        <p:nvSpPr>
          <p:cNvPr id="556" name="Google Shape;556;p47"/>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40</a:t>
            </a:fld>
            <a:endParaRPr sz="1200">
              <a:solidFill>
                <a:schemeClr val="dk1"/>
              </a:solidFill>
              <a:latin typeface="Arial"/>
              <a:ea typeface="Arial"/>
              <a:cs typeface="Arial"/>
              <a:sym typeface="Arial"/>
            </a:endParaRPr>
          </a:p>
        </p:txBody>
      </p:sp>
      <p:sp>
        <p:nvSpPr>
          <p:cNvPr id="557" name="Google Shape;557;p47"/>
          <p:cNvSpPr txBox="1">
            <a:spLocks noGrp="1"/>
          </p:cNvSpPr>
          <p:nvPr>
            <p:ph type="title"/>
          </p:nvPr>
        </p:nvSpPr>
        <p:spPr>
          <a:xfrm>
            <a:off x="396764" y="720006"/>
            <a:ext cx="11154104"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Introduction to Nuget packages</a:t>
            </a:r>
            <a:endParaRPr/>
          </a:p>
        </p:txBody>
      </p:sp>
      <p:sp>
        <p:nvSpPr>
          <p:cNvPr id="558" name="Google Shape;558;p47"/>
          <p:cNvSpPr txBox="1"/>
          <p:nvPr/>
        </p:nvSpPr>
        <p:spPr>
          <a:xfrm>
            <a:off x="312683" y="1659362"/>
            <a:ext cx="11566634" cy="4365298"/>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rgbClr val="973735"/>
              </a:buClr>
              <a:buSzPts val="1400"/>
              <a:buFont typeface="Noto Sans Symbols"/>
              <a:buChar char="◆"/>
            </a:pPr>
            <a:r>
              <a:rPr lang="en-US" sz="2800">
                <a:solidFill>
                  <a:srgbClr val="111111"/>
                </a:solidFill>
                <a:latin typeface="Arial"/>
                <a:ea typeface="Arial"/>
                <a:cs typeface="Arial"/>
                <a:sym typeface="Arial"/>
              </a:rPr>
              <a:t>Install and use a package for .NET project in Visual Studio </a:t>
            </a:r>
            <a:endParaRPr/>
          </a:p>
          <a:p>
            <a:pPr marL="739775" marR="0" lvl="0" indent="-339725" algn="l" rtl="0">
              <a:spcBef>
                <a:spcPts val="1000"/>
              </a:spcBef>
              <a:spcAft>
                <a:spcPts val="0"/>
              </a:spcAft>
              <a:buClr>
                <a:srgbClr val="973735"/>
              </a:buClr>
              <a:buSzPts val="1820"/>
              <a:buFont typeface="Noto Sans Symbols"/>
              <a:buChar char="▪"/>
            </a:pPr>
            <a:r>
              <a:rPr lang="en-US" sz="2600">
                <a:solidFill>
                  <a:srgbClr val="111111"/>
                </a:solidFill>
                <a:latin typeface="Arial"/>
                <a:ea typeface="Arial"/>
                <a:cs typeface="Arial"/>
                <a:sym typeface="Arial"/>
              </a:rPr>
              <a:t>Using </a:t>
            </a:r>
            <a:r>
              <a:rPr lang="en-US" sz="2600" b="1" i="0">
                <a:solidFill>
                  <a:srgbClr val="171717"/>
                </a:solidFill>
                <a:latin typeface="Arial"/>
                <a:ea typeface="Arial"/>
                <a:cs typeface="Arial"/>
                <a:sym typeface="Arial"/>
              </a:rPr>
              <a:t>NuGet Package Manager</a:t>
            </a:r>
            <a:endParaRPr/>
          </a:p>
          <a:p>
            <a:pPr marL="739775" marR="0" lvl="0" indent="-339725" algn="l" rtl="0">
              <a:spcBef>
                <a:spcPts val="1000"/>
              </a:spcBef>
              <a:spcAft>
                <a:spcPts val="0"/>
              </a:spcAft>
              <a:buClr>
                <a:srgbClr val="973735"/>
              </a:buClr>
              <a:buSzPts val="1820"/>
              <a:buFont typeface="Noto Sans Symbols"/>
              <a:buChar char="▪"/>
            </a:pPr>
            <a:r>
              <a:rPr lang="en-US" sz="2600">
                <a:solidFill>
                  <a:srgbClr val="111111"/>
                </a:solidFill>
                <a:latin typeface="Arial"/>
                <a:ea typeface="Arial"/>
                <a:cs typeface="Arial"/>
                <a:sym typeface="Arial"/>
              </a:rPr>
              <a:t>(</a:t>
            </a:r>
            <a:r>
              <a:rPr lang="en-US" sz="2600">
                <a:solidFill>
                  <a:srgbClr val="171717"/>
                </a:solidFill>
                <a:latin typeface="Arial"/>
                <a:ea typeface="Arial"/>
                <a:cs typeface="Arial"/>
                <a:sym typeface="Arial"/>
              </a:rPr>
              <a:t>For </a:t>
            </a:r>
            <a:r>
              <a:rPr lang="en-US" sz="2600" b="1">
                <a:solidFill>
                  <a:srgbClr val="171717"/>
                </a:solidFill>
                <a:latin typeface="Arial"/>
                <a:ea typeface="Arial"/>
                <a:cs typeface="Arial"/>
                <a:sym typeface="Arial"/>
              </a:rPr>
              <a:t>Windows:</a:t>
            </a:r>
            <a:r>
              <a:rPr lang="en-US" sz="2600" b="1">
                <a:solidFill>
                  <a:srgbClr val="111111"/>
                </a:solidFill>
                <a:latin typeface="Arial"/>
                <a:ea typeface="Arial"/>
                <a:cs typeface="Arial"/>
                <a:sym typeface="Arial"/>
              </a:rPr>
              <a:t> </a:t>
            </a:r>
            <a:r>
              <a:rPr lang="en-US" sz="2600" u="sng">
                <a:solidFill>
                  <a:srgbClr val="111111"/>
                </a:solidFill>
                <a:latin typeface="Arial"/>
                <a:ea typeface="Arial"/>
                <a:cs typeface="Arial"/>
                <a:sym typeface="Arial"/>
                <a:hlinkClick r:id="rId3">
                  <a:extLst>
                    <a:ext uri="{A12FA001-AC4F-418D-AE19-62706E023703}">
                      <ahyp:hlinkClr xmlns:ahyp="http://schemas.microsoft.com/office/drawing/2018/hyperlinkcolor" val="tx"/>
                    </a:ext>
                  </a:extLst>
                </a:hlinkClick>
              </a:rPr>
              <a:t>https://docs.microsoft.com/en-us/nuget/quickstart/install-and-use-a-package-in-visual-studio</a:t>
            </a:r>
            <a:r>
              <a:rPr lang="en-US" sz="2600">
                <a:solidFill>
                  <a:srgbClr val="111111"/>
                </a:solidFill>
                <a:latin typeface="Arial"/>
                <a:ea typeface="Arial"/>
                <a:cs typeface="Arial"/>
                <a:sym typeface="Arial"/>
              </a:rPr>
              <a:t> )</a:t>
            </a:r>
            <a:endParaRPr/>
          </a:p>
          <a:p>
            <a:pPr marL="739775" marR="0" lvl="0" indent="-339725" algn="l" rtl="0">
              <a:spcBef>
                <a:spcPts val="1000"/>
              </a:spcBef>
              <a:spcAft>
                <a:spcPts val="0"/>
              </a:spcAft>
              <a:buClr>
                <a:srgbClr val="973735"/>
              </a:buClr>
              <a:buSzPts val="1960"/>
              <a:buFont typeface="Noto Sans Symbols"/>
              <a:buChar char="▪"/>
            </a:pPr>
            <a:r>
              <a:rPr lang="en-US" sz="2800">
                <a:solidFill>
                  <a:srgbClr val="111111"/>
                </a:solidFill>
                <a:latin typeface="Arial"/>
                <a:ea typeface="Arial"/>
                <a:cs typeface="Arial"/>
                <a:sym typeface="Arial"/>
              </a:rPr>
              <a:t>(F</a:t>
            </a:r>
            <a:r>
              <a:rPr lang="en-US" sz="2800">
                <a:solidFill>
                  <a:srgbClr val="171717"/>
                </a:solidFill>
                <a:latin typeface="Arial"/>
                <a:ea typeface="Arial"/>
                <a:cs typeface="Arial"/>
                <a:sym typeface="Arial"/>
              </a:rPr>
              <a:t>or </a:t>
            </a:r>
            <a:r>
              <a:rPr lang="en-US" sz="2800" b="1" i="0">
                <a:solidFill>
                  <a:srgbClr val="171717"/>
                </a:solidFill>
                <a:latin typeface="Quattrocento Sans"/>
                <a:ea typeface="Quattrocento Sans"/>
                <a:cs typeface="Quattrocento Sans"/>
                <a:sym typeface="Quattrocento Sans"/>
              </a:rPr>
              <a:t>Mac: </a:t>
            </a:r>
            <a:r>
              <a:rPr lang="en-US" sz="2600" u="sng">
                <a:solidFill>
                  <a:srgbClr val="111111"/>
                </a:solidFill>
                <a:latin typeface="Arial"/>
                <a:ea typeface="Arial"/>
                <a:cs typeface="Arial"/>
                <a:sym typeface="Arial"/>
                <a:hlinkClick r:id="rId4">
                  <a:extLst>
                    <a:ext uri="{A12FA001-AC4F-418D-AE19-62706E023703}">
                      <ahyp:hlinkClr xmlns:ahyp="http://schemas.microsoft.com/office/drawing/2018/hyperlinkcolor" val="tx"/>
                    </a:ext>
                  </a:extLst>
                </a:hlinkClick>
              </a:rPr>
              <a:t>https://docs.microsoft.com/en-us/nuget/quickstart/install-and-use-a-package-in-visual-studio-mac</a:t>
            </a:r>
            <a:r>
              <a:rPr lang="en-US" sz="2600">
                <a:solidFill>
                  <a:srgbClr val="111111"/>
                </a:solidFill>
                <a:latin typeface="Arial"/>
                <a:ea typeface="Arial"/>
                <a:cs typeface="Arial"/>
                <a:sym typeface="Arial"/>
              </a:rPr>
              <a:t> )</a:t>
            </a:r>
            <a:endParaRPr/>
          </a:p>
          <a:p>
            <a:pPr marL="739775" marR="0" lvl="0" indent="-339725" algn="l" rtl="0">
              <a:spcBef>
                <a:spcPts val="1000"/>
              </a:spcBef>
              <a:spcAft>
                <a:spcPts val="0"/>
              </a:spcAft>
              <a:buClr>
                <a:srgbClr val="973735"/>
              </a:buClr>
              <a:buSzPts val="1820"/>
              <a:buFont typeface="Noto Sans Symbols"/>
              <a:buChar char="▪"/>
            </a:pPr>
            <a:r>
              <a:rPr lang="en-US" sz="2600">
                <a:solidFill>
                  <a:srgbClr val="111111"/>
                </a:solidFill>
                <a:latin typeface="Arial"/>
                <a:ea typeface="Arial"/>
                <a:cs typeface="Arial"/>
                <a:sym typeface="Arial"/>
              </a:rPr>
              <a:t>Using the </a:t>
            </a:r>
            <a:r>
              <a:rPr lang="en-US" sz="2600" b="1">
                <a:solidFill>
                  <a:srgbClr val="111111"/>
                </a:solidFill>
                <a:latin typeface="Arial"/>
                <a:ea typeface="Arial"/>
                <a:cs typeface="Arial"/>
                <a:sym typeface="Arial"/>
              </a:rPr>
              <a:t>dotnet CLI </a:t>
            </a:r>
            <a:endParaRPr/>
          </a:p>
          <a:p>
            <a:pPr marL="739775" marR="0" lvl="0" indent="-339725" algn="l" rtl="0">
              <a:spcBef>
                <a:spcPts val="1000"/>
              </a:spcBef>
              <a:spcAft>
                <a:spcPts val="0"/>
              </a:spcAft>
              <a:buClr>
                <a:srgbClr val="973735"/>
              </a:buClr>
              <a:buSzPts val="1820"/>
              <a:buFont typeface="Noto Sans Symbols"/>
              <a:buChar char="▪"/>
            </a:pPr>
            <a:r>
              <a:rPr lang="en-US" sz="2600">
                <a:solidFill>
                  <a:srgbClr val="171717"/>
                </a:solidFill>
                <a:latin typeface="Arial"/>
                <a:ea typeface="Arial"/>
                <a:cs typeface="Arial"/>
                <a:sym typeface="Arial"/>
              </a:rPr>
              <a:t>(</a:t>
            </a:r>
            <a:r>
              <a:rPr lang="en-US" sz="2600" u="sng">
                <a:solidFill>
                  <a:srgbClr val="171717"/>
                </a:solidFill>
                <a:latin typeface="Arial"/>
                <a:ea typeface="Arial"/>
                <a:cs typeface="Arial"/>
                <a:sym typeface="Arial"/>
                <a:hlinkClick r:id="rId5">
                  <a:extLst>
                    <a:ext uri="{A12FA001-AC4F-418D-AE19-62706E023703}">
                      <ahyp:hlinkClr xmlns:ahyp="http://schemas.microsoft.com/office/drawing/2018/hyperlinkcolor" val="tx"/>
                    </a:ext>
                  </a:extLst>
                </a:hlinkClick>
              </a:rPr>
              <a:t>https://docs.microsoft.com/en-us/nuget/quickstart/install-and-use-a-package-using-the-dotnet-cli</a:t>
            </a:r>
            <a:r>
              <a:rPr lang="en-US" sz="2600">
                <a:solidFill>
                  <a:srgbClr val="171717"/>
                </a:solidFill>
                <a:latin typeface="Arial"/>
                <a:ea typeface="Arial"/>
                <a:cs typeface="Arial"/>
                <a:sym typeface="Arial"/>
              </a:rPr>
              <a:t> )</a:t>
            </a:r>
            <a:endParaRPr sz="2600">
              <a:solidFill>
                <a:srgbClr val="111111"/>
              </a:solidFill>
              <a:latin typeface="Arial"/>
              <a:ea typeface="Arial"/>
              <a:cs typeface="Arial"/>
              <a:sym typeface="Arial"/>
            </a:endParaRPr>
          </a:p>
        </p:txBody>
      </p:sp>
      <p:sp>
        <p:nvSpPr>
          <p:cNvPr id="559" name="Google Shape;559;p47"/>
          <p:cNvSpPr/>
          <p:nvPr/>
        </p:nvSpPr>
        <p:spPr>
          <a:xfrm>
            <a:off x="9393622" y="1007722"/>
            <a:ext cx="2401614" cy="609600"/>
          </a:xfrm>
          <a:prstGeom prst="ellipse">
            <a:avLst/>
          </a:prstGeom>
          <a:solidFill>
            <a:srgbClr val="FF000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chemeClr val="lt1"/>
                </a:solidFill>
                <a:latin typeface="Arial"/>
                <a:ea typeface="Arial"/>
                <a:cs typeface="Arial"/>
                <a:sym typeface="Arial"/>
              </a:rPr>
              <a:t>Read by yourself</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48"/>
          <p:cNvSpPr txBox="1">
            <a:spLocks noGrp="1"/>
          </p:cNvSpPr>
          <p:nvPr>
            <p:ph type="title"/>
          </p:nvPr>
        </p:nvSpPr>
        <p:spPr>
          <a:xfrm>
            <a:off x="627993" y="700132"/>
            <a:ext cx="10515600" cy="592642"/>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Summary</a:t>
            </a:r>
            <a:endParaRPr/>
          </a:p>
        </p:txBody>
      </p:sp>
      <p:sp>
        <p:nvSpPr>
          <p:cNvPr id="565" name="Google Shape;565;p48"/>
          <p:cNvSpPr txBox="1">
            <a:spLocks noGrp="1"/>
          </p:cNvSpPr>
          <p:nvPr>
            <p:ph type="body" idx="1"/>
          </p:nvPr>
        </p:nvSpPr>
        <p:spPr>
          <a:xfrm>
            <a:off x="627993" y="1492469"/>
            <a:ext cx="11111884" cy="4865095"/>
          </a:xfrm>
          <a:prstGeom prst="rect">
            <a:avLst/>
          </a:prstGeom>
          <a:noFill/>
          <a:ln>
            <a:noFill/>
          </a:ln>
        </p:spPr>
        <p:txBody>
          <a:bodyPr spcFirstLastPara="1" wrap="square" lIns="91425" tIns="45700" rIns="91425" bIns="45700" anchor="t" anchorCtr="0">
            <a:normAutofit/>
          </a:bodyPr>
          <a:lstStyle/>
          <a:p>
            <a:pPr marL="342900" lvl="0" indent="-342900" algn="l" rtl="0">
              <a:lnSpc>
                <a:spcPct val="120000"/>
              </a:lnSpc>
              <a:spcBef>
                <a:spcPts val="0"/>
              </a:spcBef>
              <a:spcAft>
                <a:spcPts val="0"/>
              </a:spcAft>
              <a:buClr>
                <a:srgbClr val="973735"/>
              </a:buClr>
              <a:buSzPts val="1500"/>
              <a:buFont typeface="Noto Sans Symbols"/>
              <a:buChar char="◆"/>
            </a:pPr>
            <a:r>
              <a:rPr lang="en-US" sz="3000" dirty="0"/>
              <a:t>Concepts were introduced:</a:t>
            </a:r>
            <a:endParaRPr dirty="0"/>
          </a:p>
          <a:p>
            <a:pPr marL="514350" lvl="0" indent="-230187" algn="l" rtl="0">
              <a:lnSpc>
                <a:spcPct val="110000"/>
              </a:lnSpc>
              <a:spcBef>
                <a:spcPts val="1000"/>
              </a:spcBef>
              <a:spcAft>
                <a:spcPts val="0"/>
              </a:spcAft>
              <a:buClr>
                <a:srgbClr val="973735"/>
              </a:buClr>
              <a:buSzPts val="1610"/>
              <a:buFont typeface="Noto Sans Symbols"/>
              <a:buChar char="▪"/>
            </a:pPr>
            <a:r>
              <a:rPr lang="en-US" sz="2300" dirty="0"/>
              <a:t>Overview about .NET Core</a:t>
            </a:r>
            <a:endParaRPr dirty="0"/>
          </a:p>
          <a:p>
            <a:pPr marL="514350" lvl="0" indent="-230187" algn="l" rtl="0">
              <a:lnSpc>
                <a:spcPct val="100000"/>
              </a:lnSpc>
              <a:spcBef>
                <a:spcPts val="1300"/>
              </a:spcBef>
              <a:spcAft>
                <a:spcPts val="0"/>
              </a:spcAft>
              <a:buClr>
                <a:srgbClr val="973735"/>
              </a:buClr>
              <a:buSzPts val="1610"/>
              <a:buFont typeface="Noto Sans Symbols"/>
              <a:buChar char="▪"/>
            </a:pPr>
            <a:r>
              <a:rPr lang="en-US" sz="2300" dirty="0"/>
              <a:t>Overview .NET 5 Core Architecture</a:t>
            </a:r>
            <a:endParaRPr dirty="0"/>
          </a:p>
          <a:p>
            <a:pPr marL="514350" lvl="0" indent="-230187" algn="l" rtl="0">
              <a:lnSpc>
                <a:spcPct val="100000"/>
              </a:lnSpc>
              <a:spcBef>
                <a:spcPts val="1300"/>
              </a:spcBef>
              <a:spcAft>
                <a:spcPts val="0"/>
              </a:spcAft>
              <a:buClr>
                <a:srgbClr val="973735"/>
              </a:buClr>
              <a:buSzPts val="1610"/>
              <a:buFont typeface="Noto Sans Symbols"/>
              <a:buChar char="▪"/>
            </a:pPr>
            <a:r>
              <a:rPr lang="en-US" sz="2300" dirty="0"/>
              <a:t>Overview new features of Visual Studio.NET</a:t>
            </a:r>
            <a:endParaRPr dirty="0"/>
          </a:p>
          <a:p>
            <a:pPr marL="514350" lvl="0" indent="-230187" algn="l" rtl="0">
              <a:lnSpc>
                <a:spcPct val="100000"/>
              </a:lnSpc>
              <a:spcBef>
                <a:spcPts val="1300"/>
              </a:spcBef>
              <a:spcAft>
                <a:spcPts val="0"/>
              </a:spcAft>
              <a:buClr>
                <a:srgbClr val="973735"/>
              </a:buClr>
              <a:buSzPts val="1610"/>
              <a:buFont typeface="Noto Sans Symbols"/>
              <a:buChar char="▪"/>
            </a:pPr>
            <a:r>
              <a:rPr lang="en-US" sz="2300" dirty="0"/>
              <a:t>Explain about Cross-platform application with .NET</a:t>
            </a:r>
            <a:endParaRPr dirty="0"/>
          </a:p>
          <a:p>
            <a:pPr marL="514350" lvl="0" indent="-230187" algn="l" rtl="0">
              <a:lnSpc>
                <a:spcPct val="100000"/>
              </a:lnSpc>
              <a:spcBef>
                <a:spcPts val="1300"/>
              </a:spcBef>
              <a:spcAft>
                <a:spcPts val="0"/>
              </a:spcAft>
              <a:buClr>
                <a:srgbClr val="973735"/>
              </a:buClr>
              <a:buSzPts val="1610"/>
              <a:buFont typeface="Noto Sans Symbols"/>
              <a:buChar char="▪"/>
            </a:pPr>
            <a:r>
              <a:rPr lang="en-US" sz="2300" dirty="0"/>
              <a:t>Why .NET Core and C# Language is selected as develop application?</a:t>
            </a:r>
            <a:endParaRPr dirty="0"/>
          </a:p>
          <a:p>
            <a:pPr marL="514350" lvl="0" indent="-230187" algn="l" rtl="0">
              <a:lnSpc>
                <a:spcPct val="100000"/>
              </a:lnSpc>
              <a:spcBef>
                <a:spcPts val="1300"/>
              </a:spcBef>
              <a:spcAft>
                <a:spcPts val="0"/>
              </a:spcAft>
              <a:buClr>
                <a:srgbClr val="973735"/>
              </a:buClr>
              <a:buSzPts val="1610"/>
              <a:buFont typeface="Noto Sans Symbols"/>
              <a:buChar char="▪"/>
            </a:pPr>
            <a:r>
              <a:rPr lang="en-US" sz="2300" dirty="0"/>
              <a:t>Explain and demo using “</a:t>
            </a:r>
            <a:r>
              <a:rPr lang="en-US" sz="2300" dirty="0" err="1"/>
              <a:t>dotnet</a:t>
            </a:r>
            <a:r>
              <a:rPr lang="en-US" sz="2300" dirty="0"/>
              <a:t> CLI” to create C# Console App</a:t>
            </a:r>
            <a:endParaRPr dirty="0"/>
          </a:p>
          <a:p>
            <a:pPr marL="514350" lvl="0" indent="-230187" algn="l" rtl="0">
              <a:lnSpc>
                <a:spcPct val="100000"/>
              </a:lnSpc>
              <a:spcBef>
                <a:spcPts val="1300"/>
              </a:spcBef>
              <a:spcAft>
                <a:spcPts val="0"/>
              </a:spcAft>
              <a:buClr>
                <a:srgbClr val="973735"/>
              </a:buClr>
              <a:buSzPts val="1610"/>
              <a:buFont typeface="Noto Sans Symbols"/>
              <a:buChar char="▪"/>
            </a:pPr>
            <a:r>
              <a:rPr lang="en-US" sz="2300" dirty="0"/>
              <a:t>Overview </a:t>
            </a:r>
            <a:r>
              <a:rPr lang="en-US" sz="2300" dirty="0" err="1"/>
              <a:t>NuGet</a:t>
            </a:r>
            <a:r>
              <a:rPr lang="en-US" sz="2300" dirty="0"/>
              <a:t> package</a:t>
            </a:r>
            <a:endParaRPr dirty="0"/>
          </a:p>
          <a:p>
            <a:pPr marL="514350" lvl="0" indent="-230187" algn="l" rtl="0">
              <a:lnSpc>
                <a:spcPct val="100000"/>
              </a:lnSpc>
              <a:spcBef>
                <a:spcPts val="1300"/>
              </a:spcBef>
              <a:spcAft>
                <a:spcPts val="0"/>
              </a:spcAft>
              <a:buClr>
                <a:srgbClr val="973735"/>
              </a:buClr>
              <a:buSzPts val="1610"/>
              <a:buFont typeface="Noto Sans Symbols"/>
              <a:buChar char="▪"/>
            </a:pPr>
            <a:r>
              <a:rPr lang="en-US" sz="2300" dirty="0"/>
              <a:t>Create and Run cross-platform Console application with C#</a:t>
            </a:r>
            <a:endParaRPr dirty="0"/>
          </a:p>
        </p:txBody>
      </p:sp>
      <p:sp>
        <p:nvSpPr>
          <p:cNvPr id="566" name="Google Shape;566;p48"/>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41</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65">
                                            <p:txEl>
                                              <p:pRg st="0" end="0"/>
                                            </p:txEl>
                                          </p:spTgt>
                                        </p:tgtEl>
                                        <p:attrNameLst>
                                          <p:attrName>style.visibility</p:attrName>
                                        </p:attrNameLst>
                                      </p:cBhvr>
                                      <p:to>
                                        <p:strVal val="visible"/>
                                      </p:to>
                                    </p:set>
                                    <p:animEffect transition="in" filter="fade">
                                      <p:cBhvr>
                                        <p:cTn id="7" dur="500"/>
                                        <p:tgtEl>
                                          <p:spTgt spid="56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65">
                                            <p:txEl>
                                              <p:pRg st="1" end="1"/>
                                            </p:txEl>
                                          </p:spTgt>
                                        </p:tgtEl>
                                        <p:attrNameLst>
                                          <p:attrName>style.visibility</p:attrName>
                                        </p:attrNameLst>
                                      </p:cBhvr>
                                      <p:to>
                                        <p:strVal val="visible"/>
                                      </p:to>
                                    </p:set>
                                    <p:animEffect transition="in" filter="fade">
                                      <p:cBhvr>
                                        <p:cTn id="10" dur="500"/>
                                        <p:tgtEl>
                                          <p:spTgt spid="565">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65">
                                            <p:txEl>
                                              <p:pRg st="2" end="2"/>
                                            </p:txEl>
                                          </p:spTgt>
                                        </p:tgtEl>
                                        <p:attrNameLst>
                                          <p:attrName>style.visibility</p:attrName>
                                        </p:attrNameLst>
                                      </p:cBhvr>
                                      <p:to>
                                        <p:strVal val="visible"/>
                                      </p:to>
                                    </p:set>
                                    <p:animEffect transition="in" filter="fade">
                                      <p:cBhvr>
                                        <p:cTn id="13" dur="500"/>
                                        <p:tgtEl>
                                          <p:spTgt spid="565">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565">
                                            <p:txEl>
                                              <p:pRg st="3" end="3"/>
                                            </p:txEl>
                                          </p:spTgt>
                                        </p:tgtEl>
                                        <p:attrNameLst>
                                          <p:attrName>style.visibility</p:attrName>
                                        </p:attrNameLst>
                                      </p:cBhvr>
                                      <p:to>
                                        <p:strVal val="visible"/>
                                      </p:to>
                                    </p:set>
                                    <p:animEffect transition="in" filter="fade">
                                      <p:cBhvr>
                                        <p:cTn id="16" dur="500"/>
                                        <p:tgtEl>
                                          <p:spTgt spid="565">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565">
                                            <p:txEl>
                                              <p:pRg st="4" end="4"/>
                                            </p:txEl>
                                          </p:spTgt>
                                        </p:tgtEl>
                                        <p:attrNameLst>
                                          <p:attrName>style.visibility</p:attrName>
                                        </p:attrNameLst>
                                      </p:cBhvr>
                                      <p:to>
                                        <p:strVal val="visible"/>
                                      </p:to>
                                    </p:set>
                                    <p:animEffect transition="in" filter="fade">
                                      <p:cBhvr>
                                        <p:cTn id="19" dur="500"/>
                                        <p:tgtEl>
                                          <p:spTgt spid="565">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565">
                                            <p:txEl>
                                              <p:pRg st="5" end="5"/>
                                            </p:txEl>
                                          </p:spTgt>
                                        </p:tgtEl>
                                        <p:attrNameLst>
                                          <p:attrName>style.visibility</p:attrName>
                                        </p:attrNameLst>
                                      </p:cBhvr>
                                      <p:to>
                                        <p:strVal val="visible"/>
                                      </p:to>
                                    </p:set>
                                    <p:animEffect transition="in" filter="fade">
                                      <p:cBhvr>
                                        <p:cTn id="22" dur="500"/>
                                        <p:tgtEl>
                                          <p:spTgt spid="565">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565">
                                            <p:txEl>
                                              <p:pRg st="6" end="6"/>
                                            </p:txEl>
                                          </p:spTgt>
                                        </p:tgtEl>
                                        <p:attrNameLst>
                                          <p:attrName>style.visibility</p:attrName>
                                        </p:attrNameLst>
                                      </p:cBhvr>
                                      <p:to>
                                        <p:strVal val="visible"/>
                                      </p:to>
                                    </p:set>
                                    <p:animEffect transition="in" filter="fade">
                                      <p:cBhvr>
                                        <p:cTn id="25" dur="500"/>
                                        <p:tgtEl>
                                          <p:spTgt spid="565">
                                            <p:txEl>
                                              <p:pRg st="6" end="6"/>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565">
                                            <p:txEl>
                                              <p:pRg st="7" end="7"/>
                                            </p:txEl>
                                          </p:spTgt>
                                        </p:tgtEl>
                                        <p:attrNameLst>
                                          <p:attrName>style.visibility</p:attrName>
                                        </p:attrNameLst>
                                      </p:cBhvr>
                                      <p:to>
                                        <p:strVal val="visible"/>
                                      </p:to>
                                    </p:set>
                                    <p:animEffect transition="in" filter="fade">
                                      <p:cBhvr>
                                        <p:cTn id="28" dur="500"/>
                                        <p:tgtEl>
                                          <p:spTgt spid="565">
                                            <p:txEl>
                                              <p:pRg st="7" end="7"/>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565">
                                            <p:txEl>
                                              <p:pRg st="8" end="8"/>
                                            </p:txEl>
                                          </p:spTgt>
                                        </p:tgtEl>
                                        <p:attrNameLst>
                                          <p:attrName>style.visibility</p:attrName>
                                        </p:attrNameLst>
                                      </p:cBhvr>
                                      <p:to>
                                        <p:strVal val="visible"/>
                                      </p:to>
                                    </p:set>
                                    <p:animEffect transition="in" filter="fade">
                                      <p:cBhvr>
                                        <p:cTn id="31" dur="500"/>
                                        <p:tgtEl>
                                          <p:spTgt spid="56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925</TotalTime>
  <Words>5598</Words>
  <Application>Microsoft Office PowerPoint</Application>
  <PresentationFormat>Widescreen</PresentationFormat>
  <Paragraphs>431</Paragraphs>
  <Slides>41</Slides>
  <Notes>41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Calibri</vt:lpstr>
      <vt:lpstr>Quattrocento Sans</vt:lpstr>
      <vt:lpstr>Arial</vt:lpstr>
      <vt:lpstr>Noto Sans Symbols</vt:lpstr>
      <vt:lpstr>Times New Roman</vt:lpstr>
      <vt:lpstr>Office Theme</vt:lpstr>
      <vt:lpstr> Introduction to .NET Core Platform and Visual Studio.NET</vt:lpstr>
      <vt:lpstr>Objectives </vt:lpstr>
      <vt:lpstr>.NET Framework and .NET</vt:lpstr>
      <vt:lpstr>The History of .NET Framework and .NET Core</vt:lpstr>
      <vt:lpstr>The History of .NET Framework and .NET Core</vt:lpstr>
      <vt:lpstr>The History of .NET Framework and .NET Core</vt:lpstr>
      <vt:lpstr>The History of .NET Framework and .NET Core</vt:lpstr>
      <vt:lpstr>The History of .NET Framework and .NET Core</vt:lpstr>
      <vt:lpstr>.NET Core Architecture</vt:lpstr>
      <vt:lpstr>.NET Core Architecture</vt:lpstr>
      <vt:lpstr>PowerPoint Presentation</vt:lpstr>
      <vt:lpstr>.NET 8</vt:lpstr>
      <vt:lpstr>.NET 8: Enhanced Performance and Productivity</vt:lpstr>
      <vt:lpstr>.NET 8: Modern Language Features and APIs</vt:lpstr>
      <vt:lpstr>Cross-Platform Application</vt:lpstr>
      <vt:lpstr>Cross-Platform Application</vt:lpstr>
      <vt:lpstr>What is the .NET Standard?</vt:lpstr>
      <vt:lpstr>Comparisons Table</vt:lpstr>
      <vt:lpstr>Continue….</vt:lpstr>
      <vt:lpstr>PowerPoint Presentation</vt:lpstr>
      <vt:lpstr>Benefits of using .NET</vt:lpstr>
      <vt:lpstr>Benefits of using .NET</vt:lpstr>
      <vt:lpstr>Why C# is selected as develop application?</vt:lpstr>
      <vt:lpstr>Why C# is selected as develop application?</vt:lpstr>
      <vt:lpstr>Introduction to dotnet CLI</vt:lpstr>
      <vt:lpstr>Introduction to dotnet CLI</vt:lpstr>
      <vt:lpstr>Introduction to dotnet CLI</vt:lpstr>
      <vt:lpstr>Introduction to dotnet CLI</vt:lpstr>
      <vt:lpstr> Demo Create a C# Console App using dotnet CLI</vt:lpstr>
      <vt:lpstr>On Windows OS</vt:lpstr>
      <vt:lpstr>PowerPoint Presentation</vt:lpstr>
      <vt:lpstr>On macOS 10.14 "Mojave"</vt:lpstr>
      <vt:lpstr>On Linux(Ubuntu 14.05) OS</vt:lpstr>
      <vt:lpstr>Compilation Process .NET Application</vt:lpstr>
      <vt:lpstr>Compilation Process .NET Application</vt:lpstr>
      <vt:lpstr>Common Intermediate Language (CIL)</vt:lpstr>
      <vt:lpstr>Introduction to Visual Studio.NET</vt:lpstr>
      <vt:lpstr>Introduction to Visual Studio.NET</vt:lpstr>
      <vt:lpstr>Introduction to Nuget packages</vt:lpstr>
      <vt:lpstr>Introduction to Nuget packages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Introduction to .NET Core Platform and Visual Studio.NET</dc:title>
  <cp:lastModifiedBy>Tuấn Lê</cp:lastModifiedBy>
  <cp:revision>51</cp:revision>
  <dcterms:created xsi:type="dcterms:W3CDTF">2021-01-25T08:25:31Z</dcterms:created>
  <dcterms:modified xsi:type="dcterms:W3CDTF">2025-09-08T11:39:45Z</dcterms:modified>
</cp:coreProperties>
</file>